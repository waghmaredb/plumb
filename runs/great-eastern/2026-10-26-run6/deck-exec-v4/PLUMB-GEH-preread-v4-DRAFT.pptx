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UM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 Advisory   |   Great Eastern Holdings   |   Discussion draft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UMB_DARK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0"/>
            <a:ext cx="0" cy="4160520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46336" y="4160520"/>
            <a:ext cx="292608" cy="2926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EASTERN HOLDINGS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Eastern's AI is working. The next step is proving its value in dollars.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Pre-read for a discussion with the leadership team  ·  October 2026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265615" y="6035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 ADVISORY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PLUMB ADVISORY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7" name="Image 0" descr="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8516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69164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lead advisor — name and insurance, AI and MAS-regulated experience›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0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7203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5603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two relevant engagements or references›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3" name="Image 2" descr="File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5890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42900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here cites the page it came from; quotations and method are in the accompanying report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6" name="Image 3" descr="Mai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4577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29768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name, email, phone›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PICTURE ON ONE PAGE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Eastern's AI delivers speed, but no benefit is yet reported in dollars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6, 12, 38, 41, 186, 187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15258" cy="28803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865376"/>
            <a:ext cx="749808" cy="7498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9" name="Image 0" descr="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05282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" y="27432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5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703320"/>
            <a:ext cx="27471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medical claims settled same day in 2025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38218" y="1554480"/>
            <a:ext cx="3515258" cy="28803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9114" y="1865376"/>
            <a:ext cx="749808" cy="7498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4" name="Image 1" descr="HandCo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566" y="205282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03978" y="27432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S$131m</a:t>
            </a:r>
            <a:endParaRPr lang="en-US" sz="5200" dirty="0"/>
          </a:p>
        </p:txBody>
      </p:sp>
      <p:sp>
        <p:nvSpPr>
          <p:cNvPr id="16" name="Text 12"/>
          <p:cNvSpPr txBox="1"/>
          <p:nvPr/>
        </p:nvSpPr>
        <p:spPr>
          <a:xfrm>
            <a:off x="4722266" y="3703320"/>
            <a:ext cx="27471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one-year profit effect of 10% better accident and health claims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127797" y="1554480"/>
            <a:ext cx="3515258" cy="288036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38693" y="1865376"/>
            <a:ext cx="749808" cy="7498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9" name="Image 2" descr="CircleDollar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145" y="2052828"/>
            <a:ext cx="374904" cy="3749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93557" y="27432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8</a:t>
            </a:r>
            <a:endParaRPr lang="en-US" sz="5200" dirty="0"/>
          </a:p>
        </p:txBody>
      </p:sp>
      <p:sp>
        <p:nvSpPr>
          <p:cNvPr id="21" name="Text 16"/>
          <p:cNvSpPr txBox="1"/>
          <p:nvPr/>
        </p:nvSpPr>
        <p:spPr>
          <a:xfrm>
            <a:off x="8511845" y="3703320"/>
            <a:ext cx="27471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uses reported with a dollar benefit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IS IN USE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live from advice to claims, with complex underwriting still in testing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6, 12, 38, 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58082" y="2034540"/>
            <a:ext cx="8875532" cy="0"/>
          </a:xfrm>
          <a:prstGeom prst="line">
            <a:avLst/>
          </a:prstGeom>
          <a:noFill/>
          <a:ln w="25400">
            <a:solidFill>
              <a:srgbClr val="D7D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3742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9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912" y="1817370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7552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Adviser AI platform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42625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5" name="Image 1" descr="File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95" y="1817370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67523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2840675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996123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206435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analytics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840675" y="3675888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86B1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996123" y="3831336"/>
            <a:ext cx="128016" cy="128016"/>
          </a:xfrm>
          <a:prstGeom prst="ellipse">
            <a:avLst/>
          </a:prstGeom>
          <a:solidFill>
            <a:srgbClr val="A86B12"/>
          </a:solidFill>
          <a:ln w="12700">
            <a:solidFill>
              <a:srgbClr val="A86B1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206435" y="3675888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cases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61508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24" name="Image 2" descr="Use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1817370"/>
            <a:ext cx="434340" cy="4343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986406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059558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215006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25318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Low-risk instant approval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880391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30" name="Image 3" descr="Steth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61" y="1817370"/>
            <a:ext cx="434340" cy="4343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205289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7278441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433889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644201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automation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7278441" y="3675888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33889" y="3831336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644201" y="3675888"/>
            <a:ext cx="13593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Bill-fraud checks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8966972" y="367588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10099274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40" name="Image 4" descr="Shiel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444" y="1817370"/>
            <a:ext cx="434340" cy="43434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424172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conduct</a:t>
            </a:r>
            <a:endParaRPr lang="en-US" sz="1500" dirty="0"/>
          </a:p>
        </p:txBody>
      </p:sp>
      <p:sp>
        <p:nvSpPr>
          <p:cNvPr id="42" name="Shape 35"/>
          <p:cNvSpPr/>
          <p:nvPr/>
        </p:nvSpPr>
        <p:spPr>
          <a:xfrm>
            <a:off x="9497324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652772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9863084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monitoring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9497324" y="3675888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9652772" y="3831336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9863084" y="3675888"/>
            <a:ext cx="13593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Misconduct alerts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11185855" y="367588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48640" y="4379976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548640" y="4489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OUTCOME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548640" y="4837176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 less prep time</a:t>
            </a:r>
            <a:endParaRPr lang="en-US" sz="1800" dirty="0"/>
          </a:p>
        </p:txBody>
      </p:sp>
      <p:sp>
        <p:nvSpPr>
          <p:cNvPr id="52" name="Text 45"/>
          <p:cNvSpPr txBox="1"/>
          <p:nvPr/>
        </p:nvSpPr>
        <p:spPr>
          <a:xfrm>
            <a:off x="1246602" y="527608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A86B12"/>
          </a:solidFill>
          <a:ln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53" name="Text 46"/>
          <p:cNvSpPr txBox="1"/>
          <p:nvPr/>
        </p:nvSpPr>
        <p:spPr>
          <a:xfrm>
            <a:off x="2767523" y="4837176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reported</a:t>
            </a:r>
            <a:endParaRPr lang="en-US" sz="1200" dirty="0"/>
          </a:p>
        </p:txBody>
      </p:sp>
      <p:sp>
        <p:nvSpPr>
          <p:cNvPr id="54" name="Text 47"/>
          <p:cNvSpPr txBox="1"/>
          <p:nvPr/>
        </p:nvSpPr>
        <p:spPr>
          <a:xfrm>
            <a:off x="4986406" y="4837176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reported</a:t>
            </a:r>
            <a:endParaRPr lang="en-US" sz="1200" dirty="0"/>
          </a:p>
        </p:txBody>
      </p:sp>
      <p:sp>
        <p:nvSpPr>
          <p:cNvPr id="55" name="Text 48"/>
          <p:cNvSpPr txBox="1"/>
          <p:nvPr/>
        </p:nvSpPr>
        <p:spPr>
          <a:xfrm>
            <a:off x="7205289" y="4837176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same-day</a:t>
            </a:r>
            <a:endParaRPr lang="en-US" sz="1800" dirty="0"/>
          </a:p>
        </p:txBody>
      </p:sp>
      <p:sp>
        <p:nvSpPr>
          <p:cNvPr id="56" name="Text 49"/>
          <p:cNvSpPr txBox="1"/>
          <p:nvPr/>
        </p:nvSpPr>
        <p:spPr>
          <a:xfrm>
            <a:off x="7903251" y="527608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9424172" y="4837176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reported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7071055" y="4535424"/>
            <a:ext cx="146304" cy="146304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7299655" y="4471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8305495" y="4535424"/>
            <a:ext cx="146304" cy="146304"/>
          </a:xfrm>
          <a:prstGeom prst="ellipse">
            <a:avLst/>
          </a:prstGeom>
          <a:solidFill>
            <a:srgbClr val="A86B12"/>
          </a:solidFill>
          <a:ln w="12700">
            <a:solidFill>
              <a:srgbClr val="A86B12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8534095" y="4471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00" dirty="0"/>
          </a:p>
        </p:txBody>
      </p:sp>
      <p:sp>
        <p:nvSpPr>
          <p:cNvPr id="62" name="Text 55"/>
          <p:cNvSpPr txBox="1"/>
          <p:nvPr/>
        </p:nvSpPr>
        <p:spPr>
          <a:xfrm>
            <a:off x="9539935" y="4471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= Malaysia operations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VALUE SITS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 better accident and health claims would add S$131m to a year's profit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41, 186, 187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1522711" cy="7772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45871" y="1783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S$31.8m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3063240"/>
            <a:ext cx="4754880" cy="7772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3063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S$99.3m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8953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bill-fraud checks already run here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7863840" cy="0"/>
          </a:xfrm>
          <a:prstGeom prst="line">
            <a:avLst/>
          </a:prstGeom>
          <a:noFill/>
          <a:ln w="12700">
            <a:solidFill>
              <a:srgbClr val="132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480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S$131.1m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after tax, S$ million, net of reinsurance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1737360"/>
            <a:ext cx="2956255" cy="283464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06840" y="201168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F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BY 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2587752"/>
            <a:ext cx="54864" cy="32918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2514600"/>
            <a:ext cx="2133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leakage and fraud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06840" y="3209544"/>
            <a:ext cx="54864" cy="32918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0" y="3136392"/>
            <a:ext cx="2133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cost management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06840" y="3831336"/>
            <a:ext cx="54864" cy="32918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35440" y="3758184"/>
            <a:ext cx="2133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cleaner adjudication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Eastern's 2025 assumption sensitivities, not a forecast of AI benefit. Contractual life benefits excluded.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COMPARISON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peers have begun reporting AI value in dollars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p. 38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60020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VALUE REPORTED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709818" y="160020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COVERS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76437" y="160020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1094415" cy="0"/>
          </a:xfrm>
          <a:prstGeom prst="line">
            <a:avLst/>
          </a:prstGeom>
          <a:noFill/>
          <a:ln w="12700">
            <a:solidFill>
              <a:srgbClr val="132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116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2258568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09818" y="2258568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6437" y="2258568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70048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700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Prudential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0" y="2916936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9818" y="2916936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76437" y="2916936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328416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3284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Manulife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0" y="3575304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09818" y="3575304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6437" y="3575304"/>
            <a:ext cx="2076633" cy="164592"/>
          </a:xfrm>
          <a:prstGeom prst="rect">
            <a:avLst/>
          </a:prstGeom>
          <a:solidFill>
            <a:srgbClr val="E6EAEF"/>
          </a:solidFill>
          <a:ln w="12700">
            <a:solidFill>
              <a:srgbClr val="E6EA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986784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9867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Eastern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3986784"/>
            <a:ext cx="575035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metrics, e.g. 75% same-day medical claims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76437" y="3986784"/>
            <a:ext cx="27837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 2025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645152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965192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FBF6EC"/>
          </a:solidFill>
          <a:ln w="12700"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SOURCE DOCUMENTS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4965192"/>
            <a:ext cx="8122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figures are self-reported and defined differently; each is checked against the peer's own report.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TIMELINE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MAS's AI risk guidelines set a timeline for evidencing AI governance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920240" y="3108960"/>
            <a:ext cx="8351215" cy="0"/>
          </a:xfrm>
          <a:prstGeom prst="line">
            <a:avLst/>
          </a:prstGeom>
          <a:noFill/>
          <a:ln w="38100">
            <a:solidFill>
              <a:srgbClr val="D7DC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926080"/>
            <a:ext cx="365760" cy="365760"/>
          </a:xfrm>
          <a:prstGeom prst="ellipse">
            <a:avLst/>
          </a:prstGeom>
          <a:solidFill>
            <a:srgbClr val="13233A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2026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issued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12968" y="2926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5688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2027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24248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oversight and AI inventory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88575" y="2926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91295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2028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899855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 controls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24248" y="45262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FBF6EC"/>
          </a:solidFill>
          <a:ln w="12700"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SOURCE DOCUMENTS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and expectations confirmed against MAS's published guidelines before use.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has board oversight and dedicated leadership; the annual report does not set out the AI framework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39, 65, 71, 78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2025 annual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26664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Board-level AI oversight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9016" y="2532888"/>
            <a:ext cx="384048" cy="38404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1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68" y="2606040"/>
            <a:ext cx="237744" cy="2377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3630168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026664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leadership and operating model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9016" y="3136392"/>
            <a:ext cx="384048" cy="38404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5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3209544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233672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363016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policy or principles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129016" y="373989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708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4837176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4233672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inventory and risk tiers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129016" y="434340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708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5440680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4837176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management for AI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129016" y="494690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708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32320" y="5678424"/>
            <a:ext cx="182880" cy="1828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406640" y="5623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549640" y="5678424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6708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823960" y="5623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the report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5486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disclosure only, not an assessment of practice; OCBC group frameworks not reviewed.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TO TEST TOGETHER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testable hypotheses would turn this outside-in view into decisions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84778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9FC7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Medical-claims AI can improve accident and health claims 2–5% in 18 months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53458" y="1645920"/>
            <a:ext cx="3484778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9FC7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3063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61188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MAS AI expectations can reuse OCBC group frameworks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8277" y="1645920"/>
            <a:ext cx="3484778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24037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9FC7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524037" y="3063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524037" y="361188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criteria, not model accuracy, hold back complex underwriting AI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six-week assessment would test these hypotheses with your leadership team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554480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41520" y="1554480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41520" y="1874520"/>
            <a:ext cx="0" cy="23317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25440" y="1554480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25440" y="1874520"/>
            <a:ext cx="0" cy="23317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0" cy="23317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93280" y="1554480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93280" y="1874520"/>
            <a:ext cx="0" cy="23317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77200" y="1554480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77200" y="1874520"/>
            <a:ext cx="0" cy="23317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938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evidence and peer benchmark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85032" y="2002536"/>
            <a:ext cx="1712976" cy="256032"/>
          </a:xfrm>
          <a:prstGeom prst="roundRect">
            <a:avLst>
              <a:gd name="adj" fmla="val 28571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395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questionnaire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85032" y="2459736"/>
            <a:ext cx="1712976" cy="256032"/>
          </a:xfrm>
          <a:prstGeom prst="roundRect">
            <a:avLst>
              <a:gd name="adj" fmla="val 28571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8529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 leadership interviews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68952" y="2916936"/>
            <a:ext cx="2596896" cy="256032"/>
          </a:xfrm>
          <a:prstGeom prst="roundRect">
            <a:avLst>
              <a:gd name="adj" fmla="val 28571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310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inventory and value sizing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52872" y="3374136"/>
            <a:ext cx="2596896" cy="256032"/>
          </a:xfrm>
          <a:prstGeom prst="roundRect">
            <a:avLst>
              <a:gd name="adj" fmla="val 28571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7673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and read-out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20712" y="3831336"/>
            <a:ext cx="1712976" cy="256032"/>
          </a:xfrm>
          <a:prstGeom prst="roundRect">
            <a:avLst>
              <a:gd name="adj" fmla="val 28571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72600" y="155448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72600" y="1965960"/>
            <a:ext cx="402336" cy="40233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30" name="Image 0" descr="HandCo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066544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9921240" y="1965960"/>
            <a:ext cx="17218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AI value pools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9372600" y="2532888"/>
            <a:ext cx="402336" cy="40233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33" name="Image 1" descr="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4" y="2633472"/>
            <a:ext cx="201168" cy="201168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921240" y="2532888"/>
            <a:ext cx="17218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inventory and risk tiers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9372600" y="3099816"/>
            <a:ext cx="402336" cy="40233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36" name="Image 2" descr="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3200400"/>
            <a:ext cx="201168" cy="20116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9921240" y="3099816"/>
            <a:ext cx="17218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path for next use cases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548640" y="4727448"/>
            <a:ext cx="11094415" cy="68580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22960" y="472744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F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2011680" y="4727448"/>
            <a:ext cx="9357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45-minute working session with the CEO, COO, CRO and Data &amp; AI lead in </a:t>
            </a:r>
            <a:pPr indent="0" marL="0">
              <a:buNone/>
            </a:pPr>
            <a:r>
              <a:rPr lang="en-US" sz="14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week›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MB Executive">
  <a:themeElements>
    <a:clrScheme name="PLUMB Executive">
      <a:dk1>
        <a:srgbClr val="13233A"/>
      </a:dk1>
      <a:lt1>
        <a:srgbClr val="FFFFFF"/>
      </a:lt1>
      <a:dk2>
        <a:srgbClr val="2B3645"/>
      </a:dk2>
      <a:lt2>
        <a:srgbClr val="F3F5F8"/>
      </a:lt2>
      <a:accent1>
        <a:srgbClr val="0B6E6E"/>
      </a:accent1>
      <a:accent2>
        <a:srgbClr val="4B6584"/>
      </a:accent2>
      <a:accent3>
        <a:srgbClr val="A86B12"/>
      </a:accent3>
      <a:accent4>
        <a:srgbClr val="667085"/>
      </a:accent4>
      <a:accent5>
        <a:srgbClr val="D7DCE3"/>
      </a:accent5>
      <a:accent6>
        <a:srgbClr val="13233A"/>
      </a:accent6>
      <a:hlink>
        <a:srgbClr val="0B6E6E"/>
      </a:hlink>
      <a:folHlink>
        <a:srgbClr val="4B6584"/>
      </a:folHlink>
    </a:clrScheme>
    <a:fontScheme name="PLUMB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PLUMB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Eastern's AI is working. The next step is proving its value in dollars.</dc:title>
  <dc:subject>PptxGenJS Presentation</dc:subject>
  <dc:creator>PLUMB Advisory</dc:creator>
  <cp:lastModifiedBy>PLUMB Advisory</cp:lastModifiedBy>
  <cp:revision>1</cp:revision>
  <dcterms:created xsi:type="dcterms:W3CDTF">2026-10-25T16:50:17Z</dcterms:created>
  <dcterms:modified xsi:type="dcterms:W3CDTF">2026-10-25T16:50:17Z</dcterms:modified>
</cp:coreProperties>
</file>