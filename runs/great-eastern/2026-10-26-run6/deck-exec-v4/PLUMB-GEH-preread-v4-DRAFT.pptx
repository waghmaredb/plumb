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UM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 Advisory   |   Great Eastern Holdings   |   Discussion draft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UMB_DARK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0"/>
            <a:ext cx="0" cy="4160520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46336" y="4160520"/>
            <a:ext cx="292608" cy="29260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B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EASTERN HOLDINGS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Eastern's AI is working. The next step is proving its value in dollars.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Pre-read for a discussion with the leadership team  ·  October 2026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265615" y="6035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D1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29184"/>
            <a:ext cx="0" cy="155448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84632"/>
            <a:ext cx="73152" cy="73152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01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PLUMB ADVISORY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7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8516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69164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A86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‹to confirm: lead advisor — name and insurance, AI and MAS-regulated experience›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560320"/>
            <a:ext cx="640080" cy="6400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10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7203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5603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A86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‹to confirm: two relevant engagements or references›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13" name="Image 2" descr="File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358902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342900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here cites the page it came from; quotations and method are in the accompanying report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4297680"/>
            <a:ext cx="640080" cy="6400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16" name="Image 3" descr="Ma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445770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4297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A86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‹to confirm: name, email, phone›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29184"/>
            <a:ext cx="0" cy="155448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84632"/>
            <a:ext cx="73152" cy="73152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01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PICTURE ON ONE PAGE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Eastern's AI delivers speed, but no benefit is yet reported in dollars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Great Eastern Holdings Annual Report 2025, pp. 6, 12, 38, 41, 186, 187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515258" cy="30632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1865376"/>
            <a:ext cx="749808" cy="74980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9" name="Image 0" descr="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052828"/>
            <a:ext cx="374904" cy="3749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14400" y="274320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52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3703320"/>
            <a:ext cx="274716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medical claims settled same day in 2025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38218" y="1554480"/>
            <a:ext cx="3515258" cy="30632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49114" y="1865376"/>
            <a:ext cx="749808" cy="74980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14" name="Image 1" descr="Hand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566" y="2052828"/>
            <a:ext cx="374904" cy="37490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703978" y="274320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S$131m</a:t>
            </a:r>
            <a:endParaRPr lang="en-US" sz="5200" dirty="0"/>
          </a:p>
        </p:txBody>
      </p:sp>
      <p:sp>
        <p:nvSpPr>
          <p:cNvPr id="16" name="Text 12"/>
          <p:cNvSpPr txBox="1"/>
          <p:nvPr/>
        </p:nvSpPr>
        <p:spPr>
          <a:xfrm>
            <a:off x="4722266" y="3703320"/>
            <a:ext cx="274716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one-year profit effect of 10% better accident and health claims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8127797" y="1554480"/>
            <a:ext cx="3515258" cy="3063240"/>
          </a:xfrm>
          <a:prstGeom prst="rect">
            <a:avLst/>
          </a:prstGeom>
          <a:solidFill>
            <a:srgbClr val="13233A"/>
          </a:solidFill>
          <a:ln w="12700">
            <a:solidFill>
              <a:srgbClr val="13233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38693" y="1865376"/>
            <a:ext cx="749808" cy="74980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19" name="Image 2" descr="CircleDollar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145" y="2052828"/>
            <a:ext cx="374904" cy="37490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493557" y="274320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of 8</a:t>
            </a:r>
            <a:endParaRPr lang="en-US" sz="5200" dirty="0"/>
          </a:p>
        </p:txBody>
      </p:sp>
      <p:sp>
        <p:nvSpPr>
          <p:cNvPr id="21" name="Text 16"/>
          <p:cNvSpPr txBox="1"/>
          <p:nvPr/>
        </p:nvSpPr>
        <p:spPr>
          <a:xfrm>
            <a:off x="8511845" y="3703320"/>
            <a:ext cx="274716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uses reported with a dollar benefit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29184"/>
            <a:ext cx="0" cy="155448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84632"/>
            <a:ext cx="73152" cy="73152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01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AI IS IN USE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is live from advice to claims, with complex underwriting still in testing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Great Eastern Holdings Annual Report 2025, pp. 6, 12, 38, 41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58082" y="2034540"/>
            <a:ext cx="8875532" cy="0"/>
          </a:xfrm>
          <a:prstGeom prst="line">
            <a:avLst/>
          </a:prstGeom>
          <a:noFill/>
          <a:ln w="25400">
            <a:solidFill>
              <a:srgbClr val="D7DC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23742" y="1600200"/>
            <a:ext cx="868680" cy="8686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9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912" y="1817370"/>
            <a:ext cx="434340" cy="4343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60604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" y="3108960"/>
            <a:ext cx="2072579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B6E6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264408"/>
            <a:ext cx="128016" cy="12801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7552" y="3108960"/>
            <a:ext cx="16153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Adviser AI platform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42625" y="1600200"/>
            <a:ext cx="868680" cy="8686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15" name="Image 1" descr="File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795" y="1817370"/>
            <a:ext cx="434340" cy="4343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767523" y="260604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2840675" y="3108960"/>
            <a:ext cx="2072579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B6E6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996123" y="3264408"/>
            <a:ext cx="128016" cy="12801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206435" y="3108960"/>
            <a:ext cx="16153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analytics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840675" y="3675888"/>
            <a:ext cx="2072579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A86B12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996123" y="3831336"/>
            <a:ext cx="128016" cy="128016"/>
          </a:xfrm>
          <a:prstGeom prst="ellipse">
            <a:avLst/>
          </a:prstGeom>
          <a:solidFill>
            <a:srgbClr val="A86B12"/>
          </a:solidFill>
          <a:ln w="12700">
            <a:solidFill>
              <a:srgbClr val="A86B1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206435" y="3675888"/>
            <a:ext cx="16153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cases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661508" y="1600200"/>
            <a:ext cx="868680" cy="8686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24" name="Image 2" descr="Use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678" y="1817370"/>
            <a:ext cx="434340" cy="4343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986406" y="260604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5059558" y="3108960"/>
            <a:ext cx="2072579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B6E6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215006" y="3264408"/>
            <a:ext cx="128016" cy="12801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425318" y="3108960"/>
            <a:ext cx="16153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Low-risk instant approval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7880391" y="1600200"/>
            <a:ext cx="868680" cy="8686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30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561" y="1817370"/>
            <a:ext cx="434340" cy="43434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205289" y="260604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7278441" y="3108960"/>
            <a:ext cx="2072579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B6E6E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433889" y="3264408"/>
            <a:ext cx="128016" cy="12801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644201" y="3108960"/>
            <a:ext cx="16153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automation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7278441" y="3675888"/>
            <a:ext cx="2072579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B6E6E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7433889" y="3831336"/>
            <a:ext cx="128016" cy="12801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644201" y="3675888"/>
            <a:ext cx="13593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Bill-fraud checks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966972" y="3675888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10099274" y="1600200"/>
            <a:ext cx="868680" cy="8686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40" name="Image 4" descr="Shield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6444" y="1817370"/>
            <a:ext cx="434340" cy="43434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424172" y="260604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conduct</a:t>
            </a:r>
            <a:endParaRPr lang="en-US" sz="1500" dirty="0"/>
          </a:p>
        </p:txBody>
      </p:sp>
      <p:sp>
        <p:nvSpPr>
          <p:cNvPr id="42" name="Shape 35"/>
          <p:cNvSpPr/>
          <p:nvPr/>
        </p:nvSpPr>
        <p:spPr>
          <a:xfrm>
            <a:off x="9497324" y="3108960"/>
            <a:ext cx="2072579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B6E6E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9652772" y="3264408"/>
            <a:ext cx="128016" cy="12801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9863084" y="3108960"/>
            <a:ext cx="16153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monitoring</a:t>
            </a:r>
            <a:endParaRPr lang="en-US" sz="1100" dirty="0"/>
          </a:p>
        </p:txBody>
      </p:sp>
      <p:sp>
        <p:nvSpPr>
          <p:cNvPr id="45" name="Shape 38"/>
          <p:cNvSpPr/>
          <p:nvPr/>
        </p:nvSpPr>
        <p:spPr>
          <a:xfrm>
            <a:off x="9497324" y="3675888"/>
            <a:ext cx="2072579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B6E6E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9652772" y="3831336"/>
            <a:ext cx="128016" cy="12801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9863084" y="3675888"/>
            <a:ext cx="13593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Misconduct alerts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11185855" y="3675888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548640" y="4379976"/>
            <a:ext cx="1109441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548640" y="44897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OUTCOME</a:t>
            </a:r>
            <a:endParaRPr lang="en-US" sz="900" dirty="0"/>
          </a:p>
        </p:txBody>
      </p:sp>
      <p:sp>
        <p:nvSpPr>
          <p:cNvPr id="51" name="Text 44"/>
          <p:cNvSpPr txBox="1"/>
          <p:nvPr/>
        </p:nvSpPr>
        <p:spPr>
          <a:xfrm>
            <a:off x="548640" y="4837176"/>
            <a:ext cx="22188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~75% less prep time</a:t>
            </a:r>
            <a:endParaRPr lang="en-US" sz="1800" dirty="0"/>
          </a:p>
        </p:txBody>
      </p:sp>
      <p:sp>
        <p:nvSpPr>
          <p:cNvPr id="52" name="Text 45"/>
          <p:cNvSpPr txBox="1"/>
          <p:nvPr/>
        </p:nvSpPr>
        <p:spPr>
          <a:xfrm>
            <a:off x="1246602" y="5276088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A86B12"/>
          </a:solidFill>
          <a:ln>
            <a:solidFill>
              <a:srgbClr val="A86B1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800" dirty="0"/>
          </a:p>
        </p:txBody>
      </p:sp>
      <p:sp>
        <p:nvSpPr>
          <p:cNvPr id="53" name="Text 46"/>
          <p:cNvSpPr txBox="1"/>
          <p:nvPr/>
        </p:nvSpPr>
        <p:spPr>
          <a:xfrm>
            <a:off x="2767523" y="4837176"/>
            <a:ext cx="22188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reported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4986406" y="4837176"/>
            <a:ext cx="22188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reported</a:t>
            </a:r>
            <a:endParaRPr lang="en-US" sz="1200" dirty="0"/>
          </a:p>
        </p:txBody>
      </p:sp>
      <p:sp>
        <p:nvSpPr>
          <p:cNvPr id="55" name="Text 48"/>
          <p:cNvSpPr txBox="1"/>
          <p:nvPr/>
        </p:nvSpPr>
        <p:spPr>
          <a:xfrm>
            <a:off x="7205289" y="4837176"/>
            <a:ext cx="22188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 same-day</a:t>
            </a:r>
            <a:endParaRPr lang="en-US" sz="1800" dirty="0"/>
          </a:p>
        </p:txBody>
      </p:sp>
      <p:sp>
        <p:nvSpPr>
          <p:cNvPr id="56" name="Text 49"/>
          <p:cNvSpPr txBox="1"/>
          <p:nvPr/>
        </p:nvSpPr>
        <p:spPr>
          <a:xfrm>
            <a:off x="7903251" y="5276088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0B6E6E"/>
          </a:solidFill>
          <a:ln>
            <a:solidFill>
              <a:srgbClr val="0B6E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800" dirty="0"/>
          </a:p>
        </p:txBody>
      </p:sp>
      <p:sp>
        <p:nvSpPr>
          <p:cNvPr id="57" name="Text 50"/>
          <p:cNvSpPr txBox="1"/>
          <p:nvPr/>
        </p:nvSpPr>
        <p:spPr>
          <a:xfrm>
            <a:off x="9424172" y="4837176"/>
            <a:ext cx="22188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reported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7071055" y="4535424"/>
            <a:ext cx="146304" cy="146304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7299655" y="44714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use</a:t>
            </a:r>
            <a:endParaRPr lang="en-US" sz="1100" dirty="0"/>
          </a:p>
        </p:txBody>
      </p:sp>
      <p:sp>
        <p:nvSpPr>
          <p:cNvPr id="60" name="Shape 53"/>
          <p:cNvSpPr/>
          <p:nvPr/>
        </p:nvSpPr>
        <p:spPr>
          <a:xfrm>
            <a:off x="8305495" y="4535424"/>
            <a:ext cx="146304" cy="146304"/>
          </a:xfrm>
          <a:prstGeom prst="ellipse">
            <a:avLst/>
          </a:prstGeom>
          <a:solidFill>
            <a:srgbClr val="A86B12"/>
          </a:solidFill>
          <a:ln w="12700">
            <a:solidFill>
              <a:srgbClr val="A86B12"/>
            </a:solidFill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8534095" y="44714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1100" dirty="0"/>
          </a:p>
        </p:txBody>
      </p:sp>
      <p:sp>
        <p:nvSpPr>
          <p:cNvPr id="62" name="Text 55"/>
          <p:cNvSpPr txBox="1"/>
          <p:nvPr/>
        </p:nvSpPr>
        <p:spPr>
          <a:xfrm>
            <a:off x="9539935" y="44714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= Malaysia operations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29184"/>
            <a:ext cx="0" cy="155448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84632"/>
            <a:ext cx="73152" cy="73152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01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VALUE SITS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 better accident and health claims would add S$131m to a year's profit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Great Eastern Holdings Annual Report 2025, pp. 41, 186, 187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830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Singapore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86000" y="1783080"/>
            <a:ext cx="1522711" cy="77724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45871" y="17830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S$31.8m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632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Malaysia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286000" y="3063240"/>
            <a:ext cx="4754880" cy="77724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78040" y="30632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S$99.3m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8953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bill-fraud checks already run here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7863840" cy="0"/>
          </a:xfrm>
          <a:prstGeom prst="line">
            <a:avLst/>
          </a:prstGeom>
          <a:noFill/>
          <a:ln w="12700">
            <a:solidFill>
              <a:srgbClr val="132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480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S$131.1m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4480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after tax, S$ million, net of reinsurance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0" y="1737360"/>
            <a:ext cx="2956255" cy="2834640"/>
          </a:xfrm>
          <a:prstGeom prst="rect">
            <a:avLst/>
          </a:prstGeom>
          <a:solidFill>
            <a:srgbClr val="13233A"/>
          </a:solidFill>
          <a:ln w="12700">
            <a:solidFill>
              <a:srgbClr val="1323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06840" y="2011680"/>
            <a:ext cx="2316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B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BY AI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06840" y="2587752"/>
            <a:ext cx="54864" cy="329184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2514600"/>
            <a:ext cx="2133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leakage and fraud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006840" y="3209544"/>
            <a:ext cx="54864" cy="329184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35440" y="3136392"/>
            <a:ext cx="2133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cost management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06840" y="3831336"/>
            <a:ext cx="54864" cy="329184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35440" y="3758184"/>
            <a:ext cx="2133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cleaner adjudication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Eastern's 2025 assumption sensitivities, not a forecast of AI benefit. Contractual life benefits excluded.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29184"/>
            <a:ext cx="0" cy="155448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84632"/>
            <a:ext cx="73152" cy="73152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01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COMPARISON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peers have begun reporting AI value in dollars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Great Eastern Holdings Annual Report 2025, p. 38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16002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VALUE REPORTED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709818" y="16002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COVERS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76437" y="16002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11094415" cy="0"/>
          </a:xfrm>
          <a:prstGeom prst="line">
            <a:avLst/>
          </a:prstGeom>
          <a:noFill/>
          <a:ln w="12700">
            <a:solidFill>
              <a:srgbClr val="132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1168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743200" y="2258568"/>
            <a:ext cx="2076633" cy="164592"/>
          </a:xfrm>
          <a:prstGeom prst="rect">
            <a:avLst/>
          </a:prstGeom>
          <a:solidFill>
            <a:srgbClr val="E6EAEF"/>
          </a:solidFill>
          <a:ln w="12700">
            <a:solidFill>
              <a:srgbClr val="E6EA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09818" y="2258568"/>
            <a:ext cx="2076633" cy="164592"/>
          </a:xfrm>
          <a:prstGeom prst="rect">
            <a:avLst/>
          </a:prstGeom>
          <a:solidFill>
            <a:srgbClr val="E6EAEF"/>
          </a:solidFill>
          <a:ln w="12700">
            <a:solidFill>
              <a:srgbClr val="E6EA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76437" y="2258568"/>
            <a:ext cx="2076633" cy="164592"/>
          </a:xfrm>
          <a:prstGeom prst="rect">
            <a:avLst/>
          </a:prstGeom>
          <a:solidFill>
            <a:srgbClr val="E6EAEF"/>
          </a:solidFill>
          <a:ln w="12700">
            <a:solidFill>
              <a:srgbClr val="E6EA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670048"/>
            <a:ext cx="1109441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67004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Prudential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743200" y="2916936"/>
            <a:ext cx="2076633" cy="164592"/>
          </a:xfrm>
          <a:prstGeom prst="rect">
            <a:avLst/>
          </a:prstGeom>
          <a:solidFill>
            <a:srgbClr val="E6EAEF"/>
          </a:solidFill>
          <a:ln w="12700">
            <a:solidFill>
              <a:srgbClr val="E6EA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09818" y="2916936"/>
            <a:ext cx="2076633" cy="164592"/>
          </a:xfrm>
          <a:prstGeom prst="rect">
            <a:avLst/>
          </a:prstGeom>
          <a:solidFill>
            <a:srgbClr val="E6EAEF"/>
          </a:solidFill>
          <a:ln w="12700">
            <a:solidFill>
              <a:srgbClr val="E6EA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76437" y="2916936"/>
            <a:ext cx="2076633" cy="164592"/>
          </a:xfrm>
          <a:prstGeom prst="rect">
            <a:avLst/>
          </a:prstGeom>
          <a:solidFill>
            <a:srgbClr val="E6EAEF"/>
          </a:solidFill>
          <a:ln w="12700">
            <a:solidFill>
              <a:srgbClr val="E6EA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328416"/>
            <a:ext cx="1109441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328416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Manulife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743200" y="3575304"/>
            <a:ext cx="2076633" cy="164592"/>
          </a:xfrm>
          <a:prstGeom prst="rect">
            <a:avLst/>
          </a:prstGeom>
          <a:solidFill>
            <a:srgbClr val="E6EAEF"/>
          </a:solidFill>
          <a:ln w="12700">
            <a:solidFill>
              <a:srgbClr val="E6EA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09818" y="3575304"/>
            <a:ext cx="2076633" cy="164592"/>
          </a:xfrm>
          <a:prstGeom prst="rect">
            <a:avLst/>
          </a:prstGeom>
          <a:solidFill>
            <a:srgbClr val="E6EAEF"/>
          </a:solidFill>
          <a:ln w="12700">
            <a:solidFill>
              <a:srgbClr val="E6EA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76437" y="3575304"/>
            <a:ext cx="2076633" cy="164592"/>
          </a:xfrm>
          <a:prstGeom prst="rect">
            <a:avLst/>
          </a:prstGeom>
          <a:solidFill>
            <a:srgbClr val="E6EAEF"/>
          </a:solidFill>
          <a:ln w="12700">
            <a:solidFill>
              <a:srgbClr val="E6EA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986784"/>
            <a:ext cx="1109441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3986784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Eastern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2743200" y="3986784"/>
            <a:ext cx="575035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metrics, e.g. 75% same-day medical claims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676437" y="3986784"/>
            <a:ext cx="2783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Report 2025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645152"/>
            <a:ext cx="1109441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965192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FBF6EC"/>
          </a:solidFill>
          <a:ln w="12700">
            <a:solidFill>
              <a:srgbClr val="A86B1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A86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AWAITING SOURCE DOCUMENTS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520440" y="4965192"/>
            <a:ext cx="81226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figures are self-reported and defined differently; each is checked against the peer's own report.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29184"/>
            <a:ext cx="0" cy="155448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84632"/>
            <a:ext cx="73152" cy="73152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01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TIMELINE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MAS's AI risk guidelines set a timeline for evidencing AI governance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920240" y="3108960"/>
            <a:ext cx="8351215" cy="0"/>
          </a:xfrm>
          <a:prstGeom prst="line">
            <a:avLst/>
          </a:prstGeom>
          <a:noFill/>
          <a:ln w="38100">
            <a:solidFill>
              <a:srgbClr val="D7DC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2926080"/>
            <a:ext cx="365760" cy="365760"/>
          </a:xfrm>
          <a:prstGeom prst="ellipse">
            <a:avLst/>
          </a:prstGeom>
          <a:solidFill>
            <a:srgbClr val="13233A"/>
          </a:solidFill>
          <a:ln w="25400">
            <a:solidFill>
              <a:srgbClr val="1323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 2026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747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Guidelines issued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12968" y="2926080"/>
            <a:ext cx="365760" cy="3657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15688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 2027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724248" y="34747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oversight and AI inventory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088575" y="2926080"/>
            <a:ext cx="365760" cy="3657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3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91295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 2028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899855" y="34747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lifecycle controls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724248" y="4526280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FBF6EC"/>
          </a:solidFill>
          <a:ln w="12700">
            <a:solidFill>
              <a:srgbClr val="A86B1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A86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AWAITING SOURCE DOCUMENTS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9377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Dates and expectations confirmed against MAS's published guidelines before use.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29184"/>
            <a:ext cx="0" cy="155448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84632"/>
            <a:ext cx="73152" cy="73152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01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GOVERNANCE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has board oversight and dedicated leadership; the annual report does not set out the AI framework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Great Eastern Holdings Annual Report 2025, pp. 39, 65, 71, 78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2025 annual report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026664"/>
            <a:ext cx="981425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42316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Board-level AI oversight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9016" y="2532888"/>
            <a:ext cx="384048" cy="38404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11" name="Image 0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68" y="2606040"/>
            <a:ext cx="237744" cy="2377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630168"/>
            <a:ext cx="981425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026664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AI leadership and operating model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129016" y="3136392"/>
            <a:ext cx="384048" cy="38404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15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3209544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48640" y="4233672"/>
            <a:ext cx="981425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630168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policy or principles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8129016" y="3739896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70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4837176"/>
            <a:ext cx="981425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4233672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inventory and risk tiers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8129016" y="434340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708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5440680"/>
            <a:ext cx="9814255" cy="0"/>
          </a:xfrm>
          <a:prstGeom prst="line">
            <a:avLst/>
          </a:prstGeom>
          <a:noFill/>
          <a:ln w="9525">
            <a:solidFill>
              <a:srgbClr val="D7DCE3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4837176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risk management for AI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29016" y="4946904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7085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0" y="5678424"/>
            <a:ext cx="182880" cy="18288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406640" y="56235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549640" y="5678424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6708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823960" y="56235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covered in the report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disclosure only, not an assessment of practice; OCBC group frameworks not reviewed.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29184"/>
            <a:ext cx="0" cy="155448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84632"/>
            <a:ext cx="73152" cy="73152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01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HYPOTHESES TO TEST TOGETHER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testable hypotheses would turn this outside-in view into decisions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484778" cy="32918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965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9FC7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6324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61188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Medical-claims AI can improve accident and health claims 2–5% in 18 months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353458" y="1645920"/>
            <a:ext cx="3484778" cy="32918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1965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9FC7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306324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61188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MAS AI expectations can reuse OCBC group frameworks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58277" y="1645920"/>
            <a:ext cx="3484778" cy="32918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24037" y="1965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9FC7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8524037" y="306324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524037" y="361188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criteria, not model accuracy, hold back complex underwriting AI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29184"/>
            <a:ext cx="0" cy="155448"/>
          </a:xfrm>
          <a:prstGeom prst="line">
            <a:avLst/>
          </a:prstGeom>
          <a:noFill/>
          <a:ln w="15875">
            <a:solidFill>
              <a:srgbClr val="0B6E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84632"/>
            <a:ext cx="73152" cy="73152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01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NEXT STEP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3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six-week assessment would test these hypotheses with your leadership team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554480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41520" y="1554480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41520" y="1874520"/>
            <a:ext cx="0" cy="2331720"/>
          </a:xfrm>
          <a:prstGeom prst="line">
            <a:avLst/>
          </a:prstGeom>
          <a:noFill/>
          <a:ln w="9525">
            <a:solidFill>
              <a:srgbClr val="EDF0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25440" y="1554480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25440" y="1874520"/>
            <a:ext cx="0" cy="2331720"/>
          </a:xfrm>
          <a:prstGeom prst="line">
            <a:avLst/>
          </a:prstGeom>
          <a:noFill/>
          <a:ln w="9525">
            <a:solidFill>
              <a:srgbClr val="EDF0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554480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1874520"/>
            <a:ext cx="0" cy="2331720"/>
          </a:xfrm>
          <a:prstGeom prst="line">
            <a:avLst/>
          </a:prstGeom>
          <a:noFill/>
          <a:ln w="9525">
            <a:solidFill>
              <a:srgbClr val="EDF0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93280" y="1554480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3280" y="1874520"/>
            <a:ext cx="0" cy="2331720"/>
          </a:xfrm>
          <a:prstGeom prst="line">
            <a:avLst/>
          </a:prstGeom>
          <a:noFill/>
          <a:ln w="9525">
            <a:solidFill>
              <a:srgbClr val="EDF0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77200" y="1554480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77200" y="1874520"/>
            <a:ext cx="0" cy="2331720"/>
          </a:xfrm>
          <a:prstGeom prst="line">
            <a:avLst/>
          </a:prstGeom>
          <a:noFill/>
          <a:ln w="9525">
            <a:solidFill>
              <a:srgbClr val="EDF0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9385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evidence and peer benchmark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85032" y="2002536"/>
            <a:ext cx="1712976" cy="256032"/>
          </a:xfrm>
          <a:prstGeom prst="roundRect">
            <a:avLst>
              <a:gd name="adj" fmla="val 28571"/>
            </a:avLst>
          </a:prstGeom>
          <a:solidFill>
            <a:srgbClr val="13233A"/>
          </a:solidFill>
          <a:ln w="12700">
            <a:solidFill>
              <a:srgbClr val="1323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3957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questionnaire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85032" y="2459736"/>
            <a:ext cx="1712976" cy="256032"/>
          </a:xfrm>
          <a:prstGeom prst="roundRect">
            <a:avLst>
              <a:gd name="adj" fmla="val 28571"/>
            </a:avLst>
          </a:prstGeom>
          <a:solidFill>
            <a:srgbClr val="13233A"/>
          </a:solidFill>
          <a:ln w="12700">
            <a:solidFill>
              <a:srgbClr val="1323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8529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10–12 leadership interviews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68952" y="2916936"/>
            <a:ext cx="2596896" cy="256032"/>
          </a:xfrm>
          <a:prstGeom prst="roundRect">
            <a:avLst>
              <a:gd name="adj" fmla="val 28571"/>
            </a:avLst>
          </a:prstGeom>
          <a:solidFill>
            <a:srgbClr val="13233A"/>
          </a:solidFill>
          <a:ln w="12700">
            <a:solidFill>
              <a:srgbClr val="1323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3101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inventory and value sizing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52872" y="3374136"/>
            <a:ext cx="2596896" cy="256032"/>
          </a:xfrm>
          <a:prstGeom prst="roundRect">
            <a:avLst>
              <a:gd name="adj" fmla="val 28571"/>
            </a:avLst>
          </a:prstGeom>
          <a:solidFill>
            <a:srgbClr val="13233A"/>
          </a:solidFill>
          <a:ln w="12700">
            <a:solidFill>
              <a:srgbClr val="1323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37673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 and read-out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220712" y="3831336"/>
            <a:ext cx="1712976" cy="256032"/>
          </a:xfrm>
          <a:prstGeom prst="roundRect">
            <a:avLst>
              <a:gd name="adj" fmla="val 28571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72600" y="15544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RECEIVE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72600" y="1965960"/>
            <a:ext cx="402336" cy="40233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30" name="Image 0" descr="Hand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4" y="2066544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921240" y="1965960"/>
            <a:ext cx="17218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Sized AI value pools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372600" y="2532888"/>
            <a:ext cx="402336" cy="40233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33" name="Image 1" descr="Clipboar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3184" y="2633472"/>
            <a:ext cx="201168" cy="201168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9921240" y="2532888"/>
            <a:ext cx="17218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inventory and risk tiers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9372600" y="3099816"/>
            <a:ext cx="402336" cy="402336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pic>
        <p:nvPicPr>
          <p:cNvPr id="36" name="Image 2" descr="Roc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184" y="3200400"/>
            <a:ext cx="201168" cy="201168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9921240" y="3099816"/>
            <a:ext cx="17218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path for next use cases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48640" y="4727448"/>
            <a:ext cx="11094415" cy="685800"/>
          </a:xfrm>
          <a:prstGeom prst="rect">
            <a:avLst/>
          </a:prstGeom>
          <a:solidFill>
            <a:srgbClr val="13233A"/>
          </a:solidFill>
          <a:ln w="12700">
            <a:solidFill>
              <a:srgbClr val="13233A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4727448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B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2011680" y="4727448"/>
            <a:ext cx="9357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45-minute working session with the CEO, COO, CRO and Data &amp; AI lead in </a:t>
            </a:r>
            <a:pPr indent="0" marL="0">
              <a:buNone/>
            </a:pPr>
            <a:r>
              <a:rPr lang="en-US" sz="1400" b="1" i="1" dirty="0">
                <a:solidFill>
                  <a:srgbClr val="A86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‹to confirm: week›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UMB Executive">
  <a:themeElements>
    <a:clrScheme name="PLUMB Executive">
      <a:dk1>
        <a:srgbClr val="13233A"/>
      </a:dk1>
      <a:lt1>
        <a:srgbClr val="FFFFFF"/>
      </a:lt1>
      <a:dk2>
        <a:srgbClr val="2B3645"/>
      </a:dk2>
      <a:lt2>
        <a:srgbClr val="F3F5F8"/>
      </a:lt2>
      <a:accent1>
        <a:srgbClr val="0B6E6E"/>
      </a:accent1>
      <a:accent2>
        <a:srgbClr val="4B6584"/>
      </a:accent2>
      <a:accent3>
        <a:srgbClr val="A86B12"/>
      </a:accent3>
      <a:accent4>
        <a:srgbClr val="667085"/>
      </a:accent4>
      <a:accent5>
        <a:srgbClr val="D7DCE3"/>
      </a:accent5>
      <a:accent6>
        <a:srgbClr val="13233A"/>
      </a:accent6>
      <a:hlink>
        <a:srgbClr val="0B6E6E"/>
      </a:hlink>
      <a:folHlink>
        <a:srgbClr val="4B6584"/>
      </a:folHlink>
    </a:clrScheme>
    <a:fontScheme name="PLUMB Executiv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PLUMB Advisory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Great Eastern's AI is working. The next step is proving its value in dollars.</dc:title>
  <dc:subject>PptxGenJS Presentation</dc:subject>
  <dc:creator>PLUMB Advisory</dc:creator>
  <cp:lastModifiedBy>PLUMB Advisory</cp:lastModifiedBy>
  <cp:revision>1</cp:revision>
  <dcterms:created xsi:type="dcterms:W3CDTF">2026-10-31T17:06:32Z</dcterms:created>
  <dcterms:modified xsi:type="dcterms:W3CDTF">2026-10-31T17:06:32Z</dcterms:modified>
</cp:coreProperties>
</file>