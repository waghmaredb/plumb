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UM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 Advisory   |   Great Eastern Holdings   |   Discussion draft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UMB_DARK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0"/>
            <a:ext cx="0" cy="4160520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46336" y="4160520"/>
            <a:ext cx="292608" cy="292608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EASTERN HOLDINGS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 AI at Great Eastern: from proven use cases to measurable value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60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Perspectives for discussion with the leadership team  ·  October 2026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265615" y="6035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PLUMB ADVISORY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Eastern already runs AI in advice, claims and compliance; the next gains depend on proving value and evidencing AI governance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12, 38, 78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20240"/>
            <a:ext cx="10317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in use from advice to claims and compliance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86000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Eastern has deployed an AI-enabled advisory platform for its financial advisers, rolled out a proprietary platform that automates medical claims, and uses AI to monitor transactions and sales for compliance risk.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2999232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99232"/>
            <a:ext cx="10317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outcomes are speed and effort, not yet dollars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364992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2025, 75% of medical claims were turned around the same day, and the advisory platform aims to cut adviser preparation time by about 75%; neither is reported with a baseline or a financial value.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078224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078224"/>
            <a:ext cx="103171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oversight of AI exists; how AI itself is governed is not yet described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443984"/>
            <a:ext cx="96313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named directors are to receive fees for their work on data and AI initiatives, while the governance the report cites alongside AI is a service-quality scorecard and the Cyber Trust Mark.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202936"/>
            <a:ext cx="11094415" cy="50292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202936"/>
            <a:ext cx="106829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 </a:t>
            </a:r>
            <a:pPr indent="0" marL="0">
              <a:buNone/>
            </a:pPr>
            <a:r>
              <a:rPr lang="en-US" sz="13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hypotheses to test together — page 6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IS IN USE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is in use from advice to claims and compliance; complex-case underwriting is still in testing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6, 12, 38, 41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222541" cy="457200"/>
          </a:xfrm>
          <a:prstGeom prst="homePlate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4944" y="1874520"/>
            <a:ext cx="18019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Advice &amp; distribution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2131101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" y="2624328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76656" y="2898648"/>
            <a:ext cx="1875069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AI-enabled advisory platform for financial advisers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89469" y="1874520"/>
            <a:ext cx="2222541" cy="457200"/>
          </a:xfrm>
          <a:prstGeom prst="chevron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55229" y="1874520"/>
            <a:ext cx="158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9469" y="2496312"/>
            <a:ext cx="2131101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17485" y="2624328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917485" y="2898648"/>
            <a:ext cx="187506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analytics and AI for underwriting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89469" y="3675888"/>
            <a:ext cx="2131101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17485" y="3803904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A86B12"/>
          </a:solidFill>
          <a:ln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2917485" y="4078224"/>
            <a:ext cx="187506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for complex underwriting cases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30297" y="1874520"/>
            <a:ext cx="2222541" cy="457200"/>
          </a:xfrm>
          <a:prstGeom prst="chevron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6057" y="1874520"/>
            <a:ext cx="158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30297" y="2496312"/>
            <a:ext cx="2131101" cy="1426464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58313" y="2624328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5158313" y="2898648"/>
            <a:ext cx="187506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segmentation enabling instant approvals for existing lower-risk Great CareShield customers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71126" y="1874520"/>
            <a:ext cx="2222541" cy="457200"/>
          </a:xfrm>
          <a:prstGeom prst="chevron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6886" y="1874520"/>
            <a:ext cx="1582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71126" y="2496312"/>
            <a:ext cx="2131101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99142" y="2624328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7399142" y="2898648"/>
            <a:ext cx="1875069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platform automating medical claims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271126" y="3675888"/>
            <a:ext cx="2131101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99142" y="3803904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32" name="Text 30"/>
          <p:cNvSpPr txBox="1"/>
          <p:nvPr/>
        </p:nvSpPr>
        <p:spPr>
          <a:xfrm>
            <a:off x="8432414" y="3803904"/>
            <a:ext cx="8509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7399142" y="4078224"/>
            <a:ext cx="1875069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Medical-bill OCR to detect wastage and abuse; won an industry award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511955" y="1874520"/>
            <a:ext cx="2131101" cy="457200"/>
          </a:xfrm>
          <a:prstGeom prst="chevron">
            <a:avLst/>
          </a:prstGeom>
          <a:solidFill>
            <a:srgbClr val="E3E8EE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877715" y="1874520"/>
            <a:ext cx="14910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&amp; conduct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511955" y="2496312"/>
            <a:ext cx="2131101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639971" y="2624328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9639971" y="2898648"/>
            <a:ext cx="1875069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monitoring of transactions and sales for compliance risk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511955" y="3863340"/>
            <a:ext cx="2131101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39971" y="3991356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10673243" y="3991356"/>
            <a:ext cx="8509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MALAYSIA</a:t>
            </a:r>
            <a:endParaRPr lang="en-US" sz="750" dirty="0"/>
          </a:p>
        </p:txBody>
      </p:sp>
      <p:sp>
        <p:nvSpPr>
          <p:cNvPr id="42" name="Text 40"/>
          <p:cNvSpPr txBox="1"/>
          <p:nvPr/>
        </p:nvSpPr>
        <p:spPr>
          <a:xfrm>
            <a:off x="9639971" y="4265676"/>
            <a:ext cx="1875069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 flagging potential misconduct for investigation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5559552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USE</a:t>
            </a:r>
            <a:endParaRPr lang="en-US" sz="750" dirty="0"/>
          </a:p>
        </p:txBody>
      </p:sp>
      <p:sp>
        <p:nvSpPr>
          <p:cNvPr id="44" name="Text 42"/>
          <p:cNvSpPr txBox="1"/>
          <p:nvPr/>
        </p:nvSpPr>
        <p:spPr>
          <a:xfrm>
            <a:off x="1645920" y="5559552"/>
            <a:ext cx="960120" cy="219456"/>
          </a:xfrm>
          <a:prstGeom prst="roundRect">
            <a:avLst>
              <a:gd name="adj" fmla="val 20833"/>
            </a:avLst>
          </a:prstGeom>
          <a:solidFill>
            <a:srgbClr val="A86B12"/>
          </a:solidFill>
          <a:ln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OUTCOMES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Claims shows the clearest AI result; the adviser platform's benefit is still a target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12, 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6949440" cy="315468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1828800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B6E6E"/>
          </a:solidFill>
          <a:ln>
            <a:solidFill>
              <a:srgbClr val="0B6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· 2025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219456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8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42900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medical claims turned around the same day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886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D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fastest among Singapore’s health insurers, based on Ministry of Health service indicators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818120" y="1463040"/>
            <a:ext cx="3824935" cy="31546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38160" y="1828800"/>
            <a:ext cx="1097280" cy="256032"/>
          </a:xfrm>
          <a:prstGeom prst="roundRect">
            <a:avLst>
              <a:gd name="adj" fmla="val 17857"/>
            </a:avLst>
          </a:prstGeom>
          <a:solidFill>
            <a:srgbClr val="A86B12"/>
          </a:solidFill>
          <a:ln>
            <a:solidFill>
              <a:srgbClr val="A86B1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119872" y="2240280"/>
            <a:ext cx="322143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3154680"/>
            <a:ext cx="3184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cut in financial advisers’ preparation time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3749040"/>
            <a:ext cx="3184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AI-enabled advisory platform “aims to reduce” preparation time; no achieved figure is reported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892040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what   </a:t>
            </a:r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figure is tied to a baseline or a dollar value — the evidence a board needs to fund the next wave of AI.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oversight reaches the board, but how AI itself is governed is not yet described publicly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12, 38, 71, 78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387188" cy="374904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221992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2025 report shows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86968" y="2843784"/>
            <a:ext cx="182880" cy="1828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34440" y="2788920"/>
            <a:ext cx="438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named directors are to receive fees for their contributions to IT infrastructure, data and AI initiatives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6968" y="3511296"/>
            <a:ext cx="182880" cy="1828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3456432"/>
            <a:ext cx="438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Board’s collective competencies include artificial intelligence and risk management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968" y="4178808"/>
            <a:ext cx="182880" cy="1828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34440" y="4123944"/>
            <a:ext cx="4381348" cy="745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monitors transactions and sales patterns for compliance risks, including anti-money laundering and misconduct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968" y="5079492"/>
            <a:ext cx="182880" cy="182880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5024628"/>
            <a:ext cx="43813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governance cited alongside AI is a Quality Assurance Scorecard and the Cyber Trust Mark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55868" y="1965960"/>
            <a:ext cx="5387188" cy="3749040"/>
          </a:xfrm>
          <a:prstGeom prst="rect">
            <a:avLst/>
          </a:prstGeom>
          <a:solidFill>
            <a:srgbClr val="F3F5F8"/>
          </a:solidFill>
          <a:ln w="9525">
            <a:solidFill>
              <a:srgbClr val="F3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75908" y="2221992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yet described publicly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94196" y="2843784"/>
            <a:ext cx="182880" cy="182880"/>
          </a:xfrm>
          <a:prstGeom prst="ellipse">
            <a:avLst/>
          </a:prstGeom>
          <a:solidFill>
            <a:srgbClr val="F3F5F8"/>
          </a:solidFill>
          <a:ln w="15875">
            <a:solidFill>
              <a:srgbClr val="66708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1668" y="2788920"/>
            <a:ext cx="438134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policy or responsible-AI principles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94196" y="3278124"/>
            <a:ext cx="182880" cy="182880"/>
          </a:xfrm>
          <a:prstGeom prst="ellipse">
            <a:avLst/>
          </a:prstGeom>
          <a:solidFill>
            <a:srgbClr val="F3F5F8"/>
          </a:solidFill>
          <a:ln w="15875">
            <a:solidFill>
              <a:srgbClr val="66708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1668" y="3223260"/>
            <a:ext cx="438134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inventory of AI systems and their risk materiality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94196" y="3712464"/>
            <a:ext cx="182880" cy="182880"/>
          </a:xfrm>
          <a:prstGeom prst="ellipse">
            <a:avLst/>
          </a:prstGeom>
          <a:solidFill>
            <a:srgbClr val="F3F5F8"/>
          </a:solidFill>
          <a:ln w="15875">
            <a:solidFill>
              <a:srgbClr val="66708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1668" y="3657600"/>
            <a:ext cx="4381348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 extended to AI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8247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reports rarely describe AI governance in detail; this reflects public disclosure, not an assessment of practice. Frameworks set at OCBC group level were not reviewed.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TO TEST TOGETHER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hypotheses would turn this outside-in view into decisions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53328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Great Eastern Holdings Annual Report 2025, pp. 12, 38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600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TO TEST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600200"/>
            <a:ext cx="3733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ASSESSMENT WOULD ANSWER 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116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1214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01168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three AI use cases would move Great Eastern’s claims and expense ratios most in 2027, and what are they worth?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7909560" y="2011680"/>
            <a:ext cx="3733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each candidate against Great Eastern’s own claims and expense lines, then rank by value and feasibility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136392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3558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2461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board-ready evidence of AI risk management look like, and how much can build on OCBC group frameworks?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3246120"/>
            <a:ext cx="3733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today’s AI systems to a risk-tiered inventory and show which controls group frameworks already cover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370832"/>
            <a:ext cx="11094415" cy="0"/>
          </a:xfrm>
          <a:prstGeom prst="line">
            <a:avLst/>
          </a:prstGeom>
          <a:noFill/>
          <a:ln w="9525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4805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590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448056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evidence would move complex-case underwriting AI into production, and what would it be worth?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4480560"/>
            <a:ext cx="37334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production criteria, test evidence and decision rights, and size the underwriting benefit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NEXT STEP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12-day assessment would test these hypotheses with your leadership team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15258" cy="17830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value pools sized from Great Eastern’s own numbers, with the three use cases worth funding first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8218" y="1554480"/>
            <a:ext cx="3515258" cy="17830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1783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2402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inventory and risk-tier view that a board and regulator can rely on, built to reuse group frameworks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17830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1783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6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2402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criteria and decision rights for the next use cases, starting with complex-case underwriting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807866" cy="868680"/>
          </a:xfrm>
          <a:prstGeom prst="homePlate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703320"/>
            <a:ext cx="312206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evidence and peer comparison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46778" y="3703320"/>
            <a:ext cx="3807866" cy="868680"/>
          </a:xfrm>
          <a:prstGeom prst="chevron">
            <a:avLst/>
          </a:prstGeom>
          <a:solidFill>
            <a:srgbClr val="13233A"/>
          </a:solidFill>
          <a:ln w="12700">
            <a:solidFill>
              <a:srgbClr val="1323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95418" y="3703320"/>
            <a:ext cx="284774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4–9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questionnaire and 10–12 interviews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44917" y="3703320"/>
            <a:ext cx="3698138" cy="868680"/>
          </a:xfrm>
          <a:prstGeom prst="chevron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93557" y="3703320"/>
            <a:ext cx="273801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10–12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 and leadership read-out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00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Proposed: a 45-minute working session with the Group CEO, COO, CRO and Data &amp; AI lead in </a:t>
            </a:r>
            <a:pPr indent="0" marL="0">
              <a:buNone/>
            </a:pPr>
            <a:r>
              <a:rPr lang="en-US" sz="14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week›</a:t>
            </a:r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Fixed fee </a:t>
            </a:r>
            <a:pPr indent="0" marL="0">
              <a:buNone/>
            </a:pPr>
            <a:r>
              <a:rPr lang="en-US" sz="140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S$ amount›</a:t>
            </a:r>
            <a:pPr indent="0" marL="0">
              <a:buNone/>
            </a:pPr>
            <a:r>
              <a:rPr lang="en-US" sz="14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No confidential data is needed for this phase.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" y="329184"/>
            <a:ext cx="0" cy="155448"/>
          </a:xfrm>
          <a:prstGeom prst="line">
            <a:avLst/>
          </a:prstGeom>
          <a:noFill/>
          <a:ln w="15875">
            <a:solidFill>
              <a:srgbClr val="0B6E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84632"/>
            <a:ext cx="73152" cy="73152"/>
          </a:xfrm>
          <a:prstGeom prst="ellipse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3017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PLUMB ADVISORY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7286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13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PLUMB Advisory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87188" cy="17830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76272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two-line firm description and lead advisor credentials›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55868" y="1554480"/>
            <a:ext cx="5387188" cy="17830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0188" y="178308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0188" y="2176272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statement in our work traces to its source, and quotations match the source word for word. Findings are reviewed by an advisor who did not produce them.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387188" cy="17830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79476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document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87952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B36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from Great Eastern Holdings’ Annual Report 2025, as at its publication in March 2026. It has not been reviewed by Great Eastern.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55868" y="3566160"/>
            <a:ext cx="5387188" cy="178308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30188" y="3794760"/>
            <a:ext cx="48385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30188" y="4187952"/>
            <a:ext cx="48385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A86B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‹to confirm: name, email, phone›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6708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LUMB Executive">
  <a:themeElements>
    <a:clrScheme name="PLUMB Executive">
      <a:dk1>
        <a:srgbClr val="13233A"/>
      </a:dk1>
      <a:lt1>
        <a:srgbClr val="FFFFFF"/>
      </a:lt1>
      <a:dk2>
        <a:srgbClr val="2B3645"/>
      </a:dk2>
      <a:lt2>
        <a:srgbClr val="F3F5F8"/>
      </a:lt2>
      <a:accent1>
        <a:srgbClr val="0B6E6E"/>
      </a:accent1>
      <a:accent2>
        <a:srgbClr val="4B6584"/>
      </a:accent2>
      <a:accent3>
        <a:srgbClr val="A86B12"/>
      </a:accent3>
      <a:accent4>
        <a:srgbClr val="667085"/>
      </a:accent4>
      <a:accent5>
        <a:srgbClr val="D7DCE3"/>
      </a:accent5>
      <a:accent6>
        <a:srgbClr val="13233A"/>
      </a:accent6>
      <a:hlink>
        <a:srgbClr val="0B6E6E"/>
      </a:hlink>
      <a:folHlink>
        <a:srgbClr val="4B6584"/>
      </a:folHlink>
    </a:clrScheme>
    <a:fontScheme name="PLUMB Executiv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PLUMB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Scaling AI at Great Eastern: from proven use cases to measurable value</dc:title>
  <dc:subject>PptxGenJS Presentation</dc:subject>
  <dc:creator>PLUMB Advisory</dc:creator>
  <cp:lastModifiedBy>PLUMB Advisory</cp:lastModifiedBy>
  <cp:revision>1</cp:revision>
  <dcterms:created xsi:type="dcterms:W3CDTF">2026-10-25T16:13:40Z</dcterms:created>
  <dcterms:modified xsi:type="dcterms:W3CDTF">2026-10-25T16:13:40Z</dcterms:modified>
</cp:coreProperties>
</file>