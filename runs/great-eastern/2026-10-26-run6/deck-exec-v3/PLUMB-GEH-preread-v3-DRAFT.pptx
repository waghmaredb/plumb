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6E6E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3E8EE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value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75</c:v>
                </c:pt>
                <c:pt idx="1">
                  <c:v>25</c:v>
                </c:pt>
              </c:numCache>
            </c:numRef>
          </c:val>
        </c:ser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9B98A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1F3F6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value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75</c:v>
                </c:pt>
                <c:pt idx="1">
                  <c:v>25</c:v>
                </c:pt>
              </c:numCache>
            </c:numRef>
          </c:val>
        </c:ser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UMB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PLUMB Advisory   |   Great Eastern Holdings   |   Discussion draft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UMB_DARK">
    <p:bg>
      <p:bgPr>
        <a:solidFill>
          <a:srgbClr val="13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image" Target="../media/image-4-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0"/>
            <a:ext cx="0" cy="4160520"/>
          </a:xfrm>
          <a:prstGeom prst="line">
            <a:avLst/>
          </a:prstGeom>
          <a:noFill/>
          <a:ln w="15875">
            <a:solidFill>
              <a:srgbClr val="0B6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46336" y="4160520"/>
            <a:ext cx="292608" cy="292608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B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EASTERN HOLDINGS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AI at Great Eastern: from proven use cases to measurable value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1605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Perspectives for discussion with the leadership team  ·  October 2026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265615" y="6035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C9D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PLUMB ADVISORY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329184"/>
            <a:ext cx="0" cy="155448"/>
          </a:xfrm>
          <a:prstGeom prst="line">
            <a:avLst/>
          </a:prstGeom>
          <a:noFill/>
          <a:ln w="15875">
            <a:solidFill>
              <a:srgbClr val="0B6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84632"/>
            <a:ext cx="73152" cy="73152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3017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PICTURE ON ONE PAGE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728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already works across Great Eastern; the next step is turning speed into dollars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Great Eastern Holdings Annual Report 2025, pp. 6, 12, 38, 78, 145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515258" cy="288036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1865376"/>
            <a:ext cx="749808" cy="749808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pic>
        <p:nvPicPr>
          <p:cNvPr id="9" name="Image 0" descr="Lay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2052828"/>
            <a:ext cx="374904" cy="37490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14400" y="2743200"/>
            <a:ext cx="27837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200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of 5</a:t>
            </a:r>
            <a:endParaRPr lang="en-US" sz="5200" dirty="0"/>
          </a:p>
        </p:txBody>
      </p:sp>
      <p:sp>
        <p:nvSpPr>
          <p:cNvPr id="11" name="Text 8"/>
          <p:cNvSpPr txBox="1"/>
          <p:nvPr/>
        </p:nvSpPr>
        <p:spPr>
          <a:xfrm>
            <a:off x="932688" y="3703320"/>
            <a:ext cx="274716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stages use AI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38218" y="1554480"/>
            <a:ext cx="3515258" cy="288036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49114" y="1865376"/>
            <a:ext cx="749808" cy="749808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pic>
        <p:nvPicPr>
          <p:cNvPr id="14" name="Image 1" descr="Gau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566" y="2052828"/>
            <a:ext cx="374904" cy="37490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703978" y="2743200"/>
            <a:ext cx="27837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200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5200" dirty="0"/>
          </a:p>
        </p:txBody>
      </p:sp>
      <p:sp>
        <p:nvSpPr>
          <p:cNvPr id="16" name="Text 12"/>
          <p:cNvSpPr txBox="1"/>
          <p:nvPr/>
        </p:nvSpPr>
        <p:spPr>
          <a:xfrm>
            <a:off x="4722266" y="3703320"/>
            <a:ext cx="274716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medical claims settled same day, 2025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8127797" y="1554480"/>
            <a:ext cx="3515258" cy="2880360"/>
          </a:xfrm>
          <a:prstGeom prst="rect">
            <a:avLst/>
          </a:prstGeom>
          <a:solidFill>
            <a:srgbClr val="13233A"/>
          </a:solidFill>
          <a:ln w="12700">
            <a:solidFill>
              <a:srgbClr val="13233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438693" y="1865376"/>
            <a:ext cx="749808" cy="749808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pic>
        <p:nvPicPr>
          <p:cNvPr id="19" name="Image 2" descr="HandCoin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6145" y="2052828"/>
            <a:ext cx="374904" cy="37490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493557" y="2743200"/>
            <a:ext cx="27837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S$4.0bn</a:t>
            </a:r>
            <a:endParaRPr lang="en-US" sz="5200" dirty="0"/>
          </a:p>
        </p:txBody>
      </p:sp>
      <p:sp>
        <p:nvSpPr>
          <p:cNvPr id="21" name="Text 16"/>
          <p:cNvSpPr txBox="1"/>
          <p:nvPr/>
        </p:nvSpPr>
        <p:spPr>
          <a:xfrm>
            <a:off x="8511845" y="3703320"/>
            <a:ext cx="274716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and benefits paid, 2025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548640" y="4709160"/>
            <a:ext cx="11094415" cy="566928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pic>
        <p:nvPicPr>
          <p:cNvPr id="23" name="Image 3" descr="Landmar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855464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709160"/>
            <a:ext cx="10134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Board-level AI oversight exists; the AI framework is not yet described publicly.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329184"/>
            <a:ext cx="0" cy="155448"/>
          </a:xfrm>
          <a:prstGeom prst="line">
            <a:avLst/>
          </a:prstGeom>
          <a:noFill/>
          <a:ln w="15875">
            <a:solidFill>
              <a:srgbClr val="0B6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84632"/>
            <a:ext cx="73152" cy="73152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3017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AI IS IN USE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728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is in use from advice to claims; complex underwriting is still in testing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Great Eastern Holdings Annual Report 2025, pp. 6, 12, 38, 41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58082" y="2034540"/>
            <a:ext cx="8875532" cy="0"/>
          </a:xfrm>
          <a:prstGeom prst="line">
            <a:avLst/>
          </a:prstGeom>
          <a:noFill/>
          <a:ln w="25400">
            <a:solidFill>
              <a:srgbClr val="D7DC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23742" y="1600200"/>
            <a:ext cx="868680" cy="868680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pic>
        <p:nvPicPr>
          <p:cNvPr id="9" name="Image 0" descr="Us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912" y="1817370"/>
            <a:ext cx="434340" cy="4343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2606040"/>
            <a:ext cx="22188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Advice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1792" y="3108960"/>
            <a:ext cx="2072579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B6E6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3264408"/>
            <a:ext cx="128016" cy="128016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87552" y="3108960"/>
            <a:ext cx="161537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Adviser AI platform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442625" y="1600200"/>
            <a:ext cx="868680" cy="868680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pic>
        <p:nvPicPr>
          <p:cNvPr id="15" name="Image 1" descr="File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795" y="1817370"/>
            <a:ext cx="434340" cy="43434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767523" y="2606040"/>
            <a:ext cx="22188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2840675" y="3108960"/>
            <a:ext cx="2072579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B6E6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996123" y="3264408"/>
            <a:ext cx="128016" cy="128016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3206435" y="3108960"/>
            <a:ext cx="161537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 analytics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840675" y="3675888"/>
            <a:ext cx="2072579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A86B1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996123" y="3831336"/>
            <a:ext cx="128016" cy="128016"/>
          </a:xfrm>
          <a:prstGeom prst="ellipse">
            <a:avLst/>
          </a:prstGeom>
          <a:solidFill>
            <a:srgbClr val="A86B12"/>
          </a:solidFill>
          <a:ln w="12700">
            <a:solidFill>
              <a:srgbClr val="A86B12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206435" y="3675888"/>
            <a:ext cx="161537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cases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661508" y="1600200"/>
            <a:ext cx="868680" cy="868680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pic>
        <p:nvPicPr>
          <p:cNvPr id="24" name="Image 2" descr="User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678" y="1817370"/>
            <a:ext cx="434340" cy="43434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4986406" y="2606040"/>
            <a:ext cx="22188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5059558" y="3108960"/>
            <a:ext cx="2072579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B6E6E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215006" y="3264408"/>
            <a:ext cx="128016" cy="128016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5425318" y="3108960"/>
            <a:ext cx="161537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approvals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7880391" y="1600200"/>
            <a:ext cx="868680" cy="868680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pic>
        <p:nvPicPr>
          <p:cNvPr id="30" name="Image 3" descr="Stethoscop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561" y="1817370"/>
            <a:ext cx="434340" cy="43434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7205289" y="2606040"/>
            <a:ext cx="22188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</a:t>
            </a:r>
            <a:endParaRPr lang="en-US" sz="1500" dirty="0"/>
          </a:p>
        </p:txBody>
      </p:sp>
      <p:sp>
        <p:nvSpPr>
          <p:cNvPr id="32" name="Shape 26"/>
          <p:cNvSpPr/>
          <p:nvPr/>
        </p:nvSpPr>
        <p:spPr>
          <a:xfrm>
            <a:off x="7278441" y="3108960"/>
            <a:ext cx="2072579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B6E6E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7433889" y="3264408"/>
            <a:ext cx="128016" cy="128016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7644201" y="3108960"/>
            <a:ext cx="161537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automation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7278441" y="3675888"/>
            <a:ext cx="2072579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B6E6E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7433889" y="3831336"/>
            <a:ext cx="128016" cy="128016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7644201" y="3675888"/>
            <a:ext cx="13593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Bill-fraud checks</a:t>
            </a:r>
            <a:endParaRPr lang="en-US" sz="1100" dirty="0"/>
          </a:p>
        </p:txBody>
      </p:sp>
      <p:sp>
        <p:nvSpPr>
          <p:cNvPr id="38" name="Text 32"/>
          <p:cNvSpPr txBox="1"/>
          <p:nvPr/>
        </p:nvSpPr>
        <p:spPr>
          <a:xfrm>
            <a:off x="8966972" y="3675888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10099274" y="1600200"/>
            <a:ext cx="868680" cy="868680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pic>
        <p:nvPicPr>
          <p:cNvPr id="40" name="Image 4" descr="Shield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6444" y="1817370"/>
            <a:ext cx="434340" cy="434340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9424172" y="2606040"/>
            <a:ext cx="22188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&amp; conduct</a:t>
            </a:r>
            <a:endParaRPr lang="en-US" sz="1500" dirty="0"/>
          </a:p>
        </p:txBody>
      </p:sp>
      <p:sp>
        <p:nvSpPr>
          <p:cNvPr id="42" name="Shape 35"/>
          <p:cNvSpPr/>
          <p:nvPr/>
        </p:nvSpPr>
        <p:spPr>
          <a:xfrm>
            <a:off x="9497324" y="3108960"/>
            <a:ext cx="2072579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B6E6E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9652772" y="3264408"/>
            <a:ext cx="128016" cy="128016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9863084" y="3108960"/>
            <a:ext cx="161537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monitoring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9497324" y="3675888"/>
            <a:ext cx="2072579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B6E6E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9652772" y="3831336"/>
            <a:ext cx="128016" cy="128016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9863084" y="3675888"/>
            <a:ext cx="13593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Misconduct alerts</a:t>
            </a:r>
            <a:endParaRPr lang="en-US" sz="1100" dirty="0"/>
          </a:p>
        </p:txBody>
      </p:sp>
      <p:sp>
        <p:nvSpPr>
          <p:cNvPr id="48" name="Text 41"/>
          <p:cNvSpPr txBox="1"/>
          <p:nvPr/>
        </p:nvSpPr>
        <p:spPr>
          <a:xfrm>
            <a:off x="11185855" y="3675888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548640" y="5623560"/>
            <a:ext cx="146304" cy="146304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50" name="Text 43"/>
          <p:cNvSpPr txBox="1"/>
          <p:nvPr/>
        </p:nvSpPr>
        <p:spPr>
          <a:xfrm>
            <a:off x="777240" y="55595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use</a:t>
            </a:r>
            <a:endParaRPr lang="en-US" sz="1100" dirty="0"/>
          </a:p>
        </p:txBody>
      </p:sp>
      <p:sp>
        <p:nvSpPr>
          <p:cNvPr id="51" name="Shape 44"/>
          <p:cNvSpPr/>
          <p:nvPr/>
        </p:nvSpPr>
        <p:spPr>
          <a:xfrm>
            <a:off x="1783080" y="5623560"/>
            <a:ext cx="146304" cy="146304"/>
          </a:xfrm>
          <a:prstGeom prst="ellipse">
            <a:avLst/>
          </a:prstGeom>
          <a:solidFill>
            <a:srgbClr val="A86B12"/>
          </a:solidFill>
          <a:ln w="12700">
            <a:solidFill>
              <a:srgbClr val="A86B12"/>
            </a:solidFill>
            <a:prstDash val="solid"/>
          </a:ln>
        </p:spPr>
      </p:sp>
      <p:sp>
        <p:nvSpPr>
          <p:cNvPr id="52" name="Text 45"/>
          <p:cNvSpPr txBox="1"/>
          <p:nvPr/>
        </p:nvSpPr>
        <p:spPr>
          <a:xfrm>
            <a:off x="2011680" y="55595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100" dirty="0"/>
          </a:p>
        </p:txBody>
      </p:sp>
      <p:sp>
        <p:nvSpPr>
          <p:cNvPr id="53" name="Text 46"/>
          <p:cNvSpPr txBox="1"/>
          <p:nvPr/>
        </p:nvSpPr>
        <p:spPr>
          <a:xfrm>
            <a:off x="3017520" y="5559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= Malaysia operations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329184"/>
            <a:ext cx="0" cy="155448"/>
          </a:xfrm>
          <a:prstGeom prst="line">
            <a:avLst/>
          </a:prstGeom>
          <a:noFill/>
          <a:ln w="15875">
            <a:solidFill>
              <a:srgbClr val="0B6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84632"/>
            <a:ext cx="73152" cy="73152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3017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OUTCOMES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728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Claims shows a proven AI result; the adviser platform's benefit is still a target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Great Eastern Holdings Annual Report 2025, pp. 12, 38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1005840" y="1737360"/>
          <a:ext cx="2743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1280160" y="2697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4206240" y="233172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0B6E6E"/>
          </a:solidFill>
          <a:ln>
            <a:solidFill>
              <a:srgbClr val="0B6E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206240" y="27432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claims settled same day, 2025</a:t>
            </a:r>
            <a:endParaRPr lang="en-US" sz="18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7132320" y="2148840"/>
          <a:ext cx="19202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7269480" y="27889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~75%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9281160" y="246888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A86B12"/>
          </a:solidFill>
          <a:ln>
            <a:solidFill>
              <a:srgbClr val="A86B1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9281160" y="28803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cut in adviser preparation time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48640" y="4937760"/>
            <a:ext cx="11094415" cy="566928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pic>
        <p:nvPicPr>
          <p:cNvPr id="16" name="Image 0" descr="Targ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508406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34440" y="4937760"/>
            <a:ext cx="10134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figure is reported with a baseline or a dollar value.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329184"/>
            <a:ext cx="0" cy="155448"/>
          </a:xfrm>
          <a:prstGeom prst="line">
            <a:avLst/>
          </a:prstGeom>
          <a:noFill/>
          <a:ln w="15875">
            <a:solidFill>
              <a:srgbClr val="0B6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84632"/>
            <a:ext cx="73152" cy="73152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3017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VALUE SITS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728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Claims and benefits is the largest cost line: every 1% is worth about S$40m a year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Great Eastern Holdings Annual Report 2025, p. 145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and benefits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83280" y="1783080"/>
            <a:ext cx="4114800" cy="566928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35240" y="178308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S$4,033.8m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73405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Commissions and distribution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383280" y="2734056"/>
            <a:ext cx="1519206" cy="566928"/>
          </a:xfrm>
          <a:prstGeom prst="rect">
            <a:avLst/>
          </a:prstGeom>
          <a:solidFill>
            <a:srgbClr val="C9D3DE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39646" y="273405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S$1,489.3m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68503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costs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383280" y="3685032"/>
            <a:ext cx="525953" cy="566928"/>
          </a:xfrm>
          <a:prstGeom prst="rect">
            <a:avLst/>
          </a:prstGeom>
          <a:solidFill>
            <a:srgbClr val="C9D3DE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46393" y="368503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S$515.6m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4407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S$ million, FY2025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52560" y="1737360"/>
            <a:ext cx="2590495" cy="2514600"/>
          </a:xfrm>
          <a:prstGeom prst="rect">
            <a:avLst/>
          </a:prstGeom>
          <a:solidFill>
            <a:srgbClr val="13233A"/>
          </a:solidFill>
          <a:ln w="12700">
            <a:solidFill>
              <a:srgbClr val="1323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26880" y="2011680"/>
            <a:ext cx="2041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1%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308592" y="2377440"/>
            <a:ext cx="2133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S$40m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9326880" y="3337560"/>
            <a:ext cx="2041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year on claims and benefits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4406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arithmetic on reported figures, not a forecast. Sizing by use case is part of the assessment.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329184"/>
            <a:ext cx="0" cy="155448"/>
          </a:xfrm>
          <a:prstGeom prst="line">
            <a:avLst/>
          </a:prstGeom>
          <a:noFill/>
          <a:ln w="15875">
            <a:solidFill>
              <a:srgbClr val="0B6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84632"/>
            <a:ext cx="73152" cy="73152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3017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COMPARISON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728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Peers now report AI value in dollars; Great Eastern reports speed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0" y="1783080"/>
            <a:ext cx="5120640" cy="548640"/>
          </a:xfrm>
          <a:prstGeom prst="rect">
            <a:avLst/>
          </a:prstGeom>
          <a:solidFill>
            <a:srgbClr val="E6EAEF"/>
          </a:solidFill>
          <a:ln w="9525">
            <a:solidFill>
              <a:srgbClr val="C9D3DE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54864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Prudential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0" y="2651760"/>
            <a:ext cx="3657600" cy="548640"/>
          </a:xfrm>
          <a:prstGeom prst="rect">
            <a:avLst/>
          </a:prstGeom>
          <a:solidFill>
            <a:srgbClr val="E6EAEF"/>
          </a:solidFill>
          <a:ln w="9525">
            <a:solidFill>
              <a:srgbClr val="C9D3DE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548640" y="3520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Manulife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0" y="3520440"/>
            <a:ext cx="2926080" cy="548640"/>
          </a:xfrm>
          <a:prstGeom prst="rect">
            <a:avLst/>
          </a:prstGeom>
          <a:solidFill>
            <a:srgbClr val="E6EAEF"/>
          </a:solidFill>
          <a:ln w="9525">
            <a:solidFill>
              <a:srgbClr val="C9D3DE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548640" y="4389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Eastern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4389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6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reported in dollars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5074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Disclosed AI value (US$ m)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899855" y="1783080"/>
            <a:ext cx="2743200" cy="310896"/>
          </a:xfrm>
          <a:prstGeom prst="roundRect">
            <a:avLst>
              <a:gd name="adj" fmla="val 17647"/>
            </a:avLst>
          </a:prstGeom>
          <a:solidFill>
            <a:srgbClr val="FBF6EC"/>
          </a:solidFill>
          <a:ln w="12700">
            <a:solidFill>
              <a:srgbClr val="A86B1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A86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AWAITING SOURCE DOCUMENTS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899855" y="22402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added once each peer's own report is checked.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329184"/>
            <a:ext cx="0" cy="155448"/>
          </a:xfrm>
          <a:prstGeom prst="line">
            <a:avLst/>
          </a:prstGeom>
          <a:noFill/>
          <a:ln w="15875">
            <a:solidFill>
              <a:srgbClr val="0B6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84632"/>
            <a:ext cx="73152" cy="73152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3017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CLOCK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728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MAS's AI risk rules give Great Eastern about a year to evidence AI governance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920240" y="3108960"/>
            <a:ext cx="8351215" cy="0"/>
          </a:xfrm>
          <a:prstGeom prst="line">
            <a:avLst/>
          </a:prstGeom>
          <a:noFill/>
          <a:ln w="38100">
            <a:solidFill>
              <a:srgbClr val="D7DC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2926080"/>
            <a:ext cx="365760" cy="365760"/>
          </a:xfrm>
          <a:prstGeom prst="ellipse">
            <a:avLst/>
          </a:prstGeom>
          <a:solidFill>
            <a:srgbClr val="13233A"/>
          </a:solidFill>
          <a:ln w="25400">
            <a:solidFill>
              <a:srgbClr val="1323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148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 2026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474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Guidelines issued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12968" y="292608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3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15688" y="2148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 2027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4724248" y="3474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oversight and AI inventory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088575" y="292608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3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91295" y="2148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 2028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8899855" y="3474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lifecycle controls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724248" y="4526280"/>
            <a:ext cx="2743200" cy="310896"/>
          </a:xfrm>
          <a:prstGeom prst="roundRect">
            <a:avLst>
              <a:gd name="adj" fmla="val 17647"/>
            </a:avLst>
          </a:prstGeom>
          <a:solidFill>
            <a:srgbClr val="FBF6EC"/>
          </a:solidFill>
          <a:ln w="12700">
            <a:solidFill>
              <a:srgbClr val="A86B1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A86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AWAITING SOURCE DOCUMENTS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9377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Dates and expectations confirmed against MAS's published guidelines before use.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329184"/>
            <a:ext cx="0" cy="155448"/>
          </a:xfrm>
          <a:prstGeom prst="line">
            <a:avLst/>
          </a:prstGeom>
          <a:noFill/>
          <a:ln w="15875">
            <a:solidFill>
              <a:srgbClr val="0B6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84632"/>
            <a:ext cx="73152" cy="73152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3017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GOVERNANCE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728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oversight reaches the board; the framework behind it is not yet public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Great Eastern Holdings Annual Report 2025, pp. 12, 38, 71, 78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Disclosed in the 2025 report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15184"/>
            <a:ext cx="9814255" cy="0"/>
          </a:xfrm>
          <a:prstGeom prst="line">
            <a:avLst/>
          </a:prstGeom>
          <a:noFill/>
          <a:ln w="9525">
            <a:solidFill>
              <a:srgbClr val="D7DCE3"/>
            </a:solidFill>
            <a:prstDash val="solid"/>
          </a:ln>
        </p:spPr>
      </p:sp>
      <p:pic>
        <p:nvPicPr>
          <p:cNvPr id="9" name="Image 0" descr="Land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57984"/>
            <a:ext cx="310896" cy="31089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97280" y="2011680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Board-level AI oversight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129016" y="2121408"/>
            <a:ext cx="384048" cy="384048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pic>
        <p:nvPicPr>
          <p:cNvPr id="12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2168" y="2194560"/>
            <a:ext cx="237744" cy="2377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48640" y="3218688"/>
            <a:ext cx="9814255" cy="0"/>
          </a:xfrm>
          <a:prstGeom prst="line">
            <a:avLst/>
          </a:prstGeom>
          <a:noFill/>
          <a:ln w="9525">
            <a:solidFill>
              <a:srgbClr val="D7DCE3"/>
            </a:solidFill>
            <a:prstDash val="solid"/>
          </a:ln>
        </p:spPr>
      </p:sp>
      <p:pic>
        <p:nvPicPr>
          <p:cNvPr id="14" name="Image 2" descr="Shield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61488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97280" y="2615184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used for compliance monitoring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8129016" y="2724912"/>
            <a:ext cx="384048" cy="384048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pic>
        <p:nvPicPr>
          <p:cNvPr id="17" name="Image 3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168" y="2798064"/>
            <a:ext cx="237744" cy="23774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48640" y="3822192"/>
            <a:ext cx="9814255" cy="0"/>
          </a:xfrm>
          <a:prstGeom prst="line">
            <a:avLst/>
          </a:prstGeom>
          <a:noFill/>
          <a:ln w="9525">
            <a:solidFill>
              <a:srgbClr val="D7DCE3"/>
            </a:solidFill>
            <a:prstDash val="solid"/>
          </a:ln>
        </p:spPr>
      </p:sp>
      <p:pic>
        <p:nvPicPr>
          <p:cNvPr id="19" name="Image 4" descr="Sca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364992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097280" y="3218688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policy or principles</a:t>
            </a:r>
            <a:endParaRPr lang="en-US" sz="1600" dirty="0"/>
          </a:p>
        </p:txBody>
      </p:sp>
      <p:sp>
        <p:nvSpPr>
          <p:cNvPr id="21" name="Shape 14"/>
          <p:cNvSpPr/>
          <p:nvPr/>
        </p:nvSpPr>
        <p:spPr>
          <a:xfrm>
            <a:off x="8129016" y="3328416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67085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548640" y="4425696"/>
            <a:ext cx="9814255" cy="0"/>
          </a:xfrm>
          <a:prstGeom prst="line">
            <a:avLst/>
          </a:prstGeom>
          <a:noFill/>
          <a:ln w="9525">
            <a:solidFill>
              <a:srgbClr val="D7DCE3"/>
            </a:solidFill>
            <a:prstDash val="solid"/>
          </a:ln>
        </p:spPr>
      </p:sp>
      <p:pic>
        <p:nvPicPr>
          <p:cNvPr id="23" name="Image 5" descr="Clipboard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68496"/>
            <a:ext cx="310896" cy="310896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097280" y="3822192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inventory and risk tiers</a:t>
            </a:r>
            <a:endParaRPr lang="en-US" sz="1600" dirty="0"/>
          </a:p>
        </p:txBody>
      </p:sp>
      <p:sp>
        <p:nvSpPr>
          <p:cNvPr id="25" name="Shape 17"/>
          <p:cNvSpPr/>
          <p:nvPr/>
        </p:nvSpPr>
        <p:spPr>
          <a:xfrm>
            <a:off x="8129016" y="3931920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67085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548640" y="5029200"/>
            <a:ext cx="9814255" cy="0"/>
          </a:xfrm>
          <a:prstGeom prst="line">
            <a:avLst/>
          </a:prstGeom>
          <a:noFill/>
          <a:ln w="9525">
            <a:solidFill>
              <a:srgbClr val="D7DCE3"/>
            </a:solidFill>
            <a:prstDash val="solid"/>
          </a:ln>
        </p:spPr>
      </p:sp>
      <p:pic>
        <p:nvPicPr>
          <p:cNvPr id="27" name="Image 6" descr="Gaug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572000"/>
            <a:ext cx="310896" cy="310896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097280" y="4425696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risk management for AI</a:t>
            </a:r>
            <a:endParaRPr lang="en-US" sz="1600" dirty="0"/>
          </a:p>
        </p:txBody>
      </p:sp>
      <p:sp>
        <p:nvSpPr>
          <p:cNvPr id="29" name="Shape 20"/>
          <p:cNvSpPr/>
          <p:nvPr/>
        </p:nvSpPr>
        <p:spPr>
          <a:xfrm>
            <a:off x="8129016" y="453542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67085"/>
            </a:solidFill>
            <a:prstDash val="solid"/>
          </a:ln>
        </p:spPr>
      </p:sp>
      <p:sp>
        <p:nvSpPr>
          <p:cNvPr id="30" name="Shape 21"/>
          <p:cNvSpPr/>
          <p:nvPr/>
        </p:nvSpPr>
        <p:spPr>
          <a:xfrm>
            <a:off x="7132320" y="5266944"/>
            <a:ext cx="182880" cy="182880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31" name="Text 22"/>
          <p:cNvSpPr txBox="1"/>
          <p:nvPr/>
        </p:nvSpPr>
        <p:spPr>
          <a:xfrm>
            <a:off x="7406640" y="52120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Disclosed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8366760" y="5266944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67085"/>
            </a:solidFill>
            <a:prstDash val="solid"/>
          </a:ln>
        </p:spPr>
      </p:sp>
      <p:sp>
        <p:nvSpPr>
          <p:cNvPr id="33" name="Text 24"/>
          <p:cNvSpPr txBox="1"/>
          <p:nvPr/>
        </p:nvSpPr>
        <p:spPr>
          <a:xfrm>
            <a:off x="8641080" y="52120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described</a:t>
            </a:r>
            <a:endParaRPr lang="en-US" sz="1100" dirty="0"/>
          </a:p>
        </p:txBody>
      </p:sp>
      <p:sp>
        <p:nvSpPr>
          <p:cNvPr id="34" name="Text 25"/>
          <p:cNvSpPr txBox="1"/>
          <p:nvPr/>
        </p:nvSpPr>
        <p:spPr>
          <a:xfrm>
            <a:off x="548640" y="54864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disclosure only, not an assessment of practice; OCBC group frameworks not reviewed.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329184"/>
            <a:ext cx="0" cy="155448"/>
          </a:xfrm>
          <a:prstGeom prst="line">
            <a:avLst/>
          </a:prstGeom>
          <a:noFill/>
          <a:ln w="15875">
            <a:solidFill>
              <a:srgbClr val="0B6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84632"/>
            <a:ext cx="73152" cy="73152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3017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HYPOTHESES TO TEST TOGETHER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728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hypotheses would turn this outside-in view into decisions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484778" cy="32918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11680"/>
            <a:ext cx="822960" cy="822960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pic>
        <p:nvPicPr>
          <p:cNvPr id="8" name="Image 0" descr="Trending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217420"/>
            <a:ext cx="411480" cy="411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14400" y="306324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B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611880"/>
            <a:ext cx="27532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three AI use cases would cut claims and expense ratios most?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353458" y="1645920"/>
            <a:ext cx="3484778" cy="32918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73498" y="2011680"/>
            <a:ext cx="822960" cy="822960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pic>
        <p:nvPicPr>
          <p:cNvPr id="13" name="Image 1" descr="Shield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9238" y="221742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719218" y="306324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B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4719218" y="3611880"/>
            <a:ext cx="27532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board-ready AI risk evidence look like?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8158277" y="1645920"/>
            <a:ext cx="3484778" cy="32918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78317" y="2011680"/>
            <a:ext cx="822960" cy="822960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pic>
        <p:nvPicPr>
          <p:cNvPr id="18" name="Image 2" descr="Rock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4057" y="221742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524037" y="306324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B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2400" dirty="0"/>
          </a:p>
        </p:txBody>
      </p:sp>
      <p:sp>
        <p:nvSpPr>
          <p:cNvPr id="20" name="Text 15"/>
          <p:cNvSpPr txBox="1"/>
          <p:nvPr/>
        </p:nvSpPr>
        <p:spPr>
          <a:xfrm>
            <a:off x="8524037" y="3611880"/>
            <a:ext cx="27532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move complex underwriting AI into production?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329184"/>
            <a:ext cx="0" cy="155448"/>
          </a:xfrm>
          <a:prstGeom prst="line">
            <a:avLst/>
          </a:prstGeom>
          <a:noFill/>
          <a:ln w="15875">
            <a:solidFill>
              <a:srgbClr val="0B6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84632"/>
            <a:ext cx="73152" cy="73152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3017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NEXT STEP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728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12-day assessment would test these hypotheses with your leadership team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1554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1554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31920" y="1874520"/>
            <a:ext cx="0" cy="1874520"/>
          </a:xfrm>
          <a:prstGeom prst="line">
            <a:avLst/>
          </a:prstGeom>
          <a:noFill/>
          <a:ln w="9525">
            <a:solidFill>
              <a:srgbClr val="EDF0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89120" y="1554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874520"/>
            <a:ext cx="0" cy="1874520"/>
          </a:xfrm>
          <a:prstGeom prst="line">
            <a:avLst/>
          </a:prstGeom>
          <a:noFill/>
          <a:ln w="9525">
            <a:solidFill>
              <a:srgbClr val="EDF0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554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874520"/>
            <a:ext cx="0" cy="1874520"/>
          </a:xfrm>
          <a:prstGeom prst="line">
            <a:avLst/>
          </a:prstGeom>
          <a:noFill/>
          <a:ln w="9525">
            <a:solidFill>
              <a:srgbClr val="EDF0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03520" y="1554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03520" y="1874520"/>
            <a:ext cx="0" cy="1874520"/>
          </a:xfrm>
          <a:prstGeom prst="line">
            <a:avLst/>
          </a:prstGeom>
          <a:noFill/>
          <a:ln w="9525">
            <a:solidFill>
              <a:srgbClr val="EDF0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60720" y="1554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60720" y="1874520"/>
            <a:ext cx="0" cy="1874520"/>
          </a:xfrm>
          <a:prstGeom prst="line">
            <a:avLst/>
          </a:prstGeom>
          <a:noFill/>
          <a:ln w="9525">
            <a:solidFill>
              <a:srgbClr val="EDF0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1554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874520"/>
            <a:ext cx="0" cy="1874520"/>
          </a:xfrm>
          <a:prstGeom prst="line">
            <a:avLst/>
          </a:prstGeom>
          <a:noFill/>
          <a:ln w="9525">
            <a:solidFill>
              <a:srgbClr val="EDF0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75120" y="1554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0" y="1874520"/>
            <a:ext cx="0" cy="1874520"/>
          </a:xfrm>
          <a:prstGeom prst="line">
            <a:avLst/>
          </a:prstGeom>
          <a:noFill/>
          <a:ln w="9525">
            <a:solidFill>
              <a:srgbClr val="EDF0F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0" y="1554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32320" y="1874520"/>
            <a:ext cx="0" cy="1874520"/>
          </a:xfrm>
          <a:prstGeom prst="line">
            <a:avLst/>
          </a:prstGeom>
          <a:noFill/>
          <a:ln w="9525">
            <a:solidFill>
              <a:srgbClr val="EDF0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89520" y="1554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589520" y="1874520"/>
            <a:ext cx="0" cy="1874520"/>
          </a:xfrm>
          <a:prstGeom prst="line">
            <a:avLst/>
          </a:prstGeom>
          <a:noFill/>
          <a:ln w="9525">
            <a:solidFill>
              <a:srgbClr val="EDF0F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0" y="1554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46720" y="1874520"/>
            <a:ext cx="0" cy="1874520"/>
          </a:xfrm>
          <a:prstGeom prst="line">
            <a:avLst/>
          </a:prstGeom>
          <a:noFill/>
          <a:ln w="9525">
            <a:solidFill>
              <a:srgbClr val="EDF0F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03920" y="1554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503920" y="1874520"/>
            <a:ext cx="0" cy="1874520"/>
          </a:xfrm>
          <a:prstGeom prst="line">
            <a:avLst/>
          </a:prstGeom>
          <a:noFill/>
          <a:ln w="9525">
            <a:solidFill>
              <a:srgbClr val="EDF0F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day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19385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evidence and peers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502152" y="2002536"/>
            <a:ext cx="1316736" cy="256032"/>
          </a:xfrm>
          <a:prstGeom prst="roundRect">
            <a:avLst>
              <a:gd name="adj" fmla="val 28571"/>
            </a:avLst>
          </a:prstGeom>
          <a:solidFill>
            <a:srgbClr val="13233A"/>
          </a:solidFill>
          <a:ln w="12700">
            <a:solidFill>
              <a:srgbClr val="13233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23957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questionnaire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416552" y="2459736"/>
            <a:ext cx="1773936" cy="256032"/>
          </a:xfrm>
          <a:prstGeom prst="roundRect">
            <a:avLst>
              <a:gd name="adj" fmla="val 28571"/>
            </a:avLst>
          </a:prstGeom>
          <a:solidFill>
            <a:srgbClr val="13233A"/>
          </a:solidFill>
          <a:ln w="12700">
            <a:solidFill>
              <a:srgbClr val="13233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28529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10–12 leadership interviews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873752" y="2916936"/>
            <a:ext cx="2688336" cy="256032"/>
          </a:xfrm>
          <a:prstGeom prst="roundRect">
            <a:avLst>
              <a:gd name="adj" fmla="val 28571"/>
            </a:avLst>
          </a:prstGeom>
          <a:solidFill>
            <a:srgbClr val="13233A"/>
          </a:solidFill>
          <a:ln w="12700">
            <a:solidFill>
              <a:srgbClr val="13233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33101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 and read-out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616952" y="3374136"/>
            <a:ext cx="1316736" cy="256032"/>
          </a:xfrm>
          <a:prstGeom prst="roundRect">
            <a:avLst>
              <a:gd name="adj" fmla="val 28571"/>
            </a:avLst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372600" y="1554480"/>
            <a:ext cx="2270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RECEIVE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372600" y="1965960"/>
            <a:ext cx="402336" cy="402336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pic>
        <p:nvPicPr>
          <p:cNvPr id="40" name="Image 0" descr="HandCoi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3184" y="2066544"/>
            <a:ext cx="201168" cy="201168"/>
          </a:xfrm>
          <a:prstGeom prst="rect">
            <a:avLst/>
          </a:prstGeom>
        </p:spPr>
      </p:pic>
      <p:sp>
        <p:nvSpPr>
          <p:cNvPr id="41" name="Text 38"/>
          <p:cNvSpPr txBox="1"/>
          <p:nvPr/>
        </p:nvSpPr>
        <p:spPr>
          <a:xfrm>
            <a:off x="9921240" y="1965960"/>
            <a:ext cx="17218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Sized AI value pools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9372600" y="2532888"/>
            <a:ext cx="402336" cy="402336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pic>
        <p:nvPicPr>
          <p:cNvPr id="43" name="Image 1" descr="Clipboard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3184" y="2633472"/>
            <a:ext cx="201168" cy="201168"/>
          </a:xfrm>
          <a:prstGeom prst="rect">
            <a:avLst/>
          </a:prstGeom>
        </p:spPr>
      </p:pic>
      <p:sp>
        <p:nvSpPr>
          <p:cNvPr id="44" name="Text 40"/>
          <p:cNvSpPr txBox="1"/>
          <p:nvPr/>
        </p:nvSpPr>
        <p:spPr>
          <a:xfrm>
            <a:off x="9921240" y="2532888"/>
            <a:ext cx="17218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inventory and risk tiers</a:t>
            </a:r>
            <a:endParaRPr lang="en-US" sz="1300" dirty="0"/>
          </a:p>
        </p:txBody>
      </p:sp>
      <p:sp>
        <p:nvSpPr>
          <p:cNvPr id="45" name="Shape 41"/>
          <p:cNvSpPr/>
          <p:nvPr/>
        </p:nvSpPr>
        <p:spPr>
          <a:xfrm>
            <a:off x="9372600" y="3099816"/>
            <a:ext cx="402336" cy="402336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pic>
        <p:nvPicPr>
          <p:cNvPr id="46" name="Image 2" descr="Rock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184" y="3200400"/>
            <a:ext cx="201168" cy="201168"/>
          </a:xfrm>
          <a:prstGeom prst="rect">
            <a:avLst/>
          </a:prstGeom>
        </p:spPr>
      </p:pic>
      <p:sp>
        <p:nvSpPr>
          <p:cNvPr id="47" name="Text 42"/>
          <p:cNvSpPr txBox="1"/>
          <p:nvPr/>
        </p:nvSpPr>
        <p:spPr>
          <a:xfrm>
            <a:off x="9921240" y="3099816"/>
            <a:ext cx="17218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path for next use cases</a:t>
            </a:r>
            <a:endParaRPr lang="en-US" sz="1300" dirty="0"/>
          </a:p>
        </p:txBody>
      </p:sp>
      <p:sp>
        <p:nvSpPr>
          <p:cNvPr id="48" name="Shape 43"/>
          <p:cNvSpPr/>
          <p:nvPr/>
        </p:nvSpPr>
        <p:spPr>
          <a:xfrm>
            <a:off x="548640" y="4270248"/>
            <a:ext cx="11094415" cy="685800"/>
          </a:xfrm>
          <a:prstGeom prst="rect">
            <a:avLst/>
          </a:prstGeom>
          <a:solidFill>
            <a:srgbClr val="13233A"/>
          </a:solidFill>
          <a:ln w="12700">
            <a:solidFill>
              <a:srgbClr val="13233A"/>
            </a:solidFill>
            <a:prstDash val="solid"/>
          </a:ln>
        </p:spPr>
      </p:sp>
      <p:sp>
        <p:nvSpPr>
          <p:cNvPr id="49" name="Text 44"/>
          <p:cNvSpPr txBox="1"/>
          <p:nvPr/>
        </p:nvSpPr>
        <p:spPr>
          <a:xfrm>
            <a:off x="822960" y="4270248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FB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000" dirty="0"/>
          </a:p>
        </p:txBody>
      </p:sp>
      <p:sp>
        <p:nvSpPr>
          <p:cNvPr id="50" name="Text 45"/>
          <p:cNvSpPr txBox="1"/>
          <p:nvPr/>
        </p:nvSpPr>
        <p:spPr>
          <a:xfrm>
            <a:off x="2011680" y="4270248"/>
            <a:ext cx="93570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45-minute session in </a:t>
            </a:r>
            <a:pPr indent="0" marL="0">
              <a:buNone/>
            </a:pPr>
            <a:r>
              <a:rPr lang="en-US" sz="1400" b="1" i="1" dirty="0">
                <a:solidFill>
                  <a:srgbClr val="A86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‹to confirm: week›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Fixed fee </a:t>
            </a:r>
            <a:pPr indent="0" marL="0">
              <a:buNone/>
            </a:pPr>
            <a:r>
              <a:rPr lang="en-US" sz="1400" b="1" i="1" dirty="0">
                <a:solidFill>
                  <a:srgbClr val="A86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‹to confirm: S$ amount›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No confidential data needed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329184"/>
            <a:ext cx="0" cy="155448"/>
          </a:xfrm>
          <a:prstGeom prst="line">
            <a:avLst/>
          </a:prstGeom>
          <a:noFill/>
          <a:ln w="15875">
            <a:solidFill>
              <a:srgbClr val="0B6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84632"/>
            <a:ext cx="73152" cy="73152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3017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PLUMB ADVISORY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728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PLUMB Advisory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40080" cy="640080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pic>
        <p:nvPicPr>
          <p:cNvPr id="7" name="Image 0" descr="Us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8516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1691640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A86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‹to confirm: one line on the firm and lead advisor›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640080" cy="640080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pic>
        <p:nvPicPr>
          <p:cNvPr id="10" name="Image 1" descr="Clipboard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272034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560320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statement traces to its source; findings are reviewed by an advisor who did not produce them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548640" y="3429000"/>
            <a:ext cx="640080" cy="640080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pic>
        <p:nvPicPr>
          <p:cNvPr id="13" name="Image 2" descr="FileSear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358902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3429000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Evidence, quotations and method are in the accompanying deep-dive report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4297680"/>
            <a:ext cx="640080" cy="640080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pic>
        <p:nvPicPr>
          <p:cNvPr id="16" name="Image 3" descr="Landmar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" y="445770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63040" y="4297680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A86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‹to confirm: name, email, phone›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UMB Executive">
  <a:themeElements>
    <a:clrScheme name="PLUMB Executive">
      <a:dk1>
        <a:srgbClr val="13233A"/>
      </a:dk1>
      <a:lt1>
        <a:srgbClr val="FFFFFF"/>
      </a:lt1>
      <a:dk2>
        <a:srgbClr val="2B3645"/>
      </a:dk2>
      <a:lt2>
        <a:srgbClr val="F3F5F8"/>
      </a:lt2>
      <a:accent1>
        <a:srgbClr val="0B6E6E"/>
      </a:accent1>
      <a:accent2>
        <a:srgbClr val="4B6584"/>
      </a:accent2>
      <a:accent3>
        <a:srgbClr val="A86B12"/>
      </a:accent3>
      <a:accent4>
        <a:srgbClr val="667085"/>
      </a:accent4>
      <a:accent5>
        <a:srgbClr val="D7DCE3"/>
      </a:accent5>
      <a:accent6>
        <a:srgbClr val="13233A"/>
      </a:accent6>
      <a:hlink>
        <a:srgbClr val="0B6E6E"/>
      </a:hlink>
      <a:folHlink>
        <a:srgbClr val="4B6584"/>
      </a:folHlink>
    </a:clrScheme>
    <a:fontScheme name="PLUMB Executiv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PLUMB Advisory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Scaling AI at Great Eastern: from proven use cases to measurable value</dc:title>
  <dc:subject>PptxGenJS Presentation</dc:subject>
  <dc:creator>PLUMB Advisory</dc:creator>
  <cp:lastModifiedBy>PLUMB Advisory</cp:lastModifiedBy>
  <cp:revision>1</cp:revision>
  <dcterms:created xsi:type="dcterms:W3CDTF">2026-10-25T16:43:40Z</dcterms:created>
  <dcterms:modified xsi:type="dcterms:W3CDTF">2026-10-25T16:43:40Z</dcterms:modified>
</cp:coreProperties>
</file>