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plumbdeck:S01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plumbdeck:S02</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plumbdeck:S03</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plumbdeck:S04</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plumbdeck:S05</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plumbdeck:S06</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plumbdeck:S07</a:t>
            </a:r>
          </a:p>
          <a:p>
            <a:r>
              <a:t>withheld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plumbdeck:S08</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plumbdeck:S09</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plumbdeck:S10</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plumbdeck:A1 1/4</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plumbdeck:A1 2/4</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plumbdeck:A1 3/4</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plumbdeck:A1 4/4</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plumbdeck-banner"/>
          <p:cNvSpPr txBox="1"/>
          <p:nvPr/>
        </p:nvSpPr>
        <p:spPr>
          <a:xfrm>
            <a:off x="0" y="0"/>
            <a:ext cx="12191695" cy="384048"/>
          </a:xfrm>
          <a:prstGeom prst="rect">
            <a:avLst/>
          </a:prstGeom>
          <a:solidFill>
            <a:srgbClr val="B42318"/>
          </a:solidFill>
        </p:spPr>
        <p:txBody>
          <a:bodyPr wrap="square" lIns="45720" rIns="45720" tIns="27432" bIns="27432" anchor="ctr">
            <a:spAutoFit/>
          </a:bodyPr>
          <a:lstStyle/>
          <a:p>
            <a:pPr algn="ctr"/>
            <a:r>
              <a:rPr sz="1100" b="1" i="0">
                <a:solidFill>
                  <a:srgbClr val="FFFFFF"/>
                </a:solidFill>
                <a:latin typeface="Arial"/>
              </a:rPr>
              <a:t>DRAFT — not for board use (internal profile; 1 attachment unreconciled; resolution 0.1429; no QA gate 3 sign-off)</a:t>
            </a:r>
          </a:p>
        </p:txBody>
      </p:sp>
      <p:sp>
        <p:nvSpPr>
          <p:cNvPr id="3" name="plumbdeck-section"/>
          <p:cNvSpPr txBox="1"/>
          <p:nvPr/>
        </p:nvSpPr>
        <p:spPr>
          <a:xfrm>
            <a:off x="548640" y="502920"/>
            <a:ext cx="11094415" cy="274320"/>
          </a:xfrm>
          <a:prstGeom prst="rect">
            <a:avLst/>
          </a:prstGeom>
          <a:noFill/>
        </p:spPr>
        <p:txBody>
          <a:bodyPr wrap="square" lIns="45720" rIns="45720" tIns="27432" bIns="27432" anchor="t">
            <a:spAutoFit/>
          </a:bodyPr>
          <a:lstStyle/>
          <a:p>
            <a:r>
              <a:rPr sz="1000" b="0" i="0">
                <a:solidFill>
                  <a:srgbClr val="57606A"/>
                </a:solidFill>
                <a:latin typeface="Arial"/>
              </a:rPr>
              <a:t>S01 · Cover</a:t>
            </a:r>
          </a:p>
        </p:txBody>
      </p:sp>
      <p:sp>
        <p:nvSpPr>
          <p:cNvPr id="4" name="plumbdeck-title"/>
          <p:cNvSpPr txBox="1"/>
          <p:nvPr/>
        </p:nvSpPr>
        <p:spPr>
          <a:xfrm>
            <a:off x="548640" y="1783080"/>
            <a:ext cx="11094415" cy="1280160"/>
          </a:xfrm>
          <a:prstGeom prst="rect">
            <a:avLst/>
          </a:prstGeom>
          <a:noFill/>
        </p:spPr>
        <p:txBody>
          <a:bodyPr wrap="square" lIns="45720" rIns="45720" tIns="27432" bIns="27432" anchor="t">
            <a:spAutoFit/>
          </a:bodyPr>
          <a:lstStyle/>
          <a:p>
            <a:r>
              <a:rPr sz="3000" b="1" i="0">
                <a:solidFill>
                  <a:srgbClr val="1F2328"/>
                </a:solidFill>
                <a:latin typeface="Arial"/>
              </a:rPr>
              <a:t>Great Eastern Holdings Limited: what public evidence says about AI, 2026-10-25</a:t>
            </a:r>
          </a:p>
        </p:txBody>
      </p:sp>
      <p:sp>
        <p:nvSpPr>
          <p:cNvPr id="5" name="Rectangle 4"/>
          <p:cNvSpPr/>
          <p:nvPr/>
        </p:nvSpPr>
        <p:spPr>
          <a:xfrm>
            <a:off x="548640" y="3187700"/>
            <a:ext cx="2743200" cy="25400"/>
          </a:xfrm>
          <a:prstGeom prst="rect">
            <a:avLst/>
          </a:prstGeom>
          <a:solidFill>
            <a:srgbClr val="2F4B66"/>
          </a:solidFill>
          <a:ln>
            <a:noFill/>
          </a:ln>
          <a:effectLst/>
        </p:spPr>
        <p:txBody>
          <a:bodyPr rtlCol="0" anchor="ctr"/>
          <a:lstStyle/>
          <a:p>
            <a:pPr algn="ctr"/>
          </a:p>
        </p:txBody>
      </p:sp>
      <p:sp>
        <p:nvSpPr>
          <p:cNvPr id="6" name="TextBox 5"/>
          <p:cNvSpPr txBox="1"/>
          <p:nvPr/>
        </p:nvSpPr>
        <p:spPr>
          <a:xfrm>
            <a:off x="548640" y="3383280"/>
            <a:ext cx="11094415" cy="295402"/>
          </a:xfrm>
          <a:prstGeom prst="rect">
            <a:avLst/>
          </a:prstGeom>
          <a:noFill/>
        </p:spPr>
        <p:txBody>
          <a:bodyPr wrap="square" lIns="45720" rIns="45720" tIns="27432" bIns="27432" anchor="t">
            <a:spAutoFit/>
          </a:bodyPr>
          <a:lstStyle/>
          <a:p>
            <a:r>
              <a:rPr sz="1400" b="1" i="0">
                <a:solidFill>
                  <a:srgbClr val="1F2328"/>
                </a:solidFill>
                <a:latin typeface="Arial"/>
              </a:rPr>
              <a:t>Outside-in AI pre-read</a:t>
            </a:r>
          </a:p>
        </p:txBody>
      </p:sp>
      <p:sp>
        <p:nvSpPr>
          <p:cNvPr id="7" name="TextBox 6"/>
          <p:cNvSpPr txBox="1"/>
          <p:nvPr/>
        </p:nvSpPr>
        <p:spPr>
          <a:xfrm>
            <a:off x="548640" y="3678682"/>
            <a:ext cx="11094415" cy="247777"/>
          </a:xfrm>
          <a:prstGeom prst="rect">
            <a:avLst/>
          </a:prstGeom>
          <a:noFill/>
        </p:spPr>
        <p:txBody>
          <a:bodyPr wrap="square" lIns="45720" rIns="45720" tIns="27432" bIns="27432" anchor="t">
            <a:spAutoFit/>
          </a:bodyPr>
          <a:lstStyle/>
          <a:p>
            <a:r>
              <a:rPr sz="1100" b="0" i="0">
                <a:solidFill>
                  <a:srgbClr val="1F2328"/>
                </a:solidFill>
                <a:latin typeface="Arial"/>
              </a:rPr>
              <a:t>Great Eastern Holdings Limited · pre-read for a first management conversation · 2026-10-25</a:t>
            </a:r>
          </a:p>
        </p:txBody>
      </p:sp>
      <p:sp>
        <p:nvSpPr>
          <p:cNvPr id="8" name="TextBox 7"/>
          <p:cNvSpPr txBox="1"/>
          <p:nvPr/>
        </p:nvSpPr>
        <p:spPr>
          <a:xfrm>
            <a:off x="548640" y="3926459"/>
            <a:ext cx="11094415" cy="231902"/>
          </a:xfrm>
          <a:prstGeom prst="rect">
            <a:avLst/>
          </a:prstGeom>
          <a:noFill/>
        </p:spPr>
        <p:txBody>
          <a:bodyPr wrap="square" lIns="45720" rIns="45720" tIns="27432" bIns="27432" anchor="t">
            <a:spAutoFit/>
          </a:bodyPr>
          <a:lstStyle/>
          <a:p>
            <a:r>
              <a:rPr sz="1000" b="0" i="0">
                <a:solidFill>
                  <a:srgbClr val="57606A"/>
                </a:solidFill>
                <a:latin typeface="Arial"/>
              </a:rPr>
              <a:t>Deliverable PLUMB-PR-great-eastern-research-e0bc54685dce · version 0.1 · run research-e0bc54685dce</a:t>
            </a:r>
          </a:p>
        </p:txBody>
      </p:sp>
      <p:sp>
        <p:nvSpPr>
          <p:cNvPr id="9" name="TextBox 8"/>
          <p:cNvSpPr txBox="1"/>
          <p:nvPr/>
        </p:nvSpPr>
        <p:spPr>
          <a:xfrm>
            <a:off x="548640" y="4158361"/>
            <a:ext cx="11094415" cy="263652"/>
          </a:xfrm>
          <a:prstGeom prst="rect">
            <a:avLst/>
          </a:prstGeom>
          <a:noFill/>
        </p:spPr>
        <p:txBody>
          <a:bodyPr wrap="square" lIns="45720" rIns="45720" tIns="27432" bIns="27432" anchor="t">
            <a:spAutoFit/>
          </a:bodyPr>
          <a:lstStyle/>
          <a:p>
            <a:r>
              <a:rPr sz="1200" b="1" i="0">
                <a:solidFill>
                  <a:srgbClr val="1F2328"/>
                </a:solidFill>
                <a:latin typeface="Arial"/>
              </a:rPr>
              <a:t>AI-assisted draft — not yet approved by a named professional</a:t>
            </a:r>
          </a:p>
        </p:txBody>
      </p:sp>
      <p:sp>
        <p:nvSpPr>
          <p:cNvPr id="10" name="Rectangle 9"/>
          <p:cNvSpPr/>
          <p:nvPr/>
        </p:nvSpPr>
        <p:spPr>
          <a:xfrm>
            <a:off x="548640" y="6322885"/>
            <a:ext cx="11094415" cy="9525"/>
          </a:xfrm>
          <a:prstGeom prst="rect">
            <a:avLst/>
          </a:prstGeom>
          <a:solidFill>
            <a:srgbClr val="D0D7DE"/>
          </a:solidFill>
          <a:ln>
            <a:noFill/>
          </a:ln>
          <a:effectLst/>
        </p:spPr>
        <p:txBody>
          <a:bodyPr rtlCol="0" anchor="ctr"/>
          <a:lstStyle/>
          <a:p>
            <a:pPr algn="ctr"/>
          </a:p>
        </p:txBody>
      </p:sp>
      <p:sp>
        <p:nvSpPr>
          <p:cNvPr id="11" name="plumbdeck-footer"/>
          <p:cNvSpPr txBox="1"/>
          <p:nvPr/>
        </p:nvSpPr>
        <p:spPr>
          <a:xfrm>
            <a:off x="548640" y="6373368"/>
            <a:ext cx="10362895" cy="365760"/>
          </a:xfrm>
          <a:prstGeom prst="rect">
            <a:avLst/>
          </a:prstGeom>
          <a:noFill/>
        </p:spPr>
        <p:txBody>
          <a:bodyPr wrap="square" lIns="45720" rIns="45720" tIns="27432" bIns="27432" anchor="t">
            <a:spAutoFit/>
          </a:bodyPr>
          <a:lstStyle/>
          <a:p>
            <a:r>
              <a:rPr sz="800" b="0" i="0">
                <a:solidFill>
                  <a:srgbClr val="57606A"/>
                </a:solidFill>
                <a:latin typeface="Arial"/>
              </a:rPr>
              <a:t>DRAFT — not for board use. Deliverable PLUMB-PR-great-eastern-research-e0bc54685dce v0.1.</a:t>
            </a:r>
          </a:p>
        </p:txBody>
      </p:sp>
      <p:sp>
        <p:nvSpPr>
          <p:cNvPr id="12" name="TextBox 11"/>
          <p:cNvSpPr txBox="1"/>
          <p:nvPr/>
        </p:nvSpPr>
        <p:spPr>
          <a:xfrm>
            <a:off x="11002975" y="6373368"/>
            <a:ext cx="640080" cy="274320"/>
          </a:xfrm>
          <a:prstGeom prst="rect">
            <a:avLst/>
          </a:prstGeom>
          <a:noFill/>
        </p:spPr>
        <p:txBody>
          <a:bodyPr wrap="square" lIns="45720" rIns="45720" tIns="27432" bIns="27432" anchor="t">
            <a:spAutoFit/>
          </a:bodyPr>
          <a:lstStyle/>
          <a:p>
            <a:pPr algn="r"/>
            <a:r>
              <a:rPr sz="800" b="0" i="0">
                <a:solidFill>
                  <a:srgbClr val="57606A"/>
                </a:solidFill>
                <a:latin typeface="Arial"/>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plumbdeck-banner"/>
          <p:cNvSpPr txBox="1"/>
          <p:nvPr/>
        </p:nvSpPr>
        <p:spPr>
          <a:xfrm>
            <a:off x="0" y="0"/>
            <a:ext cx="12191695" cy="384048"/>
          </a:xfrm>
          <a:prstGeom prst="rect">
            <a:avLst/>
          </a:prstGeom>
          <a:solidFill>
            <a:srgbClr val="B42318"/>
          </a:solidFill>
        </p:spPr>
        <p:txBody>
          <a:bodyPr wrap="square" lIns="45720" rIns="45720" tIns="27432" bIns="27432" anchor="ctr">
            <a:spAutoFit/>
          </a:bodyPr>
          <a:lstStyle/>
          <a:p>
            <a:pPr algn="ctr"/>
            <a:r>
              <a:rPr sz="1100" b="1" i="0">
                <a:solidFill>
                  <a:srgbClr val="FFFFFF"/>
                </a:solidFill>
                <a:latin typeface="Arial"/>
              </a:rPr>
              <a:t>DRAFT — not for board use (internal profile; 1 attachment unreconciled; resolution 0.1429; no QA gate 3 sign-off)</a:t>
            </a:r>
          </a:p>
        </p:txBody>
      </p:sp>
      <p:sp>
        <p:nvSpPr>
          <p:cNvPr id="3" name="plumbdeck-section"/>
          <p:cNvSpPr txBox="1"/>
          <p:nvPr/>
        </p:nvSpPr>
        <p:spPr>
          <a:xfrm>
            <a:off x="548640" y="502920"/>
            <a:ext cx="11094415" cy="274320"/>
          </a:xfrm>
          <a:prstGeom prst="rect">
            <a:avLst/>
          </a:prstGeom>
          <a:noFill/>
        </p:spPr>
        <p:txBody>
          <a:bodyPr wrap="square" lIns="45720" rIns="45720" tIns="27432" bIns="27432" anchor="t">
            <a:spAutoFit/>
          </a:bodyPr>
          <a:lstStyle/>
          <a:p>
            <a:r>
              <a:rPr sz="1000" b="0" i="0">
                <a:solidFill>
                  <a:srgbClr val="57606A"/>
                </a:solidFill>
                <a:latin typeface="Arial"/>
              </a:rPr>
              <a:t>S02 · AI-use disclosure and verification statement</a:t>
            </a:r>
          </a:p>
        </p:txBody>
      </p:sp>
      <p:sp>
        <p:nvSpPr>
          <p:cNvPr id="4" name="plumbdeck-title"/>
          <p:cNvSpPr txBox="1"/>
          <p:nvPr/>
        </p:nvSpPr>
        <p:spPr>
          <a:xfrm>
            <a:off x="548640" y="822960"/>
            <a:ext cx="11094415" cy="466344"/>
          </a:xfrm>
          <a:prstGeom prst="rect">
            <a:avLst/>
          </a:prstGeom>
          <a:noFill/>
        </p:spPr>
        <p:txBody>
          <a:bodyPr wrap="square" lIns="45720" rIns="45720" tIns="27432" bIns="27432" anchor="t">
            <a:spAutoFit/>
          </a:bodyPr>
          <a:lstStyle/>
          <a:p>
            <a:r>
              <a:rPr sz="2000" b="1" i="0">
                <a:solidFill>
                  <a:srgbClr val="1F2328"/>
                </a:solidFill>
                <a:latin typeface="Arial"/>
              </a:rPr>
              <a:t>DRAFT — not for board use: 29 claims released, 7 withheld and listed</a:t>
            </a:r>
          </a:p>
        </p:txBody>
      </p:sp>
      <p:sp>
        <p:nvSpPr>
          <p:cNvPr id="5" name="Rectangle 4"/>
          <p:cNvSpPr/>
          <p:nvPr/>
        </p:nvSpPr>
        <p:spPr>
          <a:xfrm>
            <a:off x="548640" y="1330261"/>
            <a:ext cx="11094415" cy="9525"/>
          </a:xfrm>
          <a:prstGeom prst="rect">
            <a:avLst/>
          </a:prstGeom>
          <a:solidFill>
            <a:srgbClr val="D0D7DE"/>
          </a:solidFill>
          <a:ln>
            <a:noFill/>
          </a:ln>
          <a:effectLst/>
        </p:spPr>
        <p:txBody>
          <a:bodyPr rtlCol="0" anchor="ctr"/>
          <a:lstStyle/>
          <a:p>
            <a:pPr algn="ctr"/>
          </a:p>
        </p:txBody>
      </p:sp>
      <p:sp>
        <p:nvSpPr>
          <p:cNvPr id="6" name="TextBox 5"/>
          <p:cNvSpPr txBox="1"/>
          <p:nvPr/>
        </p:nvSpPr>
        <p:spPr>
          <a:xfrm>
            <a:off x="548640" y="1472184"/>
            <a:ext cx="11094415" cy="295402"/>
          </a:xfrm>
          <a:prstGeom prst="rect">
            <a:avLst/>
          </a:prstGeom>
          <a:noFill/>
        </p:spPr>
        <p:txBody>
          <a:bodyPr wrap="square" lIns="45720" rIns="45720" tIns="27432" bIns="27432" anchor="t">
            <a:spAutoFit/>
          </a:bodyPr>
          <a:lstStyle/>
          <a:p>
            <a:r>
              <a:rPr sz="1400" b="1" i="0">
                <a:solidFill>
                  <a:srgbClr val="1F2328"/>
                </a:solidFill>
                <a:latin typeface="Arial"/>
              </a:rPr>
              <a:t>Released: 29 claims. Withheld: 7 claims (listed).</a:t>
            </a:r>
          </a:p>
        </p:txBody>
      </p:sp>
      <p:sp>
        <p:nvSpPr>
          <p:cNvPr id="7" name="TextBox 6"/>
          <p:cNvSpPr txBox="1"/>
          <p:nvPr/>
        </p:nvSpPr>
        <p:spPr>
          <a:xfrm>
            <a:off x="548640" y="1767586"/>
            <a:ext cx="11094415" cy="422402"/>
          </a:xfrm>
          <a:prstGeom prst="rect">
            <a:avLst/>
          </a:prstGeom>
          <a:noFill/>
        </p:spPr>
        <p:txBody>
          <a:bodyPr wrap="square" lIns="45720" rIns="45720" tIns="27432" bIns="27432" anchor="t">
            <a:spAutoFit/>
          </a:bodyPr>
          <a:lstStyle/>
          <a:p>
            <a:r>
              <a:rPr sz="1100" b="0" i="0">
                <a:solidFill>
                  <a:srgbClr val="1F2328"/>
                </a:solidFill>
                <a:latin typeface="Arial"/>
              </a:rPr>
              <a:t>The verification statement is not rendered. It renders only when citation resolution = 1.0, every attachment is reconciled MATCH, the build profile is client and an independent QA gate 3 sign-off approves the run (ghost deck R8/R9).</a:t>
            </a:r>
          </a:p>
        </p:txBody>
      </p:sp>
      <p:sp>
        <p:nvSpPr>
          <p:cNvPr id="8" name="TextBox 7"/>
          <p:cNvSpPr txBox="1"/>
          <p:nvPr/>
        </p:nvSpPr>
        <p:spPr>
          <a:xfrm>
            <a:off x="548640" y="2189988"/>
            <a:ext cx="11094415" cy="263652"/>
          </a:xfrm>
          <a:prstGeom prst="rect">
            <a:avLst/>
          </a:prstGeom>
          <a:noFill/>
        </p:spPr>
        <p:txBody>
          <a:bodyPr wrap="square" lIns="45720" rIns="45720" tIns="27432" bIns="27432" anchor="t">
            <a:spAutoFit/>
          </a:bodyPr>
          <a:lstStyle/>
          <a:p>
            <a:r>
              <a:rPr sz="1200" b="1" i="0">
                <a:solidFill>
                  <a:srgbClr val="1F2328"/>
                </a:solidFill>
                <a:latin typeface="Arial"/>
              </a:rPr>
              <a:t>Reasons: internal profile; 1 attachment unreconciled; resolution 0.1429; no QA gate 3 sign-off.</a:t>
            </a:r>
          </a:p>
        </p:txBody>
      </p:sp>
      <p:graphicFrame>
        <p:nvGraphicFramePr>
          <p:cNvPr id="9" name="Table 8"/>
          <p:cNvGraphicFramePr>
            <a:graphicFrameLocks noGrp="1"/>
          </p:cNvGraphicFramePr>
          <p:nvPr/>
        </p:nvGraphicFramePr>
        <p:xfrm>
          <a:off x="548640" y="2453640"/>
          <a:ext cx="5964768" cy="1852669"/>
        </p:xfrm>
        <a:graphic>
          <a:graphicData uri="http://schemas.openxmlformats.org/drawingml/2006/table">
            <a:tbl>
              <a:tblPr firstRow="1" bandRow="1">
                <a:tableStyleId>{5C22544A-7EE6-4342-B048-85BDC9FD1C3A}</a:tableStyleId>
              </a:tblPr>
              <a:tblGrid>
                <a:gridCol w="2236788"/>
                <a:gridCol w="3727980"/>
              </a:tblGrid>
              <a:tr h="264667">
                <a:tc>
                  <a:txBody>
                    <a:bodyPr wrap="square"/>
                    <a:lstStyle/>
                    <a:p>
                      <a:r>
                        <a:rPr sz="1000" b="1">
                          <a:solidFill>
                            <a:srgbClr val="1F2328"/>
                          </a:solidFill>
                          <a:latin typeface="Arial"/>
                        </a:rPr>
                        <a:t>Build report field</a:t>
                      </a:r>
                    </a:p>
                  </a:txBody>
                  <a:tcPr marL="45720" marR="45720" marT="18288" marB="18288">
                    <a:solidFill>
                      <a:srgbClr val="EEF1F4"/>
                    </a:solidFill>
                  </a:tcPr>
                </a:tc>
                <a:tc>
                  <a:txBody>
                    <a:bodyPr wrap="square"/>
                    <a:lstStyle/>
                    <a:p>
                      <a:r>
                        <a:rPr sz="1000" b="1">
                          <a:solidFill>
                            <a:srgbClr val="1F2328"/>
                          </a:solidFill>
                          <a:latin typeface="Arial"/>
                        </a:rPr>
                        <a:t>Value</a:t>
                      </a:r>
                    </a:p>
                  </a:txBody>
                  <a:tcPr marL="45720" marR="45720" marT="18288" marB="18288">
                    <a:solidFill>
                      <a:srgbClr val="EEF1F4"/>
                    </a:solidFill>
                  </a:tcPr>
                </a:tc>
              </a:tr>
              <a:tr h="264667">
                <a:tc>
                  <a:txBody>
                    <a:bodyPr wrap="square"/>
                    <a:lstStyle/>
                    <a:p>
                      <a:r>
                        <a:rPr sz="1000" b="0">
                          <a:solidFill>
                            <a:srgbClr val="1F2328"/>
                          </a:solidFill>
                          <a:latin typeface="Arial"/>
                        </a:rPr>
                        <a:t>Build profile</a:t>
                      </a:r>
                    </a:p>
                  </a:txBody>
                  <a:tcPr marL="45720" marR="45720" marT="18288" marB="18288">
                    <a:solidFill>
                      <a:srgbClr val="FFFFFF"/>
                    </a:solidFill>
                  </a:tcPr>
                </a:tc>
                <a:tc>
                  <a:txBody>
                    <a:bodyPr wrap="square"/>
                    <a:lstStyle/>
                    <a:p>
                      <a:r>
                        <a:rPr sz="1000" b="0">
                          <a:solidFill>
                            <a:srgbClr val="1F2328"/>
                          </a:solidFill>
                          <a:latin typeface="Arial"/>
                        </a:rPr>
                        <a:t>internal</a:t>
                      </a:r>
                    </a:p>
                  </a:txBody>
                  <a:tcPr marL="45720" marR="45720" marT="18288" marB="18288">
                    <a:solidFill>
                      <a:srgbClr val="FFFFFF"/>
                    </a:solidFill>
                  </a:tcPr>
                </a:tc>
              </a:tr>
              <a:tr h="264667">
                <a:tc>
                  <a:txBody>
                    <a:bodyPr wrap="square"/>
                    <a:lstStyle/>
                    <a:p>
                      <a:r>
                        <a:rPr sz="1000" b="0">
                          <a:solidFill>
                            <a:srgbClr val="1F2328"/>
                          </a:solidFill>
                          <a:latin typeface="Arial"/>
                        </a:rPr>
                        <a:t>Citation resolution rate</a:t>
                      </a:r>
                    </a:p>
                  </a:txBody>
                  <a:tcPr marL="45720" marR="45720" marT="18288" marB="18288">
                    <a:solidFill>
                      <a:srgbClr val="FFFFFF"/>
                    </a:solidFill>
                  </a:tcPr>
                </a:tc>
                <a:tc>
                  <a:txBody>
                    <a:bodyPr wrap="square"/>
                    <a:lstStyle/>
                    <a:p>
                      <a:r>
                        <a:rPr sz="1000" b="0">
                          <a:solidFill>
                            <a:srgbClr val="1F2328"/>
                          </a:solidFill>
                          <a:latin typeface="Arial"/>
                        </a:rPr>
                        <a:t>0.1429</a:t>
                      </a:r>
                    </a:p>
                  </a:txBody>
                  <a:tcPr marL="45720" marR="45720" marT="18288" marB="18288">
                    <a:solidFill>
                      <a:srgbClr val="FFFFFF"/>
                    </a:solidFill>
                  </a:tcPr>
                </a:tc>
              </a:tr>
              <a:tr h="264667">
                <a:tc>
                  <a:txBody>
                    <a:bodyPr wrap="square"/>
                    <a:lstStyle/>
                    <a:p>
                      <a:r>
                        <a:rPr sz="1000" b="0">
                          <a:solidFill>
                            <a:srgbClr val="1F2328"/>
                          </a:solidFill>
                          <a:latin typeface="Arial"/>
                        </a:rPr>
                        <a:t>Attachments reconciled MATCH</a:t>
                      </a:r>
                    </a:p>
                  </a:txBody>
                  <a:tcPr marL="45720" marR="45720" marT="18288" marB="18288">
                    <a:solidFill>
                      <a:srgbClr val="FFFFFF"/>
                    </a:solidFill>
                  </a:tcPr>
                </a:tc>
                <a:tc>
                  <a:txBody>
                    <a:bodyPr wrap="square"/>
                    <a:lstStyle/>
                    <a:p>
                      <a:r>
                        <a:rPr sz="1000" b="0">
                          <a:solidFill>
                            <a:srgbClr val="1F2328"/>
                          </a:solidFill>
                          <a:latin typeface="Arial"/>
                        </a:rPr>
                        <a:t>0 of 1</a:t>
                      </a:r>
                    </a:p>
                  </a:txBody>
                  <a:tcPr marL="45720" marR="45720" marT="18288" marB="18288">
                    <a:solidFill>
                      <a:srgbClr val="FFFFFF"/>
                    </a:solidFill>
                  </a:tcPr>
                </a:tc>
              </a:tr>
              <a:tr h="264667">
                <a:tc>
                  <a:txBody>
                    <a:bodyPr wrap="square"/>
                    <a:lstStyle/>
                    <a:p>
                      <a:r>
                        <a:rPr sz="1000" b="0">
                          <a:solidFill>
                            <a:srgbClr val="1F2328"/>
                          </a:solidFill>
                          <a:latin typeface="Arial"/>
                        </a:rPr>
                        <a:t>Run outcome</a:t>
                      </a:r>
                    </a:p>
                  </a:txBody>
                  <a:tcPr marL="45720" marR="45720" marT="18288" marB="18288">
                    <a:solidFill>
                      <a:srgbClr val="FFFFFF"/>
                    </a:solidFill>
                  </a:tcPr>
                </a:tc>
                <a:tc>
                  <a:txBody>
                    <a:bodyPr wrap="square"/>
                    <a:lstStyle/>
                    <a:p>
                      <a:r>
                        <a:rPr sz="1000" b="0">
                          <a:solidFill>
                            <a:srgbClr val="1F2328"/>
                          </a:solidFill>
                          <a:latin typeface="Arial"/>
                        </a:rPr>
                        <a:t>Released: 29 claims. Withheld: 7 claims (listed).</a:t>
                      </a:r>
                    </a:p>
                  </a:txBody>
                  <a:tcPr marL="45720" marR="45720" marT="18288" marB="18288">
                    <a:solidFill>
                      <a:srgbClr val="FFFFFF"/>
                    </a:solidFill>
                  </a:tcPr>
                </a:tc>
              </a:tr>
              <a:tr h="264667">
                <a:tc>
                  <a:txBody>
                    <a:bodyPr wrap="square"/>
                    <a:lstStyle/>
                    <a:p>
                      <a:r>
                        <a:rPr sz="1000" b="0">
                          <a:solidFill>
                            <a:srgbClr val="1F2328"/>
                          </a:solidFill>
                          <a:latin typeface="Arial"/>
                        </a:rPr>
                        <a:t>QA gate 3 sign-off</a:t>
                      </a:r>
                    </a:p>
                  </a:txBody>
                  <a:tcPr marL="45720" marR="45720" marT="18288" marB="18288">
                    <a:solidFill>
                      <a:srgbClr val="FFFFFF"/>
                    </a:solidFill>
                  </a:tcPr>
                </a:tc>
                <a:tc>
                  <a:txBody>
                    <a:bodyPr wrap="square"/>
                    <a:lstStyle/>
                    <a:p>
                      <a:r>
                        <a:rPr sz="1000" b="0">
                          <a:solidFill>
                            <a:srgbClr val="1F2328"/>
                          </a:solidFill>
                          <a:latin typeface="Arial"/>
                        </a:rPr>
                        <a:t>absent</a:t>
                      </a:r>
                    </a:p>
                  </a:txBody>
                  <a:tcPr marL="45720" marR="45720" marT="18288" marB="18288">
                    <a:solidFill>
                      <a:srgbClr val="FFFFFF"/>
                    </a:solidFill>
                  </a:tcPr>
                </a:tc>
              </a:tr>
              <a:tr h="264667">
                <a:tc>
                  <a:txBody>
                    <a:bodyPr wrap="square"/>
                    <a:lstStyle/>
                    <a:p>
                      <a:r>
                        <a:rPr sz="1000" b="0">
                          <a:solidFill>
                            <a:srgbClr val="1F2328"/>
                          </a:solidFill>
                          <a:latin typeface="Arial"/>
                        </a:rPr>
                        <a:t>Run ID</a:t>
                      </a:r>
                    </a:p>
                  </a:txBody>
                  <a:tcPr marL="45720" marR="45720" marT="18288" marB="18288">
                    <a:solidFill>
                      <a:srgbClr val="FFFFFF"/>
                    </a:solidFill>
                  </a:tcPr>
                </a:tc>
                <a:tc>
                  <a:txBody>
                    <a:bodyPr wrap="square"/>
                    <a:lstStyle/>
                    <a:p>
                      <a:r>
                        <a:rPr sz="1000" b="0">
                          <a:solidFill>
                            <a:srgbClr val="1F2328"/>
                          </a:solidFill>
                          <a:latin typeface="Arial"/>
                        </a:rPr>
                        <a:t>research-e0bc54685dce</a:t>
                      </a:r>
                    </a:p>
                  </a:txBody>
                  <a:tcPr marL="45720" marR="45720" marT="18288" marB="18288">
                    <a:solidFill>
                      <a:srgbClr val="FFFFFF"/>
                    </a:solidFill>
                  </a:tcPr>
                </a:tc>
              </a:tr>
            </a:tbl>
          </a:graphicData>
        </a:graphic>
      </p:graphicFrame>
      <p:sp>
        <p:nvSpPr>
          <p:cNvPr id="10" name="TextBox 9"/>
          <p:cNvSpPr txBox="1"/>
          <p:nvPr/>
        </p:nvSpPr>
        <p:spPr>
          <a:xfrm>
            <a:off x="6787728" y="2453640"/>
            <a:ext cx="4855326" cy="549402"/>
          </a:xfrm>
          <a:prstGeom prst="rect">
            <a:avLst/>
          </a:prstGeom>
          <a:noFill/>
        </p:spPr>
        <p:txBody>
          <a:bodyPr wrap="square" lIns="45720" rIns="45720" tIns="27432" bIns="27432" anchor="t">
            <a:spAutoFit/>
          </a:bodyPr>
          <a:lstStyle/>
          <a:p>
            <a:r>
              <a:rPr sz="1000" b="0" i="0">
                <a:solidFill>
                  <a:srgbClr val="57606A"/>
                </a:solidFill>
                <a:latin typeface="Arial"/>
              </a:rPr>
              <a:t>AI-assisted draft. Prepared with the assistance of AI tools and not yet approved by a named member of PLUMB. Tools and models: run log models: plumbresearch-rules 0.1.0 (asia-southeast1), plumbverify-rules 0.5.0 (asia-southeast1).</a:t>
            </a:r>
          </a:p>
        </p:txBody>
      </p:sp>
      <p:sp>
        <p:nvSpPr>
          <p:cNvPr id="11" name="TextBox 10"/>
          <p:cNvSpPr txBox="1"/>
          <p:nvPr/>
        </p:nvSpPr>
        <p:spPr>
          <a:xfrm>
            <a:off x="6787728" y="3003042"/>
            <a:ext cx="4855326" cy="390652"/>
          </a:xfrm>
          <a:prstGeom prst="rect">
            <a:avLst/>
          </a:prstGeom>
          <a:noFill/>
        </p:spPr>
        <p:txBody>
          <a:bodyPr wrap="square" lIns="45720" rIns="45720" tIns="27432" bIns="27432" anchor="t">
            <a:spAutoFit/>
          </a:bodyPr>
          <a:lstStyle/>
          <a:p>
            <a:r>
              <a:rPr sz="1000" b="0" i="0">
                <a:solidFill>
                  <a:srgbClr val="57606A"/>
                </a:solidFill>
                <a:latin typeface="Arial"/>
              </a:rPr>
              <a:t>Limitations. AI tools may produce plausible but incorrect content; withheld claims are listed in the gap register, not footnoted.</a:t>
            </a:r>
          </a:p>
        </p:txBody>
      </p:sp>
      <p:sp>
        <p:nvSpPr>
          <p:cNvPr id="12" name="plumbdeck-source"/>
          <p:cNvSpPr txBox="1"/>
          <p:nvPr/>
        </p:nvSpPr>
        <p:spPr>
          <a:xfrm>
            <a:off x="548640" y="5943600"/>
            <a:ext cx="11094415" cy="347472"/>
          </a:xfrm>
          <a:prstGeom prst="rect">
            <a:avLst/>
          </a:prstGeom>
          <a:noFill/>
        </p:spPr>
        <p:txBody>
          <a:bodyPr wrap="square" lIns="45720" rIns="45720" tIns="27432" bIns="27432" anchor="t">
            <a:spAutoFit/>
          </a:bodyPr>
          <a:lstStyle/>
          <a:p>
            <a:r>
              <a:rPr sz="900" b="0" i="0">
                <a:solidFill>
                  <a:srgbClr val="57606A"/>
                </a:solidFill>
                <a:latin typeface="Arial"/>
              </a:rPr>
              <a:t>Source: PLUMB build report research-e0bc54685dce, 2026-10-25</a:t>
            </a:r>
          </a:p>
        </p:txBody>
      </p:sp>
      <p:sp>
        <p:nvSpPr>
          <p:cNvPr id="13" name="Rectangle 12"/>
          <p:cNvSpPr/>
          <p:nvPr/>
        </p:nvSpPr>
        <p:spPr>
          <a:xfrm>
            <a:off x="548640" y="6322885"/>
            <a:ext cx="11094415" cy="9525"/>
          </a:xfrm>
          <a:prstGeom prst="rect">
            <a:avLst/>
          </a:prstGeom>
          <a:solidFill>
            <a:srgbClr val="D0D7DE"/>
          </a:solidFill>
          <a:ln>
            <a:noFill/>
          </a:ln>
          <a:effectLst/>
        </p:spPr>
        <p:txBody>
          <a:bodyPr rtlCol="0" anchor="ctr"/>
          <a:lstStyle/>
          <a:p>
            <a:pPr algn="ctr"/>
          </a:p>
        </p:txBody>
      </p:sp>
      <p:sp>
        <p:nvSpPr>
          <p:cNvPr id="14" name="plumbdeck-footer"/>
          <p:cNvSpPr txBox="1"/>
          <p:nvPr/>
        </p:nvSpPr>
        <p:spPr>
          <a:xfrm>
            <a:off x="548640" y="6373368"/>
            <a:ext cx="10362895" cy="365760"/>
          </a:xfrm>
          <a:prstGeom prst="rect">
            <a:avLst/>
          </a:prstGeom>
          <a:noFill/>
        </p:spPr>
        <p:txBody>
          <a:bodyPr wrap="square" lIns="45720" rIns="45720" tIns="27432" bIns="27432" anchor="t">
            <a:spAutoFit/>
          </a:bodyPr>
          <a:lstStyle/>
          <a:p>
            <a:r>
              <a:rPr sz="800" b="0" i="0">
                <a:solidFill>
                  <a:srgbClr val="57606A"/>
                </a:solidFill>
                <a:latin typeface="Arial"/>
              </a:rPr>
              <a:t>DRAFT — not for board use. Deliverable PLUMB-PR-great-eastern-research-e0bc54685dce v0.1.</a:t>
            </a:r>
          </a:p>
        </p:txBody>
      </p:sp>
      <p:sp>
        <p:nvSpPr>
          <p:cNvPr id="15" name="TextBox 14"/>
          <p:cNvSpPr txBox="1"/>
          <p:nvPr/>
        </p:nvSpPr>
        <p:spPr>
          <a:xfrm>
            <a:off x="11002975" y="6373368"/>
            <a:ext cx="640080" cy="274320"/>
          </a:xfrm>
          <a:prstGeom prst="rect">
            <a:avLst/>
          </a:prstGeom>
          <a:noFill/>
        </p:spPr>
        <p:txBody>
          <a:bodyPr wrap="square" lIns="45720" rIns="45720" tIns="27432" bIns="27432" anchor="t">
            <a:spAutoFit/>
          </a:bodyPr>
          <a:lstStyle/>
          <a:p>
            <a:pPr algn="r"/>
            <a:r>
              <a:rPr sz="800" b="0" i="0">
                <a:solidFill>
                  <a:srgbClr val="57606A"/>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plumbdeck-banner"/>
          <p:cNvSpPr txBox="1"/>
          <p:nvPr/>
        </p:nvSpPr>
        <p:spPr>
          <a:xfrm>
            <a:off x="0" y="0"/>
            <a:ext cx="12191695" cy="384048"/>
          </a:xfrm>
          <a:prstGeom prst="rect">
            <a:avLst/>
          </a:prstGeom>
          <a:solidFill>
            <a:srgbClr val="B42318"/>
          </a:solidFill>
        </p:spPr>
        <p:txBody>
          <a:bodyPr wrap="square" lIns="45720" rIns="45720" tIns="27432" bIns="27432" anchor="ctr">
            <a:spAutoFit/>
          </a:bodyPr>
          <a:lstStyle/>
          <a:p>
            <a:pPr algn="ctr"/>
            <a:r>
              <a:rPr sz="1100" b="1" i="0">
                <a:solidFill>
                  <a:srgbClr val="FFFFFF"/>
                </a:solidFill>
                <a:latin typeface="Arial"/>
              </a:rPr>
              <a:t>DRAFT — not for board use (internal profile; 1 attachment unreconciled; resolution 0.1429; no QA gate 3 sign-off)</a:t>
            </a:r>
          </a:p>
        </p:txBody>
      </p:sp>
      <p:sp>
        <p:nvSpPr>
          <p:cNvPr id="3" name="plumbdeck-section"/>
          <p:cNvSpPr txBox="1"/>
          <p:nvPr/>
        </p:nvSpPr>
        <p:spPr>
          <a:xfrm>
            <a:off x="548640" y="502920"/>
            <a:ext cx="11094415" cy="274320"/>
          </a:xfrm>
          <a:prstGeom prst="rect">
            <a:avLst/>
          </a:prstGeom>
          <a:noFill/>
        </p:spPr>
        <p:txBody>
          <a:bodyPr wrap="square" lIns="45720" rIns="45720" tIns="27432" bIns="27432" anchor="t">
            <a:spAutoFit/>
          </a:bodyPr>
          <a:lstStyle/>
          <a:p>
            <a:r>
              <a:rPr sz="1000" b="0" i="0">
                <a:solidFill>
                  <a:srgbClr val="57606A"/>
                </a:solidFill>
                <a:latin typeface="Arial"/>
              </a:rPr>
              <a:t>S03 · What public evidence says (SCQA)</a:t>
            </a:r>
          </a:p>
        </p:txBody>
      </p:sp>
      <p:sp>
        <p:nvSpPr>
          <p:cNvPr id="4" name="plumbdeck-title"/>
          <p:cNvSpPr txBox="1"/>
          <p:nvPr/>
        </p:nvSpPr>
        <p:spPr>
          <a:xfrm>
            <a:off x="548640" y="822960"/>
            <a:ext cx="11094415" cy="795528"/>
          </a:xfrm>
          <a:prstGeom prst="rect">
            <a:avLst/>
          </a:prstGeom>
          <a:noFill/>
        </p:spPr>
        <p:txBody>
          <a:bodyPr wrap="square" lIns="45720" rIns="45720" tIns="27432" bIns="27432" anchor="t">
            <a:spAutoFit/>
          </a:bodyPr>
          <a:lstStyle/>
          <a:p>
            <a:r>
              <a:rPr sz="2000" b="1" i="0">
                <a:solidFill>
                  <a:srgbClr val="1F2328"/>
                </a:solidFill>
                <a:latin typeface="Arial"/>
              </a:rPr>
              <a:t>Great Eastern's FY2025 report shows AI in use and its AI leadership seat in transition</a:t>
            </a:r>
          </a:p>
        </p:txBody>
      </p:sp>
      <p:sp>
        <p:nvSpPr>
          <p:cNvPr id="5" name="Rectangle 4"/>
          <p:cNvSpPr/>
          <p:nvPr/>
        </p:nvSpPr>
        <p:spPr>
          <a:xfrm>
            <a:off x="548640" y="1659445"/>
            <a:ext cx="11094415" cy="9525"/>
          </a:xfrm>
          <a:prstGeom prst="rect">
            <a:avLst/>
          </a:prstGeom>
          <a:solidFill>
            <a:srgbClr val="D0D7DE"/>
          </a:solidFill>
          <a:ln>
            <a:noFill/>
          </a:ln>
          <a:effectLst/>
        </p:spPr>
        <p:txBody>
          <a:bodyPr rtlCol="0" anchor="ctr"/>
          <a:lstStyle/>
          <a:p>
            <a:pPr algn="ctr"/>
          </a:p>
        </p:txBody>
      </p:sp>
      <p:sp>
        <p:nvSpPr>
          <p:cNvPr id="6" name="Rectangle 5"/>
          <p:cNvSpPr/>
          <p:nvPr/>
        </p:nvSpPr>
        <p:spPr>
          <a:xfrm>
            <a:off x="548640" y="1801368"/>
            <a:ext cx="5478627" cy="1724406"/>
          </a:xfrm>
          <a:prstGeom prst="rect">
            <a:avLst/>
          </a:prstGeom>
          <a:solidFill>
            <a:srgbClr val="EEF1F4"/>
          </a:solidFill>
          <a:ln>
            <a:noFill/>
          </a:ln>
          <a:effectLst/>
        </p:spPr>
        <p:txBody>
          <a:bodyPr rtlCol="0" anchor="ctr"/>
          <a:lstStyle/>
          <a:p>
            <a:pPr algn="ctr"/>
          </a:p>
        </p:txBody>
      </p:sp>
      <p:sp>
        <p:nvSpPr>
          <p:cNvPr id="7" name="Rectangle 6"/>
          <p:cNvSpPr/>
          <p:nvPr/>
        </p:nvSpPr>
        <p:spPr>
          <a:xfrm>
            <a:off x="548640" y="1801368"/>
            <a:ext cx="54864" cy="1724406"/>
          </a:xfrm>
          <a:prstGeom prst="rect">
            <a:avLst/>
          </a:prstGeom>
          <a:solidFill>
            <a:srgbClr val="2F4B66"/>
          </a:solidFill>
          <a:ln>
            <a:noFill/>
          </a:ln>
          <a:effectLst/>
        </p:spPr>
        <p:txBody>
          <a:bodyPr rtlCol="0" anchor="ctr"/>
          <a:lstStyle/>
          <a:p>
            <a:pPr algn="ctr"/>
          </a:p>
        </p:txBody>
      </p:sp>
      <p:sp>
        <p:nvSpPr>
          <p:cNvPr id="8" name="TextBox 7"/>
          <p:cNvSpPr txBox="1"/>
          <p:nvPr/>
        </p:nvSpPr>
        <p:spPr>
          <a:xfrm>
            <a:off x="640080" y="1856232"/>
            <a:ext cx="5295747" cy="274320"/>
          </a:xfrm>
          <a:prstGeom prst="rect">
            <a:avLst/>
          </a:prstGeom>
          <a:noFill/>
        </p:spPr>
        <p:txBody>
          <a:bodyPr wrap="square" lIns="45720" rIns="45720" tIns="27432" bIns="27432" anchor="t">
            <a:spAutoFit/>
          </a:bodyPr>
          <a:lstStyle/>
          <a:p>
            <a:r>
              <a:rPr sz="1100" b="1" i="0">
                <a:solidFill>
                  <a:srgbClr val="2F4B66"/>
                </a:solidFill>
                <a:latin typeface="Arial"/>
              </a:rPr>
              <a:t>Situation — the FY2025 annual report, verbatim</a:t>
            </a:r>
          </a:p>
        </p:txBody>
      </p:sp>
      <p:sp>
        <p:nvSpPr>
          <p:cNvPr id="9" name="TextBox 8"/>
          <p:cNvSpPr txBox="1"/>
          <p:nvPr/>
        </p:nvSpPr>
        <p:spPr>
          <a:xfrm>
            <a:off x="640080" y="2167128"/>
            <a:ext cx="5295747" cy="597026"/>
          </a:xfrm>
          <a:prstGeom prst="rect">
            <a:avLst/>
          </a:prstGeom>
          <a:noFill/>
        </p:spPr>
        <p:txBody>
          <a:bodyPr wrap="square" lIns="45720" rIns="45720" tIns="27432" bIns="27432" anchor="t">
            <a:spAutoFit/>
          </a:bodyPr>
          <a:lstStyle/>
          <a:p>
            <a:r>
              <a:rPr sz="1100" b="0" i="0">
                <a:solidFill>
                  <a:srgbClr val="1F2328"/>
                </a:solidFill>
                <a:latin typeface="Arial"/>
              </a:rPr>
              <a:t>“In 2025, we deployed an AI-enabled advisory platform that aims to reduce preparation time for financial advisors by approximately 75%, enabling them to focus more on customer engagement and advice.” (p. 14)</a:t>
            </a:r>
          </a:p>
        </p:txBody>
      </p:sp>
      <p:sp>
        <p:nvSpPr>
          <p:cNvPr id="10" name="TextBox 9"/>
          <p:cNvSpPr txBox="1"/>
          <p:nvPr/>
        </p:nvSpPr>
        <p:spPr>
          <a:xfrm>
            <a:off x="640080" y="2764155"/>
            <a:ext cx="5295747" cy="422402"/>
          </a:xfrm>
          <a:prstGeom prst="rect">
            <a:avLst/>
          </a:prstGeom>
          <a:noFill/>
        </p:spPr>
        <p:txBody>
          <a:bodyPr wrap="square" lIns="45720" rIns="45720" tIns="27432" bIns="27432" anchor="t">
            <a:spAutoFit/>
          </a:bodyPr>
          <a:lstStyle/>
          <a:p>
            <a:r>
              <a:rPr sz="1100" b="0" i="0">
                <a:solidFill>
                  <a:srgbClr val="1F2328"/>
                </a:solidFill>
                <a:latin typeface="Arial"/>
              </a:rPr>
              <a:t>“We rolled out a proprietary AI-powered platform to automate medical claims, enhancing claim efficiency while improving customer experience.” (p. 14)</a:t>
            </a:r>
          </a:p>
        </p:txBody>
      </p:sp>
      <p:sp>
        <p:nvSpPr>
          <p:cNvPr id="11" name="Rectangle 10"/>
          <p:cNvSpPr/>
          <p:nvPr/>
        </p:nvSpPr>
        <p:spPr>
          <a:xfrm>
            <a:off x="6164427" y="1801368"/>
            <a:ext cx="5478627" cy="1724406"/>
          </a:xfrm>
          <a:prstGeom prst="rect">
            <a:avLst/>
          </a:prstGeom>
          <a:solidFill>
            <a:srgbClr val="EEF1F4"/>
          </a:solidFill>
          <a:ln>
            <a:noFill/>
          </a:ln>
          <a:effectLst/>
        </p:spPr>
        <p:txBody>
          <a:bodyPr rtlCol="0" anchor="ctr"/>
          <a:lstStyle/>
          <a:p>
            <a:pPr algn="ctr"/>
          </a:p>
        </p:txBody>
      </p:sp>
      <p:sp>
        <p:nvSpPr>
          <p:cNvPr id="12" name="Rectangle 11"/>
          <p:cNvSpPr/>
          <p:nvPr/>
        </p:nvSpPr>
        <p:spPr>
          <a:xfrm>
            <a:off x="6164427" y="1801368"/>
            <a:ext cx="54864" cy="1724406"/>
          </a:xfrm>
          <a:prstGeom prst="rect">
            <a:avLst/>
          </a:prstGeom>
          <a:solidFill>
            <a:srgbClr val="2F4B66"/>
          </a:solidFill>
          <a:ln>
            <a:noFill/>
          </a:ln>
          <a:effectLst/>
        </p:spPr>
        <p:txBody>
          <a:bodyPr rtlCol="0" anchor="ctr"/>
          <a:lstStyle/>
          <a:p>
            <a:pPr algn="ctr"/>
          </a:p>
        </p:txBody>
      </p:sp>
      <p:sp>
        <p:nvSpPr>
          <p:cNvPr id="13" name="TextBox 12"/>
          <p:cNvSpPr txBox="1"/>
          <p:nvPr/>
        </p:nvSpPr>
        <p:spPr>
          <a:xfrm>
            <a:off x="6255867" y="1856232"/>
            <a:ext cx="5295747" cy="274320"/>
          </a:xfrm>
          <a:prstGeom prst="rect">
            <a:avLst/>
          </a:prstGeom>
          <a:noFill/>
        </p:spPr>
        <p:txBody>
          <a:bodyPr wrap="square" lIns="45720" rIns="45720" tIns="27432" bIns="27432" anchor="t">
            <a:spAutoFit/>
          </a:bodyPr>
          <a:lstStyle/>
          <a:p>
            <a:r>
              <a:rPr sz="1100" b="1" i="0">
                <a:solidFill>
                  <a:srgbClr val="2F4B66"/>
                </a:solidFill>
                <a:latin typeface="Arial"/>
              </a:rPr>
              <a:t>Complication — leadership and the regulatory clock</a:t>
            </a:r>
          </a:p>
        </p:txBody>
      </p:sp>
      <p:sp>
        <p:nvSpPr>
          <p:cNvPr id="14" name="TextBox 13"/>
          <p:cNvSpPr txBox="1"/>
          <p:nvPr/>
        </p:nvSpPr>
        <p:spPr>
          <a:xfrm>
            <a:off x="6255867" y="2167128"/>
            <a:ext cx="5295747" cy="597026"/>
          </a:xfrm>
          <a:prstGeom prst="rect">
            <a:avLst/>
          </a:prstGeom>
          <a:noFill/>
        </p:spPr>
        <p:txBody>
          <a:bodyPr wrap="square" lIns="45720" rIns="45720" tIns="27432" bIns="27432" anchor="t">
            <a:spAutoFit/>
          </a:bodyPr>
          <a:lstStyle/>
          <a:p>
            <a:r>
              <a:rPr sz="1100" b="0" i="0">
                <a:solidFill>
                  <a:srgbClr val="1F2328"/>
                </a:solidFill>
                <a:latin typeface="Arial"/>
              </a:rPr>
              <a:t>“Ms Zhao Jingyuan (Managing Director, Group Data and Artificial Intelligence) is expected to join Oversea-Chinese Banking Corporation Limited (“OCBC”) as the Head of the Group Data Office in March 2026.” (p. 67)</a:t>
            </a:r>
          </a:p>
        </p:txBody>
      </p:sp>
      <p:sp>
        <p:nvSpPr>
          <p:cNvPr id="15" name="TextBox 14"/>
          <p:cNvSpPr txBox="1"/>
          <p:nvPr/>
        </p:nvSpPr>
        <p:spPr>
          <a:xfrm>
            <a:off x="6255867" y="2764155"/>
            <a:ext cx="5295747" cy="422402"/>
          </a:xfrm>
          <a:prstGeom prst="rect">
            <a:avLst/>
          </a:prstGeom>
          <a:noFill/>
        </p:spPr>
        <p:txBody>
          <a:bodyPr wrap="square" lIns="45720" rIns="45720" tIns="27432" bIns="27432" anchor="t">
            <a:spAutoFit/>
          </a:bodyPr>
          <a:lstStyle/>
          <a:p>
            <a:r>
              <a:rPr sz="1100" b="0" i="0">
                <a:solidFill>
                  <a:srgbClr val="1F2328"/>
                </a:solidFill>
                <a:latin typeface="Arial"/>
              </a:rPr>
              <a:t>“The successors to Ms Zhao Jingyuan and Mr Jimmy Tong will be named in due course.” (p. 67)</a:t>
            </a:r>
          </a:p>
        </p:txBody>
      </p:sp>
      <p:sp>
        <p:nvSpPr>
          <p:cNvPr id="16" name="TextBox 15"/>
          <p:cNvSpPr txBox="1"/>
          <p:nvPr/>
        </p:nvSpPr>
        <p:spPr>
          <a:xfrm>
            <a:off x="6255867" y="3186557"/>
            <a:ext cx="5295747" cy="247777"/>
          </a:xfrm>
          <a:prstGeom prst="rect">
            <a:avLst/>
          </a:prstGeom>
          <a:noFill/>
        </p:spPr>
        <p:txBody>
          <a:bodyPr wrap="square" lIns="45720" rIns="45720" tIns="27432" bIns="27432" anchor="t">
            <a:spAutoFit/>
          </a:bodyPr>
          <a:lstStyle/>
          <a:p>
            <a:r>
              <a:rPr sz="1100" b="1" i="0">
                <a:solidFill>
                  <a:srgbClr val="8A4B00"/>
                </a:solidFill>
                <a:latin typeface="Arial"/>
              </a:rPr>
              <a:t>Placeholder for a withheld claim: Withheld — see gap register G-6.</a:t>
            </a:r>
          </a:p>
        </p:txBody>
      </p:sp>
      <p:sp>
        <p:nvSpPr>
          <p:cNvPr id="17" name="Rectangle 16"/>
          <p:cNvSpPr/>
          <p:nvPr/>
        </p:nvSpPr>
        <p:spPr>
          <a:xfrm>
            <a:off x="548640" y="3662934"/>
            <a:ext cx="5478627" cy="911351"/>
          </a:xfrm>
          <a:prstGeom prst="rect">
            <a:avLst/>
          </a:prstGeom>
          <a:solidFill>
            <a:srgbClr val="EEF1F4"/>
          </a:solidFill>
          <a:ln>
            <a:noFill/>
          </a:ln>
          <a:effectLst/>
        </p:spPr>
        <p:txBody>
          <a:bodyPr rtlCol="0" anchor="ctr"/>
          <a:lstStyle/>
          <a:p>
            <a:pPr algn="ctr"/>
          </a:p>
        </p:txBody>
      </p:sp>
      <p:sp>
        <p:nvSpPr>
          <p:cNvPr id="18" name="Rectangle 17"/>
          <p:cNvSpPr/>
          <p:nvPr/>
        </p:nvSpPr>
        <p:spPr>
          <a:xfrm>
            <a:off x="548640" y="3662934"/>
            <a:ext cx="54864" cy="911351"/>
          </a:xfrm>
          <a:prstGeom prst="rect">
            <a:avLst/>
          </a:prstGeom>
          <a:solidFill>
            <a:srgbClr val="2F4B66"/>
          </a:solidFill>
          <a:ln>
            <a:noFill/>
          </a:ln>
          <a:effectLst/>
        </p:spPr>
        <p:txBody>
          <a:bodyPr rtlCol="0" anchor="ctr"/>
          <a:lstStyle/>
          <a:p>
            <a:pPr algn="ctr"/>
          </a:p>
        </p:txBody>
      </p:sp>
      <p:sp>
        <p:nvSpPr>
          <p:cNvPr id="19" name="TextBox 18"/>
          <p:cNvSpPr txBox="1"/>
          <p:nvPr/>
        </p:nvSpPr>
        <p:spPr>
          <a:xfrm>
            <a:off x="640080" y="3717797"/>
            <a:ext cx="5295747" cy="274320"/>
          </a:xfrm>
          <a:prstGeom prst="rect">
            <a:avLst/>
          </a:prstGeom>
          <a:noFill/>
        </p:spPr>
        <p:txBody>
          <a:bodyPr wrap="square" lIns="45720" rIns="45720" tIns="27432" bIns="27432" anchor="t">
            <a:spAutoFit/>
          </a:bodyPr>
          <a:lstStyle/>
          <a:p>
            <a:r>
              <a:rPr sz="1100" b="1" i="0">
                <a:solidFill>
                  <a:srgbClr val="2F4B66"/>
                </a:solidFill>
                <a:latin typeface="Arial"/>
              </a:rPr>
              <a:t>Question</a:t>
            </a:r>
          </a:p>
        </p:txBody>
      </p:sp>
      <p:sp>
        <p:nvSpPr>
          <p:cNvPr id="20" name="TextBox 19"/>
          <p:cNvSpPr txBox="1"/>
          <p:nvPr/>
        </p:nvSpPr>
        <p:spPr>
          <a:xfrm>
            <a:off x="640080" y="4028693"/>
            <a:ext cx="5295747" cy="454152"/>
          </a:xfrm>
          <a:prstGeom prst="rect">
            <a:avLst/>
          </a:prstGeom>
          <a:noFill/>
        </p:spPr>
        <p:txBody>
          <a:bodyPr wrap="square" lIns="45720" rIns="45720" tIns="27432" bIns="27432" anchor="t">
            <a:spAutoFit/>
          </a:bodyPr>
          <a:lstStyle/>
          <a:p>
            <a:r>
              <a:rPr sz="1200" b="1" i="0">
                <a:solidFill>
                  <a:srgbClr val="1F2328"/>
                </a:solidFill>
                <a:latin typeface="Arial"/>
              </a:rPr>
              <a:t>Where is the framework behind Great Eastern's AI governance statements documented, and who owns it?</a:t>
            </a:r>
          </a:p>
        </p:txBody>
      </p:sp>
      <p:sp>
        <p:nvSpPr>
          <p:cNvPr id="21" name="Rectangle 20"/>
          <p:cNvSpPr/>
          <p:nvPr/>
        </p:nvSpPr>
        <p:spPr>
          <a:xfrm>
            <a:off x="6164427" y="3662934"/>
            <a:ext cx="5478627" cy="911351"/>
          </a:xfrm>
          <a:prstGeom prst="rect">
            <a:avLst/>
          </a:prstGeom>
          <a:solidFill>
            <a:srgbClr val="EEF1F4"/>
          </a:solidFill>
          <a:ln>
            <a:noFill/>
          </a:ln>
          <a:effectLst/>
        </p:spPr>
        <p:txBody>
          <a:bodyPr rtlCol="0" anchor="ctr"/>
          <a:lstStyle/>
          <a:p>
            <a:pPr algn="ctr"/>
          </a:p>
        </p:txBody>
      </p:sp>
      <p:sp>
        <p:nvSpPr>
          <p:cNvPr id="22" name="Rectangle 21"/>
          <p:cNvSpPr/>
          <p:nvPr/>
        </p:nvSpPr>
        <p:spPr>
          <a:xfrm>
            <a:off x="6164427" y="3662934"/>
            <a:ext cx="54864" cy="911351"/>
          </a:xfrm>
          <a:prstGeom prst="rect">
            <a:avLst/>
          </a:prstGeom>
          <a:solidFill>
            <a:srgbClr val="2F4B66"/>
          </a:solidFill>
          <a:ln>
            <a:noFill/>
          </a:ln>
          <a:effectLst/>
        </p:spPr>
        <p:txBody>
          <a:bodyPr rtlCol="0" anchor="ctr"/>
          <a:lstStyle/>
          <a:p>
            <a:pPr algn="ctr"/>
          </a:p>
        </p:txBody>
      </p:sp>
      <p:sp>
        <p:nvSpPr>
          <p:cNvPr id="23" name="TextBox 22"/>
          <p:cNvSpPr txBox="1"/>
          <p:nvPr/>
        </p:nvSpPr>
        <p:spPr>
          <a:xfrm>
            <a:off x="6255867" y="3717797"/>
            <a:ext cx="5295747" cy="274320"/>
          </a:xfrm>
          <a:prstGeom prst="rect">
            <a:avLst/>
          </a:prstGeom>
          <a:noFill/>
        </p:spPr>
        <p:txBody>
          <a:bodyPr wrap="square" lIns="45720" rIns="45720" tIns="27432" bIns="27432" anchor="t">
            <a:spAutoFit/>
          </a:bodyPr>
          <a:lstStyle/>
          <a:p>
            <a:r>
              <a:rPr sz="1100" b="1" i="0">
                <a:solidFill>
                  <a:srgbClr val="2F4B66"/>
                </a:solidFill>
                <a:latin typeface="Arial"/>
              </a:rPr>
              <a:t>Answer</a:t>
            </a:r>
          </a:p>
        </p:txBody>
      </p:sp>
      <p:sp>
        <p:nvSpPr>
          <p:cNvPr id="24" name="TextBox 23"/>
          <p:cNvSpPr txBox="1"/>
          <p:nvPr/>
        </p:nvSpPr>
        <p:spPr>
          <a:xfrm>
            <a:off x="6255867" y="4028693"/>
            <a:ext cx="5295747" cy="390652"/>
          </a:xfrm>
          <a:prstGeom prst="rect">
            <a:avLst/>
          </a:prstGeom>
          <a:noFill/>
        </p:spPr>
        <p:txBody>
          <a:bodyPr wrap="square" lIns="45720" rIns="45720" tIns="27432" bIns="27432" anchor="t">
            <a:spAutoFit/>
          </a:bodyPr>
          <a:lstStyle/>
          <a:p>
            <a:r>
              <a:rPr sz="1000" b="0" i="0">
                <a:solidFill>
                  <a:srgbClr val="57606A"/>
                </a:solidFill>
                <a:latin typeface="Arial"/>
              </a:rPr>
              <a:t>Offer — not a finding: the questions on S08 are what a Phase A assessment tests against evidence (S09).</a:t>
            </a:r>
          </a:p>
        </p:txBody>
      </p:sp>
      <p:sp>
        <p:nvSpPr>
          <p:cNvPr id="25" name="TextBox 24"/>
          <p:cNvSpPr txBox="1"/>
          <p:nvPr/>
        </p:nvSpPr>
        <p:spPr>
          <a:xfrm>
            <a:off x="548640" y="4802886"/>
            <a:ext cx="11094415" cy="231902"/>
          </a:xfrm>
          <a:prstGeom prst="rect">
            <a:avLst/>
          </a:prstGeom>
          <a:noFill/>
        </p:spPr>
        <p:txBody>
          <a:bodyPr wrap="square" lIns="45720" rIns="45720" tIns="27432" bIns="27432" anchor="t">
            <a:spAutoFit/>
          </a:bodyPr>
          <a:lstStyle/>
          <a:p>
            <a:r>
              <a:rPr sz="1000" b="0" i="0">
                <a:solidFill>
                  <a:srgbClr val="57606A"/>
                </a:solidFill>
                <a:latin typeface="Arial"/>
              </a:rPr>
              <a:t>Every sentence above is a verbatim quotation of a released claim, a question generated from released claims, a placeholder for a withheld claim, or labelled offer text.</a:t>
            </a:r>
          </a:p>
        </p:txBody>
      </p:sp>
      <p:sp>
        <p:nvSpPr>
          <p:cNvPr id="26" name="plumbdeck-source"/>
          <p:cNvSpPr txBox="1"/>
          <p:nvPr/>
        </p:nvSpPr>
        <p:spPr>
          <a:xfrm>
            <a:off x="548640" y="5943600"/>
            <a:ext cx="11094415" cy="347472"/>
          </a:xfrm>
          <a:prstGeom prst="rect">
            <a:avLst/>
          </a:prstGeom>
          <a:noFill/>
        </p:spPr>
        <p:txBody>
          <a:bodyPr wrap="square" lIns="45720" rIns="45720" tIns="27432" bIns="27432" anchor="t">
            <a:spAutoFit/>
          </a:bodyPr>
          <a:lstStyle/>
          <a:p>
            <a:r>
              <a:rPr sz="900" b="0" i="0">
                <a:solidFill>
                  <a:srgbClr val="57606A"/>
                </a:solidFill>
                <a:latin typeface="Arial"/>
              </a:rPr>
              <a:t>Source: T2 Great Eastern Holdings Limited annual report FY2025 pp. 14, 40, 67 (attached; publisher hash unreconciled), 2026-10-25; confidence: filed</a:t>
            </a:r>
          </a:p>
        </p:txBody>
      </p:sp>
      <p:sp>
        <p:nvSpPr>
          <p:cNvPr id="27" name="Rectangle 26"/>
          <p:cNvSpPr/>
          <p:nvPr/>
        </p:nvSpPr>
        <p:spPr>
          <a:xfrm>
            <a:off x="548640" y="6322885"/>
            <a:ext cx="11094415" cy="9525"/>
          </a:xfrm>
          <a:prstGeom prst="rect">
            <a:avLst/>
          </a:prstGeom>
          <a:solidFill>
            <a:srgbClr val="D0D7DE"/>
          </a:solidFill>
          <a:ln>
            <a:noFill/>
          </a:ln>
          <a:effectLst/>
        </p:spPr>
        <p:txBody>
          <a:bodyPr rtlCol="0" anchor="ctr"/>
          <a:lstStyle/>
          <a:p>
            <a:pPr algn="ctr"/>
          </a:p>
        </p:txBody>
      </p:sp>
      <p:sp>
        <p:nvSpPr>
          <p:cNvPr id="28" name="plumbdeck-footer"/>
          <p:cNvSpPr txBox="1"/>
          <p:nvPr/>
        </p:nvSpPr>
        <p:spPr>
          <a:xfrm>
            <a:off x="548640" y="6373368"/>
            <a:ext cx="10362895" cy="365760"/>
          </a:xfrm>
          <a:prstGeom prst="rect">
            <a:avLst/>
          </a:prstGeom>
          <a:noFill/>
        </p:spPr>
        <p:txBody>
          <a:bodyPr wrap="square" lIns="45720" rIns="45720" tIns="27432" bIns="27432" anchor="t">
            <a:spAutoFit/>
          </a:bodyPr>
          <a:lstStyle/>
          <a:p>
            <a:r>
              <a:rPr sz="800" b="0" i="0">
                <a:solidFill>
                  <a:srgbClr val="57606A"/>
                </a:solidFill>
                <a:latin typeface="Arial"/>
              </a:rPr>
              <a:t>DRAFT — not for board use. Deliverable PLUMB-PR-great-eastern-research-e0bc54685dce v0.1.</a:t>
            </a:r>
          </a:p>
        </p:txBody>
      </p:sp>
      <p:sp>
        <p:nvSpPr>
          <p:cNvPr id="29" name="TextBox 28"/>
          <p:cNvSpPr txBox="1"/>
          <p:nvPr/>
        </p:nvSpPr>
        <p:spPr>
          <a:xfrm>
            <a:off x="11002975" y="6373368"/>
            <a:ext cx="640080" cy="274320"/>
          </a:xfrm>
          <a:prstGeom prst="rect">
            <a:avLst/>
          </a:prstGeom>
          <a:noFill/>
        </p:spPr>
        <p:txBody>
          <a:bodyPr wrap="square" lIns="45720" rIns="45720" tIns="27432" bIns="27432" anchor="t">
            <a:spAutoFit/>
          </a:bodyPr>
          <a:lstStyle/>
          <a:p>
            <a:pPr algn="r"/>
            <a:r>
              <a:rPr sz="800" b="0" i="0">
                <a:solidFill>
                  <a:srgbClr val="57606A"/>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plumbdeck-banner"/>
          <p:cNvSpPr txBox="1"/>
          <p:nvPr/>
        </p:nvSpPr>
        <p:spPr>
          <a:xfrm>
            <a:off x="0" y="0"/>
            <a:ext cx="12191695" cy="384048"/>
          </a:xfrm>
          <a:prstGeom prst="rect">
            <a:avLst/>
          </a:prstGeom>
          <a:solidFill>
            <a:srgbClr val="B42318"/>
          </a:solidFill>
        </p:spPr>
        <p:txBody>
          <a:bodyPr wrap="square" lIns="45720" rIns="45720" tIns="27432" bIns="27432" anchor="ctr">
            <a:spAutoFit/>
          </a:bodyPr>
          <a:lstStyle/>
          <a:p>
            <a:pPr algn="ctr"/>
            <a:r>
              <a:rPr sz="1100" b="1" i="0">
                <a:solidFill>
                  <a:srgbClr val="FFFFFF"/>
                </a:solidFill>
                <a:latin typeface="Arial"/>
              </a:rPr>
              <a:t>DRAFT — not for board use (internal profile; 1 attachment unreconciled; resolution 0.1429; no QA gate 3 sign-off)</a:t>
            </a:r>
          </a:p>
        </p:txBody>
      </p:sp>
      <p:sp>
        <p:nvSpPr>
          <p:cNvPr id="3" name="plumbdeck-section"/>
          <p:cNvSpPr txBox="1"/>
          <p:nvPr/>
        </p:nvSpPr>
        <p:spPr>
          <a:xfrm>
            <a:off x="548640" y="502920"/>
            <a:ext cx="11094415" cy="274320"/>
          </a:xfrm>
          <a:prstGeom prst="rect">
            <a:avLst/>
          </a:prstGeom>
          <a:noFill/>
        </p:spPr>
        <p:txBody>
          <a:bodyPr wrap="square" lIns="45720" rIns="45720" tIns="27432" bIns="27432" anchor="t">
            <a:spAutoFit/>
          </a:bodyPr>
          <a:lstStyle/>
          <a:p>
            <a:r>
              <a:rPr sz="1000" b="0" i="0">
                <a:solidFill>
                  <a:srgbClr val="57606A"/>
                </a:solidFill>
                <a:latin typeface="Arial"/>
              </a:rPr>
              <a:t>S04 · AI in production — named deployments</a:t>
            </a:r>
          </a:p>
        </p:txBody>
      </p:sp>
      <p:sp>
        <p:nvSpPr>
          <p:cNvPr id="4" name="plumbdeck-title"/>
          <p:cNvSpPr txBox="1"/>
          <p:nvPr/>
        </p:nvSpPr>
        <p:spPr>
          <a:xfrm>
            <a:off x="548640" y="822960"/>
            <a:ext cx="11094415" cy="466344"/>
          </a:xfrm>
          <a:prstGeom prst="rect">
            <a:avLst/>
          </a:prstGeom>
          <a:noFill/>
        </p:spPr>
        <p:txBody>
          <a:bodyPr wrap="square" lIns="45720" rIns="45720" tIns="27432" bIns="27432" anchor="t">
            <a:spAutoFit/>
          </a:bodyPr>
          <a:lstStyle/>
          <a:p>
            <a:r>
              <a:rPr sz="2000" b="1" i="0">
                <a:solidFill>
                  <a:srgbClr val="1F2328"/>
                </a:solidFill>
                <a:latin typeface="Arial"/>
              </a:rPr>
              <a:t>Great Eastern's FY2025 report names AI in six use cases, one still in testing</a:t>
            </a:r>
          </a:p>
        </p:txBody>
      </p:sp>
      <p:sp>
        <p:nvSpPr>
          <p:cNvPr id="5" name="Rectangle 4"/>
          <p:cNvSpPr/>
          <p:nvPr/>
        </p:nvSpPr>
        <p:spPr>
          <a:xfrm>
            <a:off x="548640" y="1330261"/>
            <a:ext cx="11094415" cy="9525"/>
          </a:xfrm>
          <a:prstGeom prst="rect">
            <a:avLst/>
          </a:prstGeom>
          <a:solidFill>
            <a:srgbClr val="D0D7DE"/>
          </a:solidFill>
          <a:ln>
            <a:noFill/>
          </a:ln>
          <a:effectLst/>
        </p:spPr>
        <p:txBody>
          <a:bodyPr rtlCol="0" anchor="ctr"/>
          <a:lstStyle/>
          <a:p>
            <a:pPr algn="ctr"/>
          </a:p>
        </p:txBody>
      </p:sp>
      <p:graphicFrame>
        <p:nvGraphicFramePr>
          <p:cNvPr id="6" name="Table 5"/>
          <p:cNvGraphicFramePr>
            <a:graphicFrameLocks noGrp="1"/>
          </p:cNvGraphicFramePr>
          <p:nvPr/>
        </p:nvGraphicFramePr>
        <p:xfrm>
          <a:off x="548640" y="1472184"/>
          <a:ext cx="11094414" cy="3821676"/>
        </p:xfrm>
        <a:graphic>
          <a:graphicData uri="http://schemas.openxmlformats.org/drawingml/2006/table">
            <a:tbl>
              <a:tblPr firstRow="1" bandRow="1">
                <a:tableStyleId>{5C22544A-7EE6-4342-B048-85BDC9FD1C3A}</a:tableStyleId>
              </a:tblPr>
              <a:tblGrid>
                <a:gridCol w="315481"/>
                <a:gridCol w="6730261"/>
                <a:gridCol w="1367084"/>
                <a:gridCol w="1367084"/>
                <a:gridCol w="1314504"/>
              </a:tblGrid>
              <a:tr h="419607">
                <a:tc>
                  <a:txBody>
                    <a:bodyPr wrap="square"/>
                    <a:lstStyle/>
                    <a:p>
                      <a:r>
                        <a:rPr sz="1000" b="1">
                          <a:solidFill>
                            <a:srgbClr val="1F2328"/>
                          </a:solidFill>
                          <a:latin typeface="Arial"/>
                        </a:rPr>
                        <a:t>#</a:t>
                      </a:r>
                    </a:p>
                  </a:txBody>
                  <a:tcPr marL="45720" marR="45720" marT="18288" marB="18288">
                    <a:solidFill>
                      <a:srgbClr val="EEF1F4"/>
                    </a:solidFill>
                  </a:tcPr>
                </a:tc>
                <a:tc>
                  <a:txBody>
                    <a:bodyPr wrap="square"/>
                    <a:lstStyle/>
                    <a:p>
                      <a:r>
                        <a:rPr sz="1000" b="1">
                          <a:solidFill>
                            <a:srgbClr val="1F2328"/>
                          </a:solidFill>
                          <a:latin typeface="Arial"/>
                        </a:rPr>
                        <a:t>What the FY2025 annual report says (verbatim)</a:t>
                      </a:r>
                    </a:p>
                  </a:txBody>
                  <a:tcPr marL="45720" marR="45720" marT="18288" marB="18288">
                    <a:solidFill>
                      <a:srgbClr val="EEF1F4"/>
                    </a:solidFill>
                  </a:tcPr>
                </a:tc>
                <a:tc>
                  <a:txBody>
                    <a:bodyPr wrap="square"/>
                    <a:lstStyle/>
                    <a:p>
                      <a:r>
                        <a:rPr sz="1000" b="1">
                          <a:solidFill>
                            <a:srgbClr val="1F2328"/>
                          </a:solidFill>
                          <a:latin typeface="Arial"/>
                        </a:rPr>
                        <a:t>Use case</a:t>
                      </a:r>
                    </a:p>
                  </a:txBody>
                  <a:tcPr marL="45720" marR="45720" marT="18288" marB="18288">
                    <a:solidFill>
                      <a:srgbClr val="EEF1F4"/>
                    </a:solidFill>
                  </a:tcPr>
                </a:tc>
                <a:tc>
                  <a:txBody>
                    <a:bodyPr wrap="square"/>
                    <a:lstStyle/>
                    <a:p>
                      <a:r>
                        <a:rPr sz="1000" b="1">
                          <a:solidFill>
                            <a:srgbClr val="1F2328"/>
                          </a:solidFill>
                          <a:latin typeface="Arial"/>
                        </a:rPr>
                        <a:t>Stage (verb in quote)</a:t>
                      </a:r>
                    </a:p>
                  </a:txBody>
                  <a:tcPr marL="45720" marR="45720" marT="18288" marB="18288">
                    <a:solidFill>
                      <a:srgbClr val="EEF1F4"/>
                    </a:solidFill>
                  </a:tcPr>
                </a:tc>
                <a:tc>
                  <a:txBody>
                    <a:bodyPr wrap="square"/>
                    <a:lstStyle/>
                    <a:p>
                      <a:r>
                        <a:rPr sz="1000" b="1">
                          <a:solidFill>
                            <a:srgbClr val="1F2328"/>
                          </a:solidFill>
                          <a:latin typeface="Arial"/>
                        </a:rPr>
                        <a:t>Page</a:t>
                      </a:r>
                    </a:p>
                  </a:txBody>
                  <a:tcPr marL="45720" marR="45720" marT="18288" marB="18288">
                    <a:solidFill>
                      <a:srgbClr val="EEF1F4"/>
                    </a:solidFill>
                  </a:tcPr>
                </a:tc>
              </a:tr>
              <a:tr h="419607">
                <a:tc>
                  <a:txBody>
                    <a:bodyPr wrap="square"/>
                    <a:lstStyle/>
                    <a:p>
                      <a:r>
                        <a:rPr sz="1000" b="0">
                          <a:solidFill>
                            <a:srgbClr val="1F2328"/>
                          </a:solidFill>
                          <a:latin typeface="Arial"/>
                        </a:rPr>
                        <a:t>1</a:t>
                      </a:r>
                    </a:p>
                  </a:txBody>
                  <a:tcPr marL="45720" marR="45720" marT="18288" marB="18288">
                    <a:solidFill>
                      <a:srgbClr val="FFFFFF"/>
                    </a:solidFill>
                  </a:tcPr>
                </a:tc>
                <a:tc>
                  <a:txBody>
                    <a:bodyPr wrap="square"/>
                    <a:lstStyle/>
                    <a:p>
                      <a:r>
                        <a:rPr sz="1000" b="0">
                          <a:solidFill>
                            <a:srgbClr val="1F2328"/>
                          </a:solidFill>
                          <a:latin typeface="Arial"/>
                        </a:rPr>
                        <a:t>“In 2025, we deployed an AI-enabled advisory platform that aims to reduce preparation time for financial advisors by approximately 75%, enabling them to focus more on customer engagement and advice.”</a:t>
                      </a:r>
                    </a:p>
                  </a:txBody>
                  <a:tcPr marL="45720" marR="45720" marT="18288" marB="18288">
                    <a:solidFill>
                      <a:srgbClr val="FFFFFF"/>
                    </a:solidFill>
                  </a:tcPr>
                </a:tc>
                <a:tc>
                  <a:txBody>
                    <a:bodyPr wrap="square"/>
                    <a:lstStyle/>
                    <a:p>
                      <a:r>
                        <a:rPr sz="1000" b="0">
                          <a:solidFill>
                            <a:srgbClr val="1F2328"/>
                          </a:solidFill>
                          <a:latin typeface="Arial"/>
                        </a:rPr>
                        <a:t>adviser support</a:t>
                      </a:r>
                    </a:p>
                  </a:txBody>
                  <a:tcPr marL="45720" marR="45720" marT="18288" marB="18288">
                    <a:solidFill>
                      <a:srgbClr val="FFFFFF"/>
                    </a:solidFill>
                  </a:tcPr>
                </a:tc>
                <a:tc>
                  <a:txBody>
                    <a:bodyPr wrap="square"/>
                    <a:lstStyle/>
                    <a:p>
                      <a:r>
                        <a:rPr sz="1000" b="0">
                          <a:solidFill>
                            <a:srgbClr val="1F2328"/>
                          </a:solidFill>
                          <a:latin typeface="Arial"/>
                        </a:rPr>
                        <a:t>in use</a:t>
                      </a:r>
                    </a:p>
                  </a:txBody>
                  <a:tcPr marL="45720" marR="45720" marT="18288" marB="18288">
                    <a:solidFill>
                      <a:srgbClr val="FFFFFF"/>
                    </a:solidFill>
                  </a:tcPr>
                </a:tc>
                <a:tc>
                  <a:txBody>
                    <a:bodyPr wrap="square"/>
                    <a:lstStyle/>
                    <a:p>
                      <a:r>
                        <a:rPr sz="1000" b="0">
                          <a:solidFill>
                            <a:srgbClr val="1F2328"/>
                          </a:solidFill>
                          <a:latin typeface="Arial"/>
                        </a:rPr>
                        <a:t>p. 14 (also p. 40)</a:t>
                      </a:r>
                    </a:p>
                  </a:txBody>
                  <a:tcPr marL="45720" marR="45720" marT="18288" marB="18288">
                    <a:solidFill>
                      <a:srgbClr val="FFFFFF"/>
                    </a:solidFill>
                  </a:tcPr>
                </a:tc>
              </a:tr>
              <a:tr h="419607">
                <a:tc>
                  <a:txBody>
                    <a:bodyPr wrap="square"/>
                    <a:lstStyle/>
                    <a:p>
                      <a:r>
                        <a:rPr sz="1000" b="0">
                          <a:solidFill>
                            <a:srgbClr val="1F2328"/>
                          </a:solidFill>
                          <a:latin typeface="Arial"/>
                        </a:rPr>
                        <a:t>2</a:t>
                      </a:r>
                    </a:p>
                  </a:txBody>
                  <a:tcPr marL="45720" marR="45720" marT="18288" marB="18288">
                    <a:solidFill>
                      <a:srgbClr val="FFFFFF"/>
                    </a:solidFill>
                  </a:tcPr>
                </a:tc>
                <a:tc>
                  <a:txBody>
                    <a:bodyPr wrap="square"/>
                    <a:lstStyle/>
                    <a:p>
                      <a:r>
                        <a:rPr sz="1000" b="0">
                          <a:solidFill>
                            <a:srgbClr val="1F2328"/>
                          </a:solidFill>
                          <a:latin typeface="Arial"/>
                        </a:rPr>
                        <a:t>“We rolled out a proprietary AI-powered platform to automate medical claims, enhancing claim efficiency while improving customer experience.”</a:t>
                      </a:r>
                    </a:p>
                  </a:txBody>
                  <a:tcPr marL="45720" marR="45720" marT="18288" marB="18288">
                    <a:solidFill>
                      <a:srgbClr val="FFFFFF"/>
                    </a:solidFill>
                  </a:tcPr>
                </a:tc>
                <a:tc>
                  <a:txBody>
                    <a:bodyPr wrap="square"/>
                    <a:lstStyle/>
                    <a:p>
                      <a:r>
                        <a:rPr sz="1000" b="0">
                          <a:solidFill>
                            <a:srgbClr val="1F2328"/>
                          </a:solidFill>
                          <a:latin typeface="Arial"/>
                        </a:rPr>
                        <a:t>medical claims</a:t>
                      </a:r>
                    </a:p>
                  </a:txBody>
                  <a:tcPr marL="45720" marR="45720" marT="18288" marB="18288">
                    <a:solidFill>
                      <a:srgbClr val="FFFFFF"/>
                    </a:solidFill>
                  </a:tcPr>
                </a:tc>
                <a:tc>
                  <a:txBody>
                    <a:bodyPr wrap="square"/>
                    <a:lstStyle/>
                    <a:p>
                      <a:r>
                        <a:rPr sz="1000" b="0">
                          <a:solidFill>
                            <a:srgbClr val="1F2328"/>
                          </a:solidFill>
                          <a:latin typeface="Arial"/>
                        </a:rPr>
                        <a:t>in use</a:t>
                      </a:r>
                    </a:p>
                  </a:txBody>
                  <a:tcPr marL="45720" marR="45720" marT="18288" marB="18288">
                    <a:solidFill>
                      <a:srgbClr val="FFFFFF"/>
                    </a:solidFill>
                  </a:tcPr>
                </a:tc>
                <a:tc>
                  <a:txBody>
                    <a:bodyPr wrap="square"/>
                    <a:lstStyle/>
                    <a:p>
                      <a:r>
                        <a:rPr sz="1000" b="0">
                          <a:solidFill>
                            <a:srgbClr val="1F2328"/>
                          </a:solidFill>
                          <a:latin typeface="Arial"/>
                        </a:rPr>
                        <a:t>p. 14</a:t>
                      </a:r>
                    </a:p>
                  </a:txBody>
                  <a:tcPr marL="45720" marR="45720" marT="18288" marB="18288">
                    <a:solidFill>
                      <a:srgbClr val="FFFFFF"/>
                    </a:solidFill>
                  </a:tcPr>
                </a:tc>
              </a:tr>
              <a:tr h="419607">
                <a:tc>
                  <a:txBody>
                    <a:bodyPr wrap="square"/>
                    <a:lstStyle/>
                    <a:p>
                      <a:r>
                        <a:rPr sz="1000" b="0">
                          <a:solidFill>
                            <a:srgbClr val="1F2328"/>
                          </a:solidFill>
                          <a:latin typeface="Arial"/>
                        </a:rPr>
                        <a:t>3</a:t>
                      </a:r>
                    </a:p>
                  </a:txBody>
                  <a:tcPr marL="45720" marR="45720" marT="18288" marB="18288">
                    <a:solidFill>
                      <a:srgbClr val="FFFFFF"/>
                    </a:solidFill>
                  </a:tcPr>
                </a:tc>
                <a:tc>
                  <a:txBody>
                    <a:bodyPr wrap="square"/>
                    <a:lstStyle/>
                    <a:p>
                      <a:r>
                        <a:rPr sz="1000" b="0">
                          <a:solidFill>
                            <a:srgbClr val="1F2328"/>
                          </a:solidFill>
                          <a:latin typeface="Arial"/>
                        </a:rPr>
                        <a:t>“We are also testing an AI solution for complex underwriting cases to further improve automation and associated efficiency.”</a:t>
                      </a:r>
                    </a:p>
                  </a:txBody>
                  <a:tcPr marL="45720" marR="45720" marT="18288" marB="18288">
                    <a:solidFill>
                      <a:srgbClr val="FFFFFF"/>
                    </a:solidFill>
                  </a:tcPr>
                </a:tc>
                <a:tc>
                  <a:txBody>
                    <a:bodyPr wrap="square"/>
                    <a:lstStyle/>
                    <a:p>
                      <a:r>
                        <a:rPr sz="1000" b="0">
                          <a:solidFill>
                            <a:srgbClr val="1F2328"/>
                          </a:solidFill>
                          <a:latin typeface="Arial"/>
                        </a:rPr>
                        <a:t>underwriting</a:t>
                      </a:r>
                    </a:p>
                  </a:txBody>
                  <a:tcPr marL="45720" marR="45720" marT="18288" marB="18288">
                    <a:solidFill>
                      <a:srgbClr val="FFFFFF"/>
                    </a:solidFill>
                  </a:tcPr>
                </a:tc>
                <a:tc>
                  <a:txBody>
                    <a:bodyPr wrap="square"/>
                    <a:lstStyle/>
                    <a:p>
                      <a:r>
                        <a:rPr sz="1000" b="0">
                          <a:solidFill>
                            <a:srgbClr val="1F2328"/>
                          </a:solidFill>
                          <a:latin typeface="Arial"/>
                        </a:rPr>
                        <a:t>testing</a:t>
                      </a:r>
                    </a:p>
                  </a:txBody>
                  <a:tcPr marL="45720" marR="45720" marT="18288" marB="18288">
                    <a:solidFill>
                      <a:srgbClr val="FFFFFF"/>
                    </a:solidFill>
                  </a:tcPr>
                </a:tc>
                <a:tc>
                  <a:txBody>
                    <a:bodyPr wrap="square"/>
                    <a:lstStyle/>
                    <a:p>
                      <a:r>
                        <a:rPr sz="1000" b="0">
                          <a:solidFill>
                            <a:srgbClr val="1F2328"/>
                          </a:solidFill>
                          <a:latin typeface="Arial"/>
                        </a:rPr>
                        <a:t>p. 14</a:t>
                      </a:r>
                    </a:p>
                  </a:txBody>
                  <a:tcPr marL="45720" marR="45720" marT="18288" marB="18288">
                    <a:solidFill>
                      <a:srgbClr val="FFFFFF"/>
                    </a:solidFill>
                  </a:tcPr>
                </a:tc>
              </a:tr>
              <a:tr h="419607">
                <a:tc>
                  <a:txBody>
                    <a:bodyPr wrap="square"/>
                    <a:lstStyle/>
                    <a:p>
                      <a:r>
                        <a:rPr sz="1000" b="0">
                          <a:solidFill>
                            <a:srgbClr val="1F2328"/>
                          </a:solidFill>
                          <a:latin typeface="Arial"/>
                        </a:rPr>
                        <a:t>4</a:t>
                      </a:r>
                    </a:p>
                  </a:txBody>
                  <a:tcPr marL="45720" marR="45720" marT="18288" marB="18288">
                    <a:solidFill>
                      <a:srgbClr val="FFFFFF"/>
                    </a:solidFill>
                  </a:tcPr>
                </a:tc>
                <a:tc>
                  <a:txBody>
                    <a:bodyPr wrap="square"/>
                    <a:lstStyle/>
                    <a:p>
                      <a:r>
                        <a:rPr sz="1000" b="0">
                          <a:solidFill>
                            <a:srgbClr val="1F2328"/>
                          </a:solidFill>
                          <a:latin typeface="Arial"/>
                        </a:rPr>
                        <a:t>“In 2025, our AI-driven claims system delivered same-day turnarounds for 75% of medical claims, one of the fastest among Singapore’s health insurers based on Ministry of Health service indicators.”</a:t>
                      </a:r>
                    </a:p>
                  </a:txBody>
                  <a:tcPr marL="45720" marR="45720" marT="18288" marB="18288">
                    <a:solidFill>
                      <a:srgbClr val="FFFFFF"/>
                    </a:solidFill>
                  </a:tcPr>
                </a:tc>
                <a:tc>
                  <a:txBody>
                    <a:bodyPr wrap="square"/>
                    <a:lstStyle/>
                    <a:p>
                      <a:r>
                        <a:rPr sz="1000" b="0">
                          <a:solidFill>
                            <a:srgbClr val="1F2328"/>
                          </a:solidFill>
                          <a:latin typeface="Arial"/>
                        </a:rPr>
                        <a:t>medical claims</a:t>
                      </a:r>
                    </a:p>
                  </a:txBody>
                  <a:tcPr marL="45720" marR="45720" marT="18288" marB="18288">
                    <a:solidFill>
                      <a:srgbClr val="FFFFFF"/>
                    </a:solidFill>
                  </a:tcPr>
                </a:tc>
                <a:tc>
                  <a:txBody>
                    <a:bodyPr wrap="square"/>
                    <a:lstStyle/>
                    <a:p>
                      <a:r>
                        <a:rPr sz="1000" b="0">
                          <a:solidFill>
                            <a:srgbClr val="1F2328"/>
                          </a:solidFill>
                          <a:latin typeface="Arial"/>
                        </a:rPr>
                        <a:t>in use</a:t>
                      </a:r>
                    </a:p>
                  </a:txBody>
                  <a:tcPr marL="45720" marR="45720" marT="18288" marB="18288">
                    <a:solidFill>
                      <a:srgbClr val="FFFFFF"/>
                    </a:solidFill>
                  </a:tcPr>
                </a:tc>
                <a:tc>
                  <a:txBody>
                    <a:bodyPr wrap="square"/>
                    <a:lstStyle/>
                    <a:p>
                      <a:r>
                        <a:rPr sz="1000" b="0">
                          <a:solidFill>
                            <a:srgbClr val="1F2328"/>
                          </a:solidFill>
                          <a:latin typeface="Arial"/>
                        </a:rPr>
                        <a:t>p. 40</a:t>
                      </a:r>
                    </a:p>
                  </a:txBody>
                  <a:tcPr marL="45720" marR="45720" marT="18288" marB="18288">
                    <a:solidFill>
                      <a:srgbClr val="FFFFFF"/>
                    </a:solidFill>
                  </a:tcPr>
                </a:tc>
              </a:tr>
              <a:tr h="419607">
                <a:tc>
                  <a:txBody>
                    <a:bodyPr wrap="square"/>
                    <a:lstStyle/>
                    <a:p>
                      <a:r>
                        <a:rPr sz="1000" b="0">
                          <a:solidFill>
                            <a:srgbClr val="1F2328"/>
                          </a:solidFill>
                          <a:latin typeface="Arial"/>
                        </a:rPr>
                        <a:t>5</a:t>
                      </a:r>
                    </a:p>
                  </a:txBody>
                  <a:tcPr marL="45720" marR="45720" marT="18288" marB="18288">
                    <a:solidFill>
                      <a:srgbClr val="FFFFFF"/>
                    </a:solidFill>
                  </a:tcPr>
                </a:tc>
                <a:tc>
                  <a:txBody>
                    <a:bodyPr wrap="square"/>
                    <a:lstStyle/>
                    <a:p>
                      <a:r>
                        <a:rPr sz="1000" b="0">
                          <a:solidFill>
                            <a:srgbClr val="1F2328"/>
                          </a:solidFill>
                          <a:latin typeface="Arial"/>
                        </a:rPr>
                        <a:t>“We further leveraged AI in our customer segmentation process for our supplementary long-term care insurance plan, Great CareShield, to enable instant approvals for existing lower-risk customers.”</a:t>
                      </a:r>
                    </a:p>
                  </a:txBody>
                  <a:tcPr marL="45720" marR="45720" marT="18288" marB="18288">
                    <a:solidFill>
                      <a:srgbClr val="FFFFFF"/>
                    </a:solidFill>
                  </a:tcPr>
                </a:tc>
                <a:tc>
                  <a:txBody>
                    <a:bodyPr wrap="square"/>
                    <a:lstStyle/>
                    <a:p>
                      <a:r>
                        <a:rPr sz="1000" b="0">
                          <a:solidFill>
                            <a:srgbClr val="1F2328"/>
                          </a:solidFill>
                          <a:latin typeface="Arial"/>
                        </a:rPr>
                        <a:t>customer segmentation</a:t>
                      </a:r>
                    </a:p>
                  </a:txBody>
                  <a:tcPr marL="45720" marR="45720" marT="18288" marB="18288">
                    <a:solidFill>
                      <a:srgbClr val="FFFFFF"/>
                    </a:solidFill>
                  </a:tcPr>
                </a:tc>
                <a:tc>
                  <a:txBody>
                    <a:bodyPr wrap="square"/>
                    <a:lstStyle/>
                    <a:p>
                      <a:r>
                        <a:rPr sz="1000" b="0">
                          <a:solidFill>
                            <a:srgbClr val="1F2328"/>
                          </a:solidFill>
                          <a:latin typeface="Arial"/>
                        </a:rPr>
                        <a:t>in use</a:t>
                      </a:r>
                    </a:p>
                  </a:txBody>
                  <a:tcPr marL="45720" marR="45720" marT="18288" marB="18288">
                    <a:solidFill>
                      <a:srgbClr val="FFFFFF"/>
                    </a:solidFill>
                  </a:tcPr>
                </a:tc>
                <a:tc>
                  <a:txBody>
                    <a:bodyPr wrap="square"/>
                    <a:lstStyle/>
                    <a:p>
                      <a:r>
                        <a:rPr sz="1000" b="0">
                          <a:solidFill>
                            <a:srgbClr val="1F2328"/>
                          </a:solidFill>
                          <a:latin typeface="Arial"/>
                        </a:rPr>
                        <a:t>p. 40</a:t>
                      </a:r>
                    </a:p>
                  </a:txBody>
                  <a:tcPr marL="45720" marR="45720" marT="18288" marB="18288">
                    <a:solidFill>
                      <a:srgbClr val="FFFFFF"/>
                    </a:solidFill>
                  </a:tcPr>
                </a:tc>
              </a:tr>
              <a:tr h="884427">
                <a:tc>
                  <a:txBody>
                    <a:bodyPr wrap="square"/>
                    <a:lstStyle/>
                    <a:p>
                      <a:r>
                        <a:rPr sz="1000" b="0">
                          <a:solidFill>
                            <a:srgbClr val="1F2328"/>
                          </a:solidFill>
                          <a:latin typeface="Arial"/>
                        </a:rPr>
                        <a:t>6</a:t>
                      </a:r>
                    </a:p>
                  </a:txBody>
                  <a:tcPr marL="45720" marR="45720" marT="18288" marB="18288">
                    <a:solidFill>
                      <a:srgbClr val="FFFFFF"/>
                    </a:solidFill>
                  </a:tcPr>
                </a:tc>
                <a:tc>
                  <a:txBody>
                    <a:bodyPr wrap="square"/>
                    <a:lstStyle/>
                    <a:p>
                      <a:r>
                        <a:rPr sz="1000" b="0">
                          <a:solidFill>
                            <a:srgbClr val="1F2328"/>
                          </a:solidFill>
                          <a:latin typeface="Arial"/>
                        </a:rPr>
                        <a:t>“As AI accelerates transformation across the insurance industry, we have developed an Optical Character Recognition solution that extracts and analyses data from medical bills to identify potential wastage and abuse within medical claims.” … “This capability has significantly strengthened our claims oversight and operational efficiency.” … “The initiative was awarded the Best Claims Initiative in Malaysia at the Insurance Asia Awards 2025.”</a:t>
                      </a:r>
                    </a:p>
                  </a:txBody>
                  <a:tcPr marL="45720" marR="45720" marT="18288" marB="18288">
                    <a:solidFill>
                      <a:srgbClr val="FFFFFF"/>
                    </a:solidFill>
                  </a:tcPr>
                </a:tc>
                <a:tc>
                  <a:txBody>
                    <a:bodyPr wrap="square"/>
                    <a:lstStyle/>
                    <a:p>
                      <a:r>
                        <a:rPr sz="1000" b="0">
                          <a:solidFill>
                            <a:srgbClr val="1F2328"/>
                          </a:solidFill>
                          <a:latin typeface="Arial"/>
                        </a:rPr>
                        <a:t>medical-claims fraud, waste and abuse</a:t>
                      </a:r>
                    </a:p>
                  </a:txBody>
                  <a:tcPr marL="45720" marR="45720" marT="18288" marB="18288">
                    <a:solidFill>
                      <a:srgbClr val="FFFFFF"/>
                    </a:solidFill>
                  </a:tcPr>
                </a:tc>
                <a:tc>
                  <a:txBody>
                    <a:bodyPr wrap="square"/>
                    <a:lstStyle/>
                    <a:p>
                      <a:r>
                        <a:rPr sz="1000" b="0">
                          <a:solidFill>
                            <a:srgbClr val="1F2328"/>
                          </a:solidFill>
                          <a:latin typeface="Arial"/>
                        </a:rPr>
                        <a:t>developed</a:t>
                      </a:r>
                    </a:p>
                  </a:txBody>
                  <a:tcPr marL="45720" marR="45720" marT="18288" marB="18288">
                    <a:solidFill>
                      <a:srgbClr val="FFFFFF"/>
                    </a:solidFill>
                  </a:tcPr>
                </a:tc>
                <a:tc>
                  <a:txBody>
                    <a:bodyPr wrap="square"/>
                    <a:lstStyle/>
                    <a:p>
                      <a:r>
                        <a:rPr sz="1000" b="0">
                          <a:solidFill>
                            <a:srgbClr val="1F2328"/>
                          </a:solidFill>
                          <a:latin typeface="Arial"/>
                        </a:rPr>
                        <a:t>p. 43</a:t>
                      </a:r>
                    </a:p>
                  </a:txBody>
                  <a:tcPr marL="45720" marR="45720" marT="18288" marB="18288">
                    <a:solidFill>
                      <a:srgbClr val="FFFFFF"/>
                    </a:solidFill>
                  </a:tcPr>
                </a:tc>
              </a:tr>
              <a:tr h="419607">
                <a:tc>
                  <a:txBody>
                    <a:bodyPr wrap="square"/>
                    <a:lstStyle/>
                    <a:p>
                      <a:r>
                        <a:rPr sz="1000" b="0">
                          <a:solidFill>
                            <a:srgbClr val="1F2328"/>
                          </a:solidFill>
                          <a:latin typeface="Arial"/>
                        </a:rPr>
                        <a:t>7</a:t>
                      </a:r>
                    </a:p>
                  </a:txBody>
                  <a:tcPr marL="45720" marR="45720" marT="18288" marB="18288">
                    <a:solidFill>
                      <a:srgbClr val="FFFFFF"/>
                    </a:solidFill>
                  </a:tcPr>
                </a:tc>
                <a:tc>
                  <a:txBody>
                    <a:bodyPr wrap="square"/>
                    <a:lstStyle/>
                    <a:p>
                      <a:r>
                        <a:rPr sz="1000" b="0">
                          <a:solidFill>
                            <a:srgbClr val="1F2328"/>
                          </a:solidFill>
                          <a:latin typeface="Arial"/>
                        </a:rPr>
                        <a:t>“We have also developed an AI-driven model to help identify potential misconduct cases, significantly reducing the manual effort and time required for investigations.”</a:t>
                      </a:r>
                    </a:p>
                  </a:txBody>
                  <a:tcPr marL="45720" marR="45720" marT="18288" marB="18288">
                    <a:solidFill>
                      <a:srgbClr val="FFFFFF"/>
                    </a:solidFill>
                  </a:tcPr>
                </a:tc>
                <a:tc>
                  <a:txBody>
                    <a:bodyPr wrap="square"/>
                    <a:lstStyle/>
                    <a:p>
                      <a:r>
                        <a:rPr sz="1000" b="0">
                          <a:solidFill>
                            <a:srgbClr val="1F2328"/>
                          </a:solidFill>
                          <a:latin typeface="Arial"/>
                        </a:rPr>
                        <a:t>misconduct detection</a:t>
                      </a:r>
                    </a:p>
                  </a:txBody>
                  <a:tcPr marL="45720" marR="45720" marT="18288" marB="18288">
                    <a:solidFill>
                      <a:srgbClr val="FFFFFF"/>
                    </a:solidFill>
                  </a:tcPr>
                </a:tc>
                <a:tc>
                  <a:txBody>
                    <a:bodyPr wrap="square"/>
                    <a:lstStyle/>
                    <a:p>
                      <a:r>
                        <a:rPr sz="1000" b="0">
                          <a:solidFill>
                            <a:srgbClr val="1F2328"/>
                          </a:solidFill>
                          <a:latin typeface="Arial"/>
                        </a:rPr>
                        <a:t>developed; outcome stated</a:t>
                      </a:r>
                    </a:p>
                  </a:txBody>
                  <a:tcPr marL="45720" marR="45720" marT="18288" marB="18288">
                    <a:solidFill>
                      <a:srgbClr val="FFFFFF"/>
                    </a:solidFill>
                  </a:tcPr>
                </a:tc>
                <a:tc>
                  <a:txBody>
                    <a:bodyPr wrap="square"/>
                    <a:lstStyle/>
                    <a:p>
                      <a:r>
                        <a:rPr sz="1000" b="0">
                          <a:solidFill>
                            <a:srgbClr val="1F2328"/>
                          </a:solidFill>
                          <a:latin typeface="Arial"/>
                        </a:rPr>
                        <a:t>p. 43</a:t>
                      </a:r>
                    </a:p>
                  </a:txBody>
                  <a:tcPr marL="45720" marR="45720" marT="18288" marB="18288">
                    <a:solidFill>
                      <a:srgbClr val="FFFFFF"/>
                    </a:solidFill>
                  </a:tcPr>
                </a:tc>
              </a:tr>
            </a:tbl>
          </a:graphicData>
        </a:graphic>
      </p:graphicFrame>
      <p:sp>
        <p:nvSpPr>
          <p:cNvPr id="7" name="plumbdeck-sowhat"/>
          <p:cNvSpPr txBox="1"/>
          <p:nvPr/>
        </p:nvSpPr>
        <p:spPr>
          <a:xfrm>
            <a:off x="548640" y="5476748"/>
            <a:ext cx="11094415" cy="411480"/>
          </a:xfrm>
          <a:prstGeom prst="rect">
            <a:avLst/>
          </a:prstGeom>
          <a:solidFill>
            <a:srgbClr val="EEF1F4"/>
          </a:solidFill>
          <a:ln>
            <a:solidFill>
              <a:srgbClr val="2F4B66"/>
            </a:solidFill>
          </a:ln>
        </p:spPr>
        <p:txBody>
          <a:bodyPr wrap="square" lIns="45720" rIns="45720" tIns="27432" bIns="27432" anchor="ctr">
            <a:spAutoFit/>
          </a:bodyPr>
          <a:lstStyle/>
          <a:p>
            <a:r>
              <a:rPr sz="1100" b="1" i="0">
                <a:solidFill>
                  <a:srgbClr val="1F2328"/>
                </a:solidFill>
                <a:latin typeface="Arial"/>
              </a:rPr>
              <a:t>So what: stage is the verb in each quote, the company's own description; production evidence and measurement are asked on S08.</a:t>
            </a:r>
          </a:p>
        </p:txBody>
      </p:sp>
      <p:sp>
        <p:nvSpPr>
          <p:cNvPr id="8" name="plumbdeck-source"/>
          <p:cNvSpPr txBox="1"/>
          <p:nvPr/>
        </p:nvSpPr>
        <p:spPr>
          <a:xfrm>
            <a:off x="548640" y="5943600"/>
            <a:ext cx="11094415" cy="347472"/>
          </a:xfrm>
          <a:prstGeom prst="rect">
            <a:avLst/>
          </a:prstGeom>
          <a:noFill/>
        </p:spPr>
        <p:txBody>
          <a:bodyPr wrap="square" lIns="45720" rIns="45720" tIns="27432" bIns="27432" anchor="t">
            <a:spAutoFit/>
          </a:bodyPr>
          <a:lstStyle/>
          <a:p>
            <a:r>
              <a:rPr sz="900" b="0" i="0">
                <a:solidFill>
                  <a:srgbClr val="57606A"/>
                </a:solidFill>
                <a:latin typeface="Arial"/>
              </a:rPr>
              <a:t>Source: T2 Great Eastern Holdings Limited annual report FY2025 pp. 14, 40, 43 (attached; publisher hash unreconciled), 2026-10-25; confidence: filed</a:t>
            </a:r>
          </a:p>
        </p:txBody>
      </p:sp>
      <p:sp>
        <p:nvSpPr>
          <p:cNvPr id="9" name="Rectangle 8"/>
          <p:cNvSpPr/>
          <p:nvPr/>
        </p:nvSpPr>
        <p:spPr>
          <a:xfrm>
            <a:off x="548640" y="6322885"/>
            <a:ext cx="11094415" cy="9525"/>
          </a:xfrm>
          <a:prstGeom prst="rect">
            <a:avLst/>
          </a:prstGeom>
          <a:solidFill>
            <a:srgbClr val="D0D7DE"/>
          </a:solidFill>
          <a:ln>
            <a:noFill/>
          </a:ln>
          <a:effectLst/>
        </p:spPr>
        <p:txBody>
          <a:bodyPr rtlCol="0" anchor="ctr"/>
          <a:lstStyle/>
          <a:p>
            <a:pPr algn="ctr"/>
          </a:p>
        </p:txBody>
      </p:sp>
      <p:sp>
        <p:nvSpPr>
          <p:cNvPr id="10" name="plumbdeck-footer"/>
          <p:cNvSpPr txBox="1"/>
          <p:nvPr/>
        </p:nvSpPr>
        <p:spPr>
          <a:xfrm>
            <a:off x="548640" y="6373368"/>
            <a:ext cx="10362895" cy="365760"/>
          </a:xfrm>
          <a:prstGeom prst="rect">
            <a:avLst/>
          </a:prstGeom>
          <a:noFill/>
        </p:spPr>
        <p:txBody>
          <a:bodyPr wrap="square" lIns="45720" rIns="45720" tIns="27432" bIns="27432" anchor="t">
            <a:spAutoFit/>
          </a:bodyPr>
          <a:lstStyle/>
          <a:p>
            <a:r>
              <a:rPr sz="800" b="0" i="0">
                <a:solidFill>
                  <a:srgbClr val="57606A"/>
                </a:solidFill>
                <a:latin typeface="Arial"/>
              </a:rPr>
              <a:t>DRAFT — not for board use. Deliverable PLUMB-PR-great-eastern-research-e0bc54685dce v0.1.</a:t>
            </a:r>
          </a:p>
        </p:txBody>
      </p:sp>
      <p:sp>
        <p:nvSpPr>
          <p:cNvPr id="11" name="TextBox 10"/>
          <p:cNvSpPr txBox="1"/>
          <p:nvPr/>
        </p:nvSpPr>
        <p:spPr>
          <a:xfrm>
            <a:off x="11002975" y="6373368"/>
            <a:ext cx="640080" cy="274320"/>
          </a:xfrm>
          <a:prstGeom prst="rect">
            <a:avLst/>
          </a:prstGeom>
          <a:noFill/>
        </p:spPr>
        <p:txBody>
          <a:bodyPr wrap="square" lIns="45720" rIns="45720" tIns="27432" bIns="27432" anchor="t">
            <a:spAutoFit/>
          </a:bodyPr>
          <a:lstStyle/>
          <a:p>
            <a:pPr algn="r"/>
            <a:r>
              <a:rPr sz="800" b="0" i="0">
                <a:solidFill>
                  <a:srgbClr val="57606A"/>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plumbdeck-banner"/>
          <p:cNvSpPr txBox="1"/>
          <p:nvPr/>
        </p:nvSpPr>
        <p:spPr>
          <a:xfrm>
            <a:off x="0" y="0"/>
            <a:ext cx="12191695" cy="384048"/>
          </a:xfrm>
          <a:prstGeom prst="rect">
            <a:avLst/>
          </a:prstGeom>
          <a:solidFill>
            <a:srgbClr val="B42318"/>
          </a:solidFill>
        </p:spPr>
        <p:txBody>
          <a:bodyPr wrap="square" lIns="45720" rIns="45720" tIns="27432" bIns="27432" anchor="ctr">
            <a:spAutoFit/>
          </a:bodyPr>
          <a:lstStyle/>
          <a:p>
            <a:pPr algn="ctr"/>
            <a:r>
              <a:rPr sz="1100" b="1" i="0">
                <a:solidFill>
                  <a:srgbClr val="FFFFFF"/>
                </a:solidFill>
                <a:latin typeface="Arial"/>
              </a:rPr>
              <a:t>DRAFT — not for board use (internal profile; 1 attachment unreconciled; resolution 0.1429; no QA gate 3 sign-off)</a:t>
            </a:r>
          </a:p>
        </p:txBody>
      </p:sp>
      <p:sp>
        <p:nvSpPr>
          <p:cNvPr id="3" name="plumbdeck-section"/>
          <p:cNvSpPr txBox="1"/>
          <p:nvPr/>
        </p:nvSpPr>
        <p:spPr>
          <a:xfrm>
            <a:off x="548640" y="502920"/>
            <a:ext cx="11094415" cy="274320"/>
          </a:xfrm>
          <a:prstGeom prst="rect">
            <a:avLst/>
          </a:prstGeom>
          <a:noFill/>
        </p:spPr>
        <p:txBody>
          <a:bodyPr wrap="square" lIns="45720" rIns="45720" tIns="27432" bIns="27432" anchor="t">
            <a:spAutoFit/>
          </a:bodyPr>
          <a:lstStyle/>
          <a:p>
            <a:r>
              <a:rPr sz="1000" b="0" i="0">
                <a:solidFill>
                  <a:srgbClr val="57606A"/>
                </a:solidFill>
                <a:latin typeface="Arial"/>
              </a:rPr>
              <a:t>S05 · AI leadership — seat in transition</a:t>
            </a:r>
          </a:p>
        </p:txBody>
      </p:sp>
      <p:sp>
        <p:nvSpPr>
          <p:cNvPr id="4" name="plumbdeck-title"/>
          <p:cNvSpPr txBox="1"/>
          <p:nvPr/>
        </p:nvSpPr>
        <p:spPr>
          <a:xfrm>
            <a:off x="548640" y="822960"/>
            <a:ext cx="11094415" cy="466344"/>
          </a:xfrm>
          <a:prstGeom prst="rect">
            <a:avLst/>
          </a:prstGeom>
          <a:noFill/>
        </p:spPr>
        <p:txBody>
          <a:bodyPr wrap="square" lIns="45720" rIns="45720" tIns="27432" bIns="27432" anchor="t">
            <a:spAutoFit/>
          </a:bodyPr>
          <a:lstStyle/>
          <a:p>
            <a:r>
              <a:rPr sz="2000" b="1" i="0">
                <a:solidFill>
                  <a:srgbClr val="1F2328"/>
                </a:solidFill>
                <a:latin typeface="Arial"/>
              </a:rPr>
              <a:t>Great Eastern's Group Data and AI seat is in transition, successor to be named</a:t>
            </a:r>
          </a:p>
        </p:txBody>
      </p:sp>
      <p:sp>
        <p:nvSpPr>
          <p:cNvPr id="5" name="Rectangle 4"/>
          <p:cNvSpPr/>
          <p:nvPr/>
        </p:nvSpPr>
        <p:spPr>
          <a:xfrm>
            <a:off x="548640" y="1330261"/>
            <a:ext cx="11094415" cy="9525"/>
          </a:xfrm>
          <a:prstGeom prst="rect">
            <a:avLst/>
          </a:prstGeom>
          <a:solidFill>
            <a:srgbClr val="D0D7DE"/>
          </a:solidFill>
          <a:ln>
            <a:noFill/>
          </a:ln>
          <a:effectLst/>
        </p:spPr>
        <p:txBody>
          <a:bodyPr rtlCol="0" anchor="ctr"/>
          <a:lstStyle/>
          <a:p>
            <a:pPr algn="ctr"/>
          </a:p>
        </p:txBody>
      </p:sp>
      <p:graphicFrame>
        <p:nvGraphicFramePr>
          <p:cNvPr id="6" name="Table 5"/>
          <p:cNvGraphicFramePr>
            <a:graphicFrameLocks noGrp="1"/>
          </p:cNvGraphicFramePr>
          <p:nvPr/>
        </p:nvGraphicFramePr>
        <p:xfrm>
          <a:off x="548640" y="1472184"/>
          <a:ext cx="11094413" cy="2672584"/>
        </p:xfrm>
        <a:graphic>
          <a:graphicData uri="http://schemas.openxmlformats.org/drawingml/2006/table">
            <a:tbl>
              <a:tblPr firstRow="1" bandRow="1">
                <a:tableStyleId>{5C22544A-7EE6-4342-B048-85BDC9FD1C3A}</a:tableStyleId>
              </a:tblPr>
              <a:tblGrid>
                <a:gridCol w="359818"/>
                <a:gridCol w="7676135"/>
                <a:gridCol w="1559215"/>
                <a:gridCol w="1499245"/>
              </a:tblGrid>
              <a:tr h="419607">
                <a:tc>
                  <a:txBody>
                    <a:bodyPr wrap="square"/>
                    <a:lstStyle/>
                    <a:p>
                      <a:r>
                        <a:rPr sz="1000" b="1">
                          <a:solidFill>
                            <a:srgbClr val="1F2328"/>
                          </a:solidFill>
                          <a:latin typeface="Arial"/>
                        </a:rPr>
                        <a:t>#</a:t>
                      </a:r>
                    </a:p>
                  </a:txBody>
                  <a:tcPr marL="45720" marR="45720" marT="18288" marB="18288">
                    <a:solidFill>
                      <a:srgbClr val="EEF1F4"/>
                    </a:solidFill>
                  </a:tcPr>
                </a:tc>
                <a:tc>
                  <a:txBody>
                    <a:bodyPr wrap="square"/>
                    <a:lstStyle/>
                    <a:p>
                      <a:r>
                        <a:rPr sz="1000" b="1">
                          <a:solidFill>
                            <a:srgbClr val="1F2328"/>
                          </a:solidFill>
                          <a:latin typeface="Arial"/>
                        </a:rPr>
                        <a:t>What the FY2025 annual report says (verbatim)</a:t>
                      </a:r>
                    </a:p>
                  </a:txBody>
                  <a:tcPr marL="45720" marR="45720" marT="18288" marB="18288">
                    <a:solidFill>
                      <a:srgbClr val="EEF1F4"/>
                    </a:solidFill>
                  </a:tcPr>
                </a:tc>
                <a:tc>
                  <a:txBody>
                    <a:bodyPr wrap="square"/>
                    <a:lstStyle/>
                    <a:p>
                      <a:r>
                        <a:rPr sz="1000" b="1">
                          <a:solidFill>
                            <a:srgbClr val="1F2328"/>
                          </a:solidFill>
                          <a:latin typeface="Arial"/>
                        </a:rPr>
                        <a:t>Status (from the sentence)</a:t>
                      </a:r>
                    </a:p>
                  </a:txBody>
                  <a:tcPr marL="45720" marR="45720" marT="18288" marB="18288">
                    <a:solidFill>
                      <a:srgbClr val="EEF1F4"/>
                    </a:solidFill>
                  </a:tcPr>
                </a:tc>
                <a:tc>
                  <a:txBody>
                    <a:bodyPr wrap="square"/>
                    <a:lstStyle/>
                    <a:p>
                      <a:r>
                        <a:rPr sz="1000" b="1">
                          <a:solidFill>
                            <a:srgbClr val="1F2328"/>
                          </a:solidFill>
                          <a:latin typeface="Arial"/>
                        </a:rPr>
                        <a:t>Page</a:t>
                      </a:r>
                    </a:p>
                  </a:txBody>
                  <a:tcPr marL="45720" marR="45720" marT="18288" marB="18288">
                    <a:solidFill>
                      <a:srgbClr val="EEF1F4"/>
                    </a:solidFill>
                  </a:tcPr>
                </a:tc>
              </a:tr>
              <a:tr h="419607">
                <a:tc>
                  <a:txBody>
                    <a:bodyPr wrap="square"/>
                    <a:lstStyle/>
                    <a:p>
                      <a:r>
                        <a:rPr sz="1000" b="0">
                          <a:solidFill>
                            <a:srgbClr val="1F2328"/>
                          </a:solidFill>
                          <a:latin typeface="Arial"/>
                        </a:rPr>
                        <a:t>1</a:t>
                      </a:r>
                    </a:p>
                  </a:txBody>
                  <a:tcPr marL="45720" marR="45720" marT="18288" marB="18288">
                    <a:solidFill>
                      <a:srgbClr val="FFFFFF"/>
                    </a:solidFill>
                  </a:tcPr>
                </a:tc>
                <a:tc>
                  <a:txBody>
                    <a:bodyPr wrap="square"/>
                    <a:lstStyle/>
                    <a:p>
                      <a:r>
                        <a:rPr sz="1000" b="0">
                          <a:solidFill>
                            <a:srgbClr val="1F2328"/>
                          </a:solidFill>
                          <a:latin typeface="Arial"/>
                        </a:rPr>
                        <a:t>“Ms Zhao Jingyuan (Managing Director, Group Data and Artificial Intelligence) is expected to join Oversea-Chinese Banking Corporation Limited (“OCBC”) as the Head of the Group Data Office in March 2026.”</a:t>
                      </a:r>
                    </a:p>
                  </a:txBody>
                  <a:tcPr marL="45720" marR="45720" marT="18288" marB="18288">
                    <a:solidFill>
                      <a:srgbClr val="FFFFFF"/>
                    </a:solidFill>
                  </a:tcPr>
                </a:tc>
                <a:tc>
                  <a:txBody>
                    <a:bodyPr wrap="square"/>
                    <a:lstStyle/>
                    <a:p>
                      <a:r>
                        <a:rPr sz="1000" b="0">
                          <a:solidFill>
                            <a:srgbClr val="1F2328"/>
                          </a:solidFill>
                          <a:latin typeface="Arial"/>
                        </a:rPr>
                        <a:t>in transition</a:t>
                      </a:r>
                    </a:p>
                  </a:txBody>
                  <a:tcPr marL="45720" marR="45720" marT="18288" marB="18288">
                    <a:solidFill>
                      <a:srgbClr val="FFFFFF"/>
                    </a:solidFill>
                  </a:tcPr>
                </a:tc>
                <a:tc>
                  <a:txBody>
                    <a:bodyPr wrap="square"/>
                    <a:lstStyle/>
                    <a:p>
                      <a:r>
                        <a:rPr sz="1000" b="0">
                          <a:solidFill>
                            <a:srgbClr val="1F2328"/>
                          </a:solidFill>
                          <a:latin typeface="Arial"/>
                        </a:rPr>
                        <a:t>p. 67</a:t>
                      </a:r>
                    </a:p>
                  </a:txBody>
                  <a:tcPr marL="45720" marR="45720" marT="18288" marB="18288">
                    <a:solidFill>
                      <a:srgbClr val="FFFFFF"/>
                    </a:solidFill>
                  </a:tcPr>
                </a:tc>
              </a:tr>
              <a:tr h="419607">
                <a:tc>
                  <a:txBody>
                    <a:bodyPr wrap="square"/>
                    <a:lstStyle/>
                    <a:p>
                      <a:r>
                        <a:rPr sz="1000" b="0">
                          <a:solidFill>
                            <a:srgbClr val="1F2328"/>
                          </a:solidFill>
                          <a:latin typeface="Arial"/>
                        </a:rPr>
                        <a:t>2</a:t>
                      </a:r>
                    </a:p>
                  </a:txBody>
                  <a:tcPr marL="45720" marR="45720" marT="18288" marB="18288">
                    <a:solidFill>
                      <a:srgbClr val="FFFFFF"/>
                    </a:solidFill>
                  </a:tcPr>
                </a:tc>
                <a:tc>
                  <a:txBody>
                    <a:bodyPr wrap="square"/>
                    <a:lstStyle/>
                    <a:p>
                      <a:r>
                        <a:rPr sz="1000" b="0">
                          <a:solidFill>
                            <a:srgbClr val="1F2328"/>
                          </a:solidFill>
                          <a:latin typeface="Arial"/>
                        </a:rPr>
                        <a:t>“The successors to Ms Zhao Jingyuan and Mr Jimmy Tong will be named in due course.”</a:t>
                      </a:r>
                    </a:p>
                  </a:txBody>
                  <a:tcPr marL="45720" marR="45720" marT="18288" marB="18288">
                    <a:solidFill>
                      <a:srgbClr val="FFFFFF"/>
                    </a:solidFill>
                  </a:tcPr>
                </a:tc>
                <a:tc>
                  <a:txBody>
                    <a:bodyPr wrap="square"/>
                    <a:lstStyle/>
                    <a:p>
                      <a:r>
                        <a:rPr sz="1000" b="0">
                          <a:solidFill>
                            <a:srgbClr val="1F2328"/>
                          </a:solidFill>
                          <a:latin typeface="Arial"/>
                        </a:rPr>
                        <a:t>successor not yet named</a:t>
                      </a:r>
                    </a:p>
                  </a:txBody>
                  <a:tcPr marL="45720" marR="45720" marT="18288" marB="18288">
                    <a:solidFill>
                      <a:srgbClr val="FFFFFF"/>
                    </a:solidFill>
                  </a:tcPr>
                </a:tc>
                <a:tc>
                  <a:txBody>
                    <a:bodyPr wrap="square"/>
                    <a:lstStyle/>
                    <a:p>
                      <a:r>
                        <a:rPr sz="1000" b="0">
                          <a:solidFill>
                            <a:srgbClr val="1F2328"/>
                          </a:solidFill>
                          <a:latin typeface="Arial"/>
                        </a:rPr>
                        <a:t>p. 67</a:t>
                      </a:r>
                    </a:p>
                  </a:txBody>
                  <a:tcPr marL="45720" marR="45720" marT="18288" marB="18288">
                    <a:solidFill>
                      <a:srgbClr val="FFFFFF"/>
                    </a:solidFill>
                  </a:tcPr>
                </a:tc>
              </a:tr>
              <a:tr h="574548">
                <a:tc>
                  <a:txBody>
                    <a:bodyPr wrap="square"/>
                    <a:lstStyle/>
                    <a:p>
                      <a:r>
                        <a:rPr sz="1000" b="0">
                          <a:solidFill>
                            <a:srgbClr val="1F2328"/>
                          </a:solidFill>
                          <a:latin typeface="Arial"/>
                        </a:rPr>
                        <a:t>3</a:t>
                      </a:r>
                    </a:p>
                  </a:txBody>
                  <a:tcPr marL="45720" marR="45720" marT="18288" marB="18288">
                    <a:solidFill>
                      <a:srgbClr val="FFFFFF"/>
                    </a:solidFill>
                  </a:tcPr>
                </a:tc>
                <a:tc>
                  <a:txBody>
                    <a:bodyPr wrap="square"/>
                    <a:lstStyle/>
                    <a:p>
                      <a:r>
                        <a:rPr sz="1000" b="0">
                          <a:solidFill>
                            <a:srgbClr val="1F2328"/>
                          </a:solidFill>
                          <a:latin typeface="Arial"/>
                        </a:rPr>
                        <a:t>“Mr Colin Chan (Managing Director, Group Marketing), Mr Ryan Cheong (Managing Director, Group Customer and Digital), Mr Clement Lien (Managing Director, Group Premier Wealth) and Mr Patrick Peck (Managing Director, Regional Agency, Financial Advisors and Bancassurance) left the Group in 2025.”</a:t>
                      </a:r>
                    </a:p>
                  </a:txBody>
                  <a:tcPr marL="45720" marR="45720" marT="18288" marB="18288">
                    <a:solidFill>
                      <a:srgbClr val="FFFFFF"/>
                    </a:solidFill>
                  </a:tcPr>
                </a:tc>
                <a:tc>
                  <a:txBody>
                    <a:bodyPr wrap="square"/>
                    <a:lstStyle/>
                    <a:p>
                      <a:r>
                        <a:rPr sz="1000" b="0">
                          <a:solidFill>
                            <a:srgbClr val="1F2328"/>
                          </a:solidFill>
                          <a:latin typeface="Arial"/>
                        </a:rPr>
                        <a:t>departed</a:t>
                      </a:r>
                    </a:p>
                  </a:txBody>
                  <a:tcPr marL="45720" marR="45720" marT="18288" marB="18288">
                    <a:solidFill>
                      <a:srgbClr val="FFFFFF"/>
                    </a:solidFill>
                  </a:tcPr>
                </a:tc>
                <a:tc>
                  <a:txBody>
                    <a:bodyPr wrap="square"/>
                    <a:lstStyle/>
                    <a:p>
                      <a:r>
                        <a:rPr sz="1000" b="0">
                          <a:solidFill>
                            <a:srgbClr val="1F2328"/>
                          </a:solidFill>
                          <a:latin typeface="Arial"/>
                        </a:rPr>
                        <a:t>p. 67</a:t>
                      </a:r>
                    </a:p>
                  </a:txBody>
                  <a:tcPr marL="45720" marR="45720" marT="18288" marB="18288">
                    <a:solidFill>
                      <a:srgbClr val="FFFFFF"/>
                    </a:solidFill>
                  </a:tcPr>
                </a:tc>
              </a:tr>
              <a:tr h="264667">
                <a:tc>
                  <a:txBody>
                    <a:bodyPr wrap="square"/>
                    <a:lstStyle/>
                    <a:p>
                      <a:r>
                        <a:rPr sz="1000" b="0">
                          <a:solidFill>
                            <a:srgbClr val="1F2328"/>
                          </a:solidFill>
                          <a:latin typeface="Arial"/>
                        </a:rPr>
                        <a:t>4</a:t>
                      </a:r>
                    </a:p>
                  </a:txBody>
                  <a:tcPr marL="45720" marR="45720" marT="18288" marB="18288">
                    <a:solidFill>
                      <a:srgbClr val="FFFFFF"/>
                    </a:solidFill>
                  </a:tcPr>
                </a:tc>
                <a:tc>
                  <a:txBody>
                    <a:bodyPr wrap="square"/>
                    <a:lstStyle/>
                    <a:p>
                      <a:r>
                        <a:rPr sz="1000" b="0">
                          <a:solidFill>
                            <a:srgbClr val="1F2328"/>
                          </a:solidFill>
                          <a:latin typeface="Arial"/>
                        </a:rPr>
                        <a:t>“In 2025, we restructured our Data &amp; AI operating model to accelerate transformation.”</a:t>
                      </a:r>
                    </a:p>
                  </a:txBody>
                  <a:tcPr marL="45720" marR="45720" marT="18288" marB="18288">
                    <a:solidFill>
                      <a:srgbClr val="FFFFFF"/>
                    </a:solidFill>
                  </a:tcPr>
                </a:tc>
                <a:tc>
                  <a:txBody>
                    <a:bodyPr wrap="square"/>
                    <a:lstStyle/>
                    <a:p>
                      <a:r>
                        <a:rPr sz="1000" b="0">
                          <a:solidFill>
                            <a:srgbClr val="1F2328"/>
                          </a:solidFill>
                          <a:latin typeface="Arial"/>
                        </a:rPr>
                        <a:t>—</a:t>
                      </a:r>
                    </a:p>
                  </a:txBody>
                  <a:tcPr marL="45720" marR="45720" marT="18288" marB="18288">
                    <a:solidFill>
                      <a:srgbClr val="FFFFFF"/>
                    </a:solidFill>
                  </a:tcPr>
                </a:tc>
                <a:tc>
                  <a:txBody>
                    <a:bodyPr wrap="square"/>
                    <a:lstStyle/>
                    <a:p>
                      <a:r>
                        <a:rPr sz="1000" b="0">
                          <a:solidFill>
                            <a:srgbClr val="1F2328"/>
                          </a:solidFill>
                          <a:latin typeface="Arial"/>
                        </a:rPr>
                        <a:t>p. 41</a:t>
                      </a:r>
                    </a:p>
                  </a:txBody>
                  <a:tcPr marL="45720" marR="45720" marT="18288" marB="18288">
                    <a:solidFill>
                      <a:srgbClr val="FFFFFF"/>
                    </a:solidFill>
                  </a:tcPr>
                </a:tc>
              </a:tr>
              <a:tr h="574548">
                <a:tc>
                  <a:txBody>
                    <a:bodyPr wrap="square"/>
                    <a:lstStyle/>
                    <a:p>
                      <a:r>
                        <a:rPr sz="1000" b="0">
                          <a:solidFill>
                            <a:srgbClr val="1F2328"/>
                          </a:solidFill>
                          <a:latin typeface="Arial"/>
                        </a:rPr>
                        <a:t>5</a:t>
                      </a:r>
                    </a:p>
                  </a:txBody>
                  <a:tcPr marL="45720" marR="45720" marT="18288" marB="18288">
                    <a:solidFill>
                      <a:srgbClr val="FFFFFF"/>
                    </a:solidFill>
                  </a:tcPr>
                </a:tc>
                <a:tc>
                  <a:txBody>
                    <a:bodyPr wrap="square"/>
                    <a:lstStyle/>
                    <a:p>
                      <a:r>
                        <a:rPr sz="1000" b="0">
                          <a:solidFill>
                            <a:srgbClr val="1F2328"/>
                          </a:solidFill>
                          <a:latin typeface="Arial"/>
                        </a:rPr>
                        <a:t>“A new Group Integrated Propositions and Platforms Division, which unified the Group Marketing, Group Customer and Digital and Group Premier Wealth functions under a single leadership structure, was established in September 2025 under Ms Kwek-Perroy Li Choo, who was appointed as Managing Director.”</a:t>
                      </a:r>
                    </a:p>
                  </a:txBody>
                  <a:tcPr marL="45720" marR="45720" marT="18288" marB="18288">
                    <a:solidFill>
                      <a:srgbClr val="FFFFFF"/>
                    </a:solidFill>
                  </a:tcPr>
                </a:tc>
                <a:tc>
                  <a:txBody>
                    <a:bodyPr wrap="square"/>
                    <a:lstStyle/>
                    <a:p>
                      <a:r>
                        <a:rPr sz="1000" b="0">
                          <a:solidFill>
                            <a:srgbClr val="1F2328"/>
                          </a:solidFill>
                          <a:latin typeface="Arial"/>
                        </a:rPr>
                        <a:t>—</a:t>
                      </a:r>
                    </a:p>
                  </a:txBody>
                  <a:tcPr marL="45720" marR="45720" marT="18288" marB="18288">
                    <a:solidFill>
                      <a:srgbClr val="FFFFFF"/>
                    </a:solidFill>
                  </a:tcPr>
                </a:tc>
                <a:tc>
                  <a:txBody>
                    <a:bodyPr wrap="square"/>
                    <a:lstStyle/>
                    <a:p>
                      <a:r>
                        <a:rPr sz="1000" b="0">
                          <a:solidFill>
                            <a:srgbClr val="1F2328"/>
                          </a:solidFill>
                          <a:latin typeface="Arial"/>
                        </a:rPr>
                        <a:t>p. 67</a:t>
                      </a:r>
                    </a:p>
                  </a:txBody>
                  <a:tcPr marL="45720" marR="45720" marT="18288" marB="18288">
                    <a:solidFill>
                      <a:srgbClr val="FFFFFF"/>
                    </a:solidFill>
                  </a:tcPr>
                </a:tc>
              </a:tr>
            </a:tbl>
          </a:graphicData>
        </a:graphic>
      </p:graphicFrame>
      <p:sp>
        <p:nvSpPr>
          <p:cNvPr id="7" name="TextBox 6"/>
          <p:cNvSpPr txBox="1"/>
          <p:nvPr/>
        </p:nvSpPr>
        <p:spPr>
          <a:xfrm>
            <a:off x="548640" y="4281932"/>
            <a:ext cx="11094415" cy="231902"/>
          </a:xfrm>
          <a:prstGeom prst="rect">
            <a:avLst/>
          </a:prstGeom>
          <a:noFill/>
        </p:spPr>
        <p:txBody>
          <a:bodyPr wrap="square" lIns="45720" rIns="45720" tIns="27432" bIns="27432" anchor="t">
            <a:spAutoFit/>
          </a:bodyPr>
          <a:lstStyle/>
          <a:p>
            <a:r>
              <a:rPr sz="1000" b="0" i="0">
                <a:solidFill>
                  <a:srgbClr val="57606A"/>
                </a:solidFill>
                <a:latin typeface="Arial"/>
              </a:rPr>
              <a:t>Status is read from the sentence: 'expected to join' = in transition; 'left the Group' = departed. The report's own date is its as-of date; later appointments are not covered.</a:t>
            </a:r>
          </a:p>
        </p:txBody>
      </p:sp>
      <p:sp>
        <p:nvSpPr>
          <p:cNvPr id="8" name="plumbdeck-sowhat"/>
          <p:cNvSpPr txBox="1"/>
          <p:nvPr/>
        </p:nvSpPr>
        <p:spPr>
          <a:xfrm>
            <a:off x="548640" y="5212080"/>
            <a:ext cx="11094415" cy="411480"/>
          </a:xfrm>
          <a:prstGeom prst="rect">
            <a:avLst/>
          </a:prstGeom>
          <a:solidFill>
            <a:srgbClr val="EEF1F4"/>
          </a:solidFill>
          <a:ln>
            <a:solidFill>
              <a:srgbClr val="2F4B66"/>
            </a:solidFill>
          </a:ln>
        </p:spPr>
        <p:txBody>
          <a:bodyPr wrap="square" lIns="45720" rIns="45720" tIns="27432" bIns="27432" anchor="ctr">
            <a:spAutoFit/>
          </a:bodyPr>
          <a:lstStyle/>
          <a:p>
            <a:r>
              <a:rPr sz="1100" b="1" i="0">
                <a:solidFill>
                  <a:srgbClr val="1F2328"/>
                </a:solidFill>
                <a:latin typeface="Arial"/>
              </a:rPr>
              <a:t>So what: continuity of AI ownership is not established by the public record; S08 asks who holds the seat now.</a:t>
            </a:r>
          </a:p>
        </p:txBody>
      </p:sp>
      <p:sp>
        <p:nvSpPr>
          <p:cNvPr id="9" name="plumbdeck-source"/>
          <p:cNvSpPr txBox="1"/>
          <p:nvPr/>
        </p:nvSpPr>
        <p:spPr>
          <a:xfrm>
            <a:off x="548640" y="5943600"/>
            <a:ext cx="11094415" cy="347472"/>
          </a:xfrm>
          <a:prstGeom prst="rect">
            <a:avLst/>
          </a:prstGeom>
          <a:noFill/>
        </p:spPr>
        <p:txBody>
          <a:bodyPr wrap="square" lIns="45720" rIns="45720" tIns="27432" bIns="27432" anchor="t">
            <a:spAutoFit/>
          </a:bodyPr>
          <a:lstStyle/>
          <a:p>
            <a:r>
              <a:rPr sz="900" b="0" i="0">
                <a:solidFill>
                  <a:srgbClr val="57606A"/>
                </a:solidFill>
                <a:latin typeface="Arial"/>
              </a:rPr>
              <a:t>Source: T2 Great Eastern Holdings Limited annual report FY2025 pp. 41, 67 (attached; publisher hash unreconciled), 2026-10-25; confidence: filed</a:t>
            </a:r>
          </a:p>
        </p:txBody>
      </p:sp>
      <p:sp>
        <p:nvSpPr>
          <p:cNvPr id="10" name="Rectangle 9"/>
          <p:cNvSpPr/>
          <p:nvPr/>
        </p:nvSpPr>
        <p:spPr>
          <a:xfrm>
            <a:off x="548640" y="6322885"/>
            <a:ext cx="11094415" cy="9525"/>
          </a:xfrm>
          <a:prstGeom prst="rect">
            <a:avLst/>
          </a:prstGeom>
          <a:solidFill>
            <a:srgbClr val="D0D7DE"/>
          </a:solidFill>
          <a:ln>
            <a:noFill/>
          </a:ln>
          <a:effectLst/>
        </p:spPr>
        <p:txBody>
          <a:bodyPr rtlCol="0" anchor="ctr"/>
          <a:lstStyle/>
          <a:p>
            <a:pPr algn="ctr"/>
          </a:p>
        </p:txBody>
      </p:sp>
      <p:sp>
        <p:nvSpPr>
          <p:cNvPr id="11" name="plumbdeck-footer"/>
          <p:cNvSpPr txBox="1"/>
          <p:nvPr/>
        </p:nvSpPr>
        <p:spPr>
          <a:xfrm>
            <a:off x="548640" y="6373368"/>
            <a:ext cx="10362895" cy="365760"/>
          </a:xfrm>
          <a:prstGeom prst="rect">
            <a:avLst/>
          </a:prstGeom>
          <a:noFill/>
        </p:spPr>
        <p:txBody>
          <a:bodyPr wrap="square" lIns="45720" rIns="45720" tIns="27432" bIns="27432" anchor="t">
            <a:spAutoFit/>
          </a:bodyPr>
          <a:lstStyle/>
          <a:p>
            <a:r>
              <a:rPr sz="800" b="0" i="0">
                <a:solidFill>
                  <a:srgbClr val="57606A"/>
                </a:solidFill>
                <a:latin typeface="Arial"/>
              </a:rPr>
              <a:t>DRAFT — not for board use. Deliverable PLUMB-PR-great-eastern-research-e0bc54685dce v0.1.</a:t>
            </a:r>
          </a:p>
        </p:txBody>
      </p:sp>
      <p:sp>
        <p:nvSpPr>
          <p:cNvPr id="12" name="TextBox 11"/>
          <p:cNvSpPr txBox="1"/>
          <p:nvPr/>
        </p:nvSpPr>
        <p:spPr>
          <a:xfrm>
            <a:off x="11002975" y="6373368"/>
            <a:ext cx="640080" cy="274320"/>
          </a:xfrm>
          <a:prstGeom prst="rect">
            <a:avLst/>
          </a:prstGeom>
          <a:noFill/>
        </p:spPr>
        <p:txBody>
          <a:bodyPr wrap="square" lIns="45720" rIns="45720" tIns="27432" bIns="27432" anchor="t">
            <a:spAutoFit/>
          </a:bodyPr>
          <a:lstStyle/>
          <a:p>
            <a:pPr algn="r"/>
            <a:r>
              <a:rPr sz="800" b="0" i="0">
                <a:solidFill>
                  <a:srgbClr val="57606A"/>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plumbdeck-banner"/>
          <p:cNvSpPr txBox="1"/>
          <p:nvPr/>
        </p:nvSpPr>
        <p:spPr>
          <a:xfrm>
            <a:off x="0" y="0"/>
            <a:ext cx="12191695" cy="384048"/>
          </a:xfrm>
          <a:prstGeom prst="rect">
            <a:avLst/>
          </a:prstGeom>
          <a:solidFill>
            <a:srgbClr val="B42318"/>
          </a:solidFill>
        </p:spPr>
        <p:txBody>
          <a:bodyPr wrap="square" lIns="45720" rIns="45720" tIns="27432" bIns="27432" anchor="ctr">
            <a:spAutoFit/>
          </a:bodyPr>
          <a:lstStyle/>
          <a:p>
            <a:pPr algn="ctr"/>
            <a:r>
              <a:rPr sz="1100" b="1" i="0">
                <a:solidFill>
                  <a:srgbClr val="FFFFFF"/>
                </a:solidFill>
                <a:latin typeface="Arial"/>
              </a:rPr>
              <a:t>DRAFT — not for board use (internal profile; 1 attachment unreconciled; resolution 0.1429; no QA gate 3 sign-off)</a:t>
            </a:r>
          </a:p>
        </p:txBody>
      </p:sp>
      <p:sp>
        <p:nvSpPr>
          <p:cNvPr id="3" name="plumbdeck-section"/>
          <p:cNvSpPr txBox="1"/>
          <p:nvPr/>
        </p:nvSpPr>
        <p:spPr>
          <a:xfrm>
            <a:off x="548640" y="502920"/>
            <a:ext cx="11094415" cy="274320"/>
          </a:xfrm>
          <a:prstGeom prst="rect">
            <a:avLst/>
          </a:prstGeom>
          <a:noFill/>
        </p:spPr>
        <p:txBody>
          <a:bodyPr wrap="square" lIns="45720" rIns="45720" tIns="27432" bIns="27432" anchor="t">
            <a:spAutoFit/>
          </a:bodyPr>
          <a:lstStyle/>
          <a:p>
            <a:r>
              <a:rPr sz="1000" b="0" i="0">
                <a:solidFill>
                  <a:srgbClr val="57606A"/>
                </a:solidFill>
                <a:latin typeface="Arial"/>
              </a:rPr>
              <a:t>S06 · Disclosure rubric — what it can and cannot tell you</a:t>
            </a:r>
          </a:p>
        </p:txBody>
      </p:sp>
      <p:sp>
        <p:nvSpPr>
          <p:cNvPr id="4" name="plumbdeck-title"/>
          <p:cNvSpPr txBox="1"/>
          <p:nvPr/>
        </p:nvSpPr>
        <p:spPr>
          <a:xfrm>
            <a:off x="548640" y="822960"/>
            <a:ext cx="11094415" cy="795528"/>
          </a:xfrm>
          <a:prstGeom prst="rect">
            <a:avLst/>
          </a:prstGeom>
          <a:noFill/>
        </p:spPr>
        <p:txBody>
          <a:bodyPr wrap="square" lIns="45720" rIns="45720" tIns="27432" bIns="27432" anchor="t">
            <a:spAutoFit/>
          </a:bodyPr>
          <a:lstStyle/>
          <a:p>
            <a:r>
              <a:rPr sz="2000" b="1" i="0">
                <a:solidFill>
                  <a:srgbClr val="1F2328"/>
                </a:solidFill>
                <a:latin typeface="Arial"/>
              </a:rPr>
              <a:t>Great Eastern's FY2025 annual report reaches level 4 of 5 on the AI-disclosure rubric</a:t>
            </a:r>
          </a:p>
        </p:txBody>
      </p:sp>
      <p:sp>
        <p:nvSpPr>
          <p:cNvPr id="5" name="Rectangle 4"/>
          <p:cNvSpPr/>
          <p:nvPr/>
        </p:nvSpPr>
        <p:spPr>
          <a:xfrm>
            <a:off x="548640" y="1659445"/>
            <a:ext cx="11094415" cy="9525"/>
          </a:xfrm>
          <a:prstGeom prst="rect">
            <a:avLst/>
          </a:prstGeom>
          <a:solidFill>
            <a:srgbClr val="D0D7DE"/>
          </a:solidFill>
          <a:ln>
            <a:noFill/>
          </a:ln>
          <a:effectLst/>
        </p:spPr>
        <p:txBody>
          <a:bodyPr rtlCol="0" anchor="ctr"/>
          <a:lstStyle/>
          <a:p>
            <a:pPr algn="ctr"/>
          </a:p>
        </p:txBody>
      </p:sp>
      <p:graphicFrame>
        <p:nvGraphicFramePr>
          <p:cNvPr id="6" name="Table 5"/>
          <p:cNvGraphicFramePr>
            <a:graphicFrameLocks noGrp="1"/>
          </p:cNvGraphicFramePr>
          <p:nvPr/>
        </p:nvGraphicFramePr>
        <p:xfrm>
          <a:off x="548640" y="1801368"/>
          <a:ext cx="6741376" cy="2411725"/>
        </p:xfrm>
        <a:graphic>
          <a:graphicData uri="http://schemas.openxmlformats.org/drawingml/2006/table">
            <a:tbl>
              <a:tblPr firstRow="1" bandRow="1">
                <a:tableStyleId>{5C22544A-7EE6-4342-B048-85BDC9FD1C3A}</a:tableStyleId>
              </a:tblPr>
              <a:tblGrid>
                <a:gridCol w="1059359"/>
                <a:gridCol w="2792856"/>
                <a:gridCol w="577832"/>
                <a:gridCol w="2311329"/>
              </a:tblGrid>
              <a:tr h="249173">
                <a:tc>
                  <a:txBody>
                    <a:bodyPr wrap="square"/>
                    <a:lstStyle/>
                    <a:p>
                      <a:r>
                        <a:rPr sz="900" b="1">
                          <a:solidFill>
                            <a:srgbClr val="1F2328"/>
                          </a:solidFill>
                          <a:latin typeface="Arial"/>
                        </a:rPr>
                        <a:t>Component</a:t>
                      </a:r>
                    </a:p>
                  </a:txBody>
                  <a:tcPr marL="45720" marR="45720" marT="18288" marB="18288">
                    <a:solidFill>
                      <a:srgbClr val="EEF1F4"/>
                    </a:solidFill>
                  </a:tcPr>
                </a:tc>
                <a:tc>
                  <a:txBody>
                    <a:bodyPr wrap="square"/>
                    <a:lstStyle/>
                    <a:p>
                      <a:r>
                        <a:rPr sz="900" b="1">
                          <a:solidFill>
                            <a:srgbClr val="1F2328"/>
                          </a:solidFill>
                          <a:latin typeface="Arial"/>
                        </a:rPr>
                        <a:t>Rule (exact)</a:t>
                      </a:r>
                    </a:p>
                  </a:txBody>
                  <a:tcPr marL="45720" marR="45720" marT="18288" marB="18288">
                    <a:solidFill>
                      <a:srgbClr val="EEF1F4"/>
                    </a:solidFill>
                  </a:tcPr>
                </a:tc>
                <a:tc>
                  <a:txBody>
                    <a:bodyPr wrap="square"/>
                    <a:lstStyle/>
                    <a:p>
                      <a:r>
                        <a:rPr sz="900" b="1">
                          <a:solidFill>
                            <a:srgbClr val="1F2328"/>
                          </a:solidFill>
                          <a:latin typeface="Arial"/>
                        </a:rPr>
                        <a:t>Count</a:t>
                      </a:r>
                    </a:p>
                  </a:txBody>
                  <a:tcPr marL="45720" marR="45720" marT="18288" marB="18288">
                    <a:solidFill>
                      <a:srgbClr val="EEF1F4"/>
                    </a:solidFill>
                  </a:tcPr>
                </a:tc>
                <a:tc>
                  <a:txBody>
                    <a:bodyPr wrap="square"/>
                    <a:lstStyle/>
                    <a:p>
                      <a:r>
                        <a:rPr sz="900" b="1">
                          <a:solidFill>
                            <a:srgbClr val="1F2328"/>
                          </a:solidFill>
                          <a:latin typeface="Arial"/>
                        </a:rPr>
                        <a:t>Note</a:t>
                      </a:r>
                    </a:p>
                  </a:txBody>
                  <a:tcPr marL="45720" marR="45720" marT="18288" marB="18288">
                    <a:solidFill>
                      <a:srgbClr val="EEF1F4"/>
                    </a:solidFill>
                  </a:tcPr>
                </a:tc>
              </a:tr>
              <a:tr h="249173">
                <a:tc>
                  <a:txBody>
                    <a:bodyPr wrap="square"/>
                    <a:lstStyle/>
                    <a:p>
                      <a:r>
                        <a:rPr sz="900" b="0">
                          <a:solidFill>
                            <a:srgbClr val="1F2328"/>
                          </a:solidFill>
                          <a:latin typeface="Arial"/>
                        </a:rPr>
                        <a:t>specificity</a:t>
                      </a:r>
                    </a:p>
                  </a:txBody>
                  <a:tcPr marL="45720" marR="45720" marT="18288" marB="18288">
                    <a:solidFill>
                      <a:srgbClr val="FFFFFF"/>
                    </a:solidFill>
                  </a:tcPr>
                </a:tc>
                <a:tc>
                  <a:txBody>
                    <a:bodyPr wrap="square"/>
                    <a:lstStyle/>
                    <a:p>
                      <a:r>
                        <a:rPr sz="900" b="0">
                          <a:solidFill>
                            <a:srgbClr val="1F2328"/>
                          </a:solidFill>
                          <a:latin typeface="Arial"/>
                        </a:rPr>
                        <a:t>AI sentence naming a concrete use case</a:t>
                      </a:r>
                    </a:p>
                  </a:txBody>
                  <a:tcPr marL="45720" marR="45720" marT="18288" marB="18288">
                    <a:solidFill>
                      <a:srgbClr val="FFFFFF"/>
                    </a:solidFill>
                  </a:tcPr>
                </a:tc>
                <a:tc>
                  <a:txBody>
                    <a:bodyPr wrap="square"/>
                    <a:lstStyle/>
                    <a:p>
                      <a:r>
                        <a:rPr sz="900" b="0">
                          <a:solidFill>
                            <a:srgbClr val="1F2328"/>
                          </a:solidFill>
                          <a:latin typeface="Arial"/>
                        </a:rPr>
                        <a:t>10</a:t>
                      </a:r>
                    </a:p>
                  </a:txBody>
                  <a:tcPr marL="45720" marR="45720" marT="18288" marB="18288">
                    <a:solidFill>
                      <a:srgbClr val="FFFFFF"/>
                    </a:solidFill>
                  </a:tcPr>
                </a:tc>
                <a:tc>
                  <a:txBody>
                    <a:bodyPr wrap="square"/>
                    <a:lstStyle/>
                    <a:p>
                      <a:r>
                        <a:rPr sz="900" b="0">
                          <a:solidFill>
                            <a:srgbClr val="1F2328"/>
                          </a:solidFill>
                          <a:latin typeface="Arial"/>
                        </a:rPr>
                        <a:t/>
                      </a:r>
                    </a:p>
                  </a:txBody>
                  <a:tcPr marL="45720" marR="45720" marT="18288" marB="18288">
                    <a:solidFill>
                      <a:srgbClr val="FFFFFF"/>
                    </a:solidFill>
                  </a:tcPr>
                </a:tc>
              </a:tr>
              <a:tr h="249173">
                <a:tc>
                  <a:txBody>
                    <a:bodyPr wrap="square"/>
                    <a:lstStyle/>
                    <a:p>
                      <a:r>
                        <a:rPr sz="900" b="0">
                          <a:solidFill>
                            <a:srgbClr val="1F2328"/>
                          </a:solidFill>
                          <a:latin typeface="Arial"/>
                        </a:rPr>
                        <a:t>production</a:t>
                      </a:r>
                    </a:p>
                  </a:txBody>
                  <a:tcPr marL="45720" marR="45720" marT="18288" marB="18288">
                    <a:solidFill>
                      <a:srgbClr val="FFFFFF"/>
                    </a:solidFill>
                  </a:tcPr>
                </a:tc>
                <a:tc>
                  <a:txBody>
                    <a:bodyPr wrap="square"/>
                    <a:lstStyle/>
                    <a:p>
                      <a:r>
                        <a:rPr sz="900" b="0">
                          <a:solidFill>
                            <a:srgbClr val="1F2328"/>
                          </a:solidFill>
                          <a:latin typeface="Arial"/>
                        </a:rPr>
                        <a:t>AI sentence with deployment language</a:t>
                      </a:r>
                    </a:p>
                  </a:txBody>
                  <a:tcPr marL="45720" marR="45720" marT="18288" marB="18288">
                    <a:solidFill>
                      <a:srgbClr val="FFFFFF"/>
                    </a:solidFill>
                  </a:tcPr>
                </a:tc>
                <a:tc>
                  <a:txBody>
                    <a:bodyPr wrap="square"/>
                    <a:lstStyle/>
                    <a:p>
                      <a:r>
                        <a:rPr sz="900" b="0">
                          <a:solidFill>
                            <a:srgbClr val="1F2328"/>
                          </a:solidFill>
                          <a:latin typeface="Arial"/>
                        </a:rPr>
                        <a:t>3</a:t>
                      </a:r>
                    </a:p>
                  </a:txBody>
                  <a:tcPr marL="45720" marR="45720" marT="18288" marB="18288">
                    <a:solidFill>
                      <a:srgbClr val="FFFFFF"/>
                    </a:solidFill>
                  </a:tcPr>
                </a:tc>
                <a:tc>
                  <a:txBody>
                    <a:bodyPr wrap="square"/>
                    <a:lstStyle/>
                    <a:p>
                      <a:r>
                        <a:rPr sz="900" b="0">
                          <a:solidFill>
                            <a:srgbClr val="1F2328"/>
                          </a:solidFill>
                          <a:latin typeface="Arial"/>
                        </a:rPr>
                        <a:t/>
                      </a:r>
                    </a:p>
                  </a:txBody>
                  <a:tcPr marL="45720" marR="45720" marT="18288" marB="18288">
                    <a:solidFill>
                      <a:srgbClr val="FFFFFF"/>
                    </a:solidFill>
                  </a:tcPr>
                </a:tc>
              </a:tr>
              <a:tr h="388620">
                <a:tc>
                  <a:txBody>
                    <a:bodyPr wrap="square"/>
                    <a:lstStyle/>
                    <a:p>
                      <a:r>
                        <a:rPr sz="900" b="0">
                          <a:solidFill>
                            <a:srgbClr val="1F2328"/>
                          </a:solidFill>
                          <a:latin typeface="Arial"/>
                        </a:rPr>
                        <a:t>pilot_only</a:t>
                      </a:r>
                    </a:p>
                  </a:txBody>
                  <a:tcPr marL="45720" marR="45720" marT="18288" marB="18288">
                    <a:solidFill>
                      <a:srgbClr val="FFFFFF"/>
                    </a:solidFill>
                  </a:tcPr>
                </a:tc>
                <a:tc>
                  <a:txBody>
                    <a:bodyPr wrap="square"/>
                    <a:lstStyle/>
                    <a:p>
                      <a:r>
                        <a:rPr sz="900" b="0">
                          <a:solidFill>
                            <a:srgbClr val="1F2328"/>
                          </a:solidFill>
                          <a:latin typeface="Arial"/>
                        </a:rPr>
                        <a:t>pilot / test language without a deployment verb</a:t>
                      </a:r>
                    </a:p>
                  </a:txBody>
                  <a:tcPr marL="45720" marR="45720" marT="18288" marB="18288">
                    <a:solidFill>
                      <a:srgbClr val="FFFFFF"/>
                    </a:solidFill>
                  </a:tcPr>
                </a:tc>
                <a:tc>
                  <a:txBody>
                    <a:bodyPr wrap="square"/>
                    <a:lstStyle/>
                    <a:p>
                      <a:r>
                        <a:rPr sz="900" b="0">
                          <a:solidFill>
                            <a:srgbClr val="1F2328"/>
                          </a:solidFill>
                          <a:latin typeface="Arial"/>
                        </a:rPr>
                        <a:t>0</a:t>
                      </a:r>
                    </a:p>
                  </a:txBody>
                  <a:tcPr marL="45720" marR="45720" marT="18288" marB="18288">
                    <a:solidFill>
                      <a:srgbClr val="FFFFFF"/>
                    </a:solidFill>
                  </a:tcPr>
                </a:tc>
                <a:tc>
                  <a:txBody>
                    <a:bodyPr wrap="square"/>
                    <a:lstStyle/>
                    <a:p>
                      <a:r>
                        <a:rPr sz="900" b="0">
                          <a:solidFill>
                            <a:srgbClr val="1F2328"/>
                          </a:solidFill>
                          <a:latin typeface="Arial"/>
                        </a:rPr>
                        <a:t/>
                      </a:r>
                    </a:p>
                  </a:txBody>
                  <a:tcPr marL="45720" marR="45720" marT="18288" marB="18288">
                    <a:solidFill>
                      <a:srgbClr val="FFFFFF"/>
                    </a:solidFill>
                  </a:tcPr>
                </a:tc>
              </a:tr>
              <a:tr h="249173">
                <a:tc>
                  <a:txBody>
                    <a:bodyPr wrap="square"/>
                    <a:lstStyle/>
                    <a:p>
                      <a:r>
                        <a:rPr sz="900" b="0">
                          <a:solidFill>
                            <a:srgbClr val="1F2328"/>
                          </a:solidFill>
                          <a:latin typeface="Arial"/>
                        </a:rPr>
                        <a:t>quantified</a:t>
                      </a:r>
                    </a:p>
                  </a:txBody>
                  <a:tcPr marL="45720" marR="45720" marT="18288" marB="18288">
                    <a:solidFill>
                      <a:srgbClr val="FFFFFF"/>
                    </a:solidFill>
                  </a:tcPr>
                </a:tc>
                <a:tc>
                  <a:txBody>
                    <a:bodyPr wrap="square"/>
                    <a:lstStyle/>
                    <a:p>
                      <a:r>
                        <a:rPr sz="900" b="0">
                          <a:solidFill>
                            <a:srgbClr val="1F2328"/>
                          </a:solidFill>
                          <a:latin typeface="Arial"/>
                        </a:rPr>
                        <a:t>AI sentence with a number tied to an outcome</a:t>
                      </a:r>
                    </a:p>
                  </a:txBody>
                  <a:tcPr marL="45720" marR="45720" marT="18288" marB="18288">
                    <a:solidFill>
                      <a:srgbClr val="FFFFFF"/>
                    </a:solidFill>
                  </a:tcPr>
                </a:tc>
                <a:tc>
                  <a:txBody>
                    <a:bodyPr wrap="square"/>
                    <a:lstStyle/>
                    <a:p>
                      <a:r>
                        <a:rPr sz="900" b="0">
                          <a:solidFill>
                            <a:srgbClr val="1F2328"/>
                          </a:solidFill>
                          <a:latin typeface="Arial"/>
                        </a:rPr>
                        <a:t>3</a:t>
                      </a:r>
                    </a:p>
                  </a:txBody>
                  <a:tcPr marL="45720" marR="45720" marT="18288" marB="18288">
                    <a:solidFill>
                      <a:srgbClr val="FFFFFF"/>
                    </a:solidFill>
                  </a:tcPr>
                </a:tc>
                <a:tc>
                  <a:txBody>
                    <a:bodyPr wrap="square"/>
                    <a:lstStyle/>
                    <a:p>
                      <a:r>
                        <a:rPr sz="900" b="0">
                          <a:solidFill>
                            <a:srgbClr val="1F2328"/>
                          </a:solidFill>
                          <a:latin typeface="Arial"/>
                        </a:rPr>
                        <a:t/>
                      </a:r>
                    </a:p>
                  </a:txBody>
                  <a:tcPr marL="45720" marR="45720" marT="18288" marB="18288">
                    <a:solidFill>
                      <a:srgbClr val="FFFFFF"/>
                    </a:solidFill>
                  </a:tcPr>
                </a:tc>
              </a:tr>
              <a:tr h="388620">
                <a:tc>
                  <a:txBody>
                    <a:bodyPr wrap="square"/>
                    <a:lstStyle/>
                    <a:p>
                      <a:r>
                        <a:rPr sz="900" b="0">
                          <a:solidFill>
                            <a:srgbClr val="1F2328"/>
                          </a:solidFill>
                          <a:latin typeface="Arial"/>
                        </a:rPr>
                        <a:t>ownership</a:t>
                      </a:r>
                    </a:p>
                  </a:txBody>
                  <a:tcPr marL="45720" marR="45720" marT="18288" marB="18288">
                    <a:solidFill>
                      <a:srgbClr val="FFFFFF"/>
                    </a:solidFill>
                  </a:tcPr>
                </a:tc>
                <a:tc>
                  <a:txBody>
                    <a:bodyPr wrap="square"/>
                    <a:lstStyle/>
                    <a:p>
                      <a:r>
                        <a:rPr sz="900" b="0">
                          <a:solidFill>
                            <a:srgbClr val="1F2328"/>
                          </a:solidFill>
                          <a:latin typeface="Arial"/>
                        </a:rPr>
                        <a:t>AI sentence naming board, C-level AI/data title or targets</a:t>
                      </a:r>
                    </a:p>
                  </a:txBody>
                  <a:tcPr marL="45720" marR="45720" marT="18288" marB="18288">
                    <a:solidFill>
                      <a:srgbClr val="FFFFFF"/>
                    </a:solidFill>
                  </a:tcPr>
                </a:tc>
                <a:tc>
                  <a:txBody>
                    <a:bodyPr wrap="square"/>
                    <a:lstStyle/>
                    <a:p>
                      <a:r>
                        <a:rPr sz="900" b="0">
                          <a:solidFill>
                            <a:srgbClr val="1F2328"/>
                          </a:solidFill>
                          <a:latin typeface="Arial"/>
                        </a:rPr>
                        <a:t>2</a:t>
                      </a:r>
                    </a:p>
                  </a:txBody>
                  <a:tcPr marL="45720" marR="45720" marT="18288" marB="18288">
                    <a:solidFill>
                      <a:srgbClr val="FFFFFF"/>
                    </a:solidFill>
                  </a:tcPr>
                </a:tc>
                <a:tc>
                  <a:txBody>
                    <a:bodyPr wrap="square"/>
                    <a:lstStyle/>
                    <a:p>
                      <a:r>
                        <a:rPr sz="900" b="0">
                          <a:solidFill>
                            <a:srgbClr val="1F2328"/>
                          </a:solidFill>
                          <a:latin typeface="Arial"/>
                        </a:rPr>
                        <a:t/>
                      </a:r>
                    </a:p>
                  </a:txBody>
                  <a:tcPr marL="45720" marR="45720" marT="18288" marB="18288">
                    <a:solidFill>
                      <a:srgbClr val="FFFFFF"/>
                    </a:solidFill>
                  </a:tcPr>
                </a:tc>
              </a:tr>
              <a:tr h="388620">
                <a:tc>
                  <a:txBody>
                    <a:bodyPr wrap="square"/>
                    <a:lstStyle/>
                    <a:p>
                      <a:r>
                        <a:rPr sz="900" b="0">
                          <a:solidFill>
                            <a:srgbClr val="1F2328"/>
                          </a:solidFill>
                          <a:latin typeface="Arial"/>
                        </a:rPr>
                        <a:t>governance</a:t>
                      </a:r>
                    </a:p>
                  </a:txBody>
                  <a:tcPr marL="45720" marR="45720" marT="18288" marB="18288">
                    <a:solidFill>
                      <a:srgbClr val="FFFFFF"/>
                    </a:solidFill>
                  </a:tcPr>
                </a:tc>
                <a:tc>
                  <a:txBody>
                    <a:bodyPr wrap="square"/>
                    <a:lstStyle/>
                    <a:p>
                      <a:r>
                        <a:rPr sz="900" b="0">
                          <a:solidFill>
                            <a:srgbClr val="1F2328"/>
                          </a:solidFill>
                          <a:latin typeface="Arial"/>
                        </a:rPr>
                        <a:t>AI sentence with responsible-AI / model-risk lexicon</a:t>
                      </a:r>
                    </a:p>
                  </a:txBody>
                  <a:tcPr marL="45720" marR="45720" marT="18288" marB="18288">
                    <a:solidFill>
                      <a:srgbClr val="FFFFFF"/>
                    </a:solidFill>
                  </a:tcPr>
                </a:tc>
                <a:tc>
                  <a:txBody>
                    <a:bodyPr wrap="square"/>
                    <a:lstStyle/>
                    <a:p>
                      <a:r>
                        <a:rPr sz="900" b="0">
                          <a:solidFill>
                            <a:srgbClr val="1F2328"/>
                          </a:solidFill>
                          <a:latin typeface="Arial"/>
                        </a:rPr>
                        <a:t>see note</a:t>
                      </a:r>
                    </a:p>
                  </a:txBody>
                  <a:tcPr marL="45720" marR="45720" marT="18288" marB="18288">
                    <a:solidFill>
                      <a:srgbClr val="FFFFFF"/>
                    </a:solidFill>
                  </a:tcPr>
                </a:tc>
                <a:tc>
                  <a:txBody>
                    <a:bodyPr wrap="square"/>
                    <a:lstStyle/>
                    <a:p>
                      <a:r>
                        <a:rPr sz="900" b="0">
                          <a:solidFill>
                            <a:srgbClr val="1F2328"/>
                          </a:solidFill>
                          <a:latin typeface="Arial"/>
                        </a:rPr>
                        <a:t>lexicon hits 0: not a score; asked as Q1 on the questions slide</a:t>
                      </a:r>
                    </a:p>
                  </a:txBody>
                  <a:tcPr marL="45720" marR="45720" marT="18288" marB="18288">
                    <a:solidFill>
                      <a:srgbClr val="FFFFFF"/>
                    </a:solidFill>
                  </a:tcPr>
                </a:tc>
              </a:tr>
              <a:tr h="249173">
                <a:tc>
                  <a:txBody>
                    <a:bodyPr wrap="square"/>
                    <a:lstStyle/>
                    <a:p>
                      <a:r>
                        <a:rPr sz="900" b="0">
                          <a:solidFill>
                            <a:srgbClr val="1F2328"/>
                          </a:solidFill>
                          <a:latin typeface="Arial"/>
                        </a:rPr>
                        <a:t>mentions</a:t>
                      </a:r>
                    </a:p>
                  </a:txBody>
                  <a:tcPr marL="45720" marR="45720" marT="18288" marB="18288">
                    <a:solidFill>
                      <a:srgbClr val="FFFFFF"/>
                    </a:solidFill>
                  </a:tcPr>
                </a:tc>
                <a:tc>
                  <a:txBody>
                    <a:bodyPr wrap="square"/>
                    <a:lstStyle/>
                    <a:p>
                      <a:r>
                        <a:rPr sz="900" b="0">
                          <a:solidFill>
                            <a:srgbClr val="1F2328"/>
                          </a:solidFill>
                          <a:latin typeface="Arial"/>
                        </a:rPr>
                        <a:t>AI-term mentions per 1,000 words</a:t>
                      </a:r>
                    </a:p>
                  </a:txBody>
                  <a:tcPr marL="45720" marR="45720" marT="18288" marB="18288">
                    <a:solidFill>
                      <a:srgbClr val="FFFFFF"/>
                    </a:solidFill>
                  </a:tcPr>
                </a:tc>
                <a:tc>
                  <a:txBody>
                    <a:bodyPr wrap="square"/>
                    <a:lstStyle/>
                    <a:p>
                      <a:r>
                        <a:rPr sz="900" b="0">
                          <a:solidFill>
                            <a:srgbClr val="1F2328"/>
                          </a:solidFill>
                          <a:latin typeface="Arial"/>
                        </a:rPr>
                        <a:t>0.24</a:t>
                      </a:r>
                    </a:p>
                  </a:txBody>
                  <a:tcPr marL="45720" marR="45720" marT="18288" marB="18288">
                    <a:solidFill>
                      <a:srgbClr val="FFFFFF"/>
                    </a:solidFill>
                  </a:tcPr>
                </a:tc>
                <a:tc>
                  <a:txBody>
                    <a:bodyPr wrap="square"/>
                    <a:lstStyle/>
                    <a:p>
                      <a:r>
                        <a:rPr sz="900" b="0">
                          <a:solidFill>
                            <a:srgbClr val="1F2328"/>
                          </a:solidFill>
                          <a:latin typeface="Arial"/>
                        </a:rPr>
                        <a:t>25 mentions</a:t>
                      </a:r>
                    </a:p>
                  </a:txBody>
                  <a:tcPr marL="45720" marR="45720" marT="18288" marB="18288">
                    <a:solidFill>
                      <a:srgbClr val="FFFFFF"/>
                    </a:solidFill>
                  </a:tcPr>
                </a:tc>
              </a:tr>
            </a:tbl>
          </a:graphicData>
        </a:graphic>
      </p:graphicFrame>
      <p:sp>
        <p:nvSpPr>
          <p:cNvPr id="7" name="TextBox 6"/>
          <p:cNvSpPr txBox="1"/>
          <p:nvPr/>
        </p:nvSpPr>
        <p:spPr>
          <a:xfrm>
            <a:off x="548640" y="4350258"/>
            <a:ext cx="6741377" cy="390652"/>
          </a:xfrm>
          <a:prstGeom prst="rect">
            <a:avLst/>
          </a:prstGeom>
          <a:noFill/>
        </p:spPr>
        <p:txBody>
          <a:bodyPr wrap="square" lIns="45720" rIns="45720" tIns="27432" bIns="27432" anchor="t">
            <a:spAutoFit/>
          </a:bodyPr>
          <a:lstStyle/>
          <a:p>
            <a:r>
              <a:rPr sz="1000" b="0" i="0">
                <a:solidFill>
                  <a:srgbClr val="57606A"/>
                </a:solidFill>
                <a:latin typeface="Arial"/>
              </a:rPr>
              <a:t>Level rule met: L4: production language with &gt;=2 specific use cases and a quantified outcome or disclosed investment.</a:t>
            </a:r>
          </a:p>
        </p:txBody>
      </p:sp>
      <p:sp>
        <p:nvSpPr>
          <p:cNvPr id="8" name="TextBox 7"/>
          <p:cNvSpPr txBox="1"/>
          <p:nvPr/>
        </p:nvSpPr>
        <p:spPr>
          <a:xfrm>
            <a:off x="7564337" y="1801368"/>
            <a:ext cx="4078717" cy="263652"/>
          </a:xfrm>
          <a:prstGeom prst="rect">
            <a:avLst/>
          </a:prstGeom>
          <a:noFill/>
        </p:spPr>
        <p:txBody>
          <a:bodyPr wrap="square" lIns="45720" rIns="45720" tIns="27432" bIns="27432" anchor="t">
            <a:spAutoFit/>
          </a:bodyPr>
          <a:lstStyle/>
          <a:p>
            <a:r>
              <a:rPr sz="1200" b="1" i="0">
                <a:solidFill>
                  <a:srgbClr val="1F2328"/>
                </a:solidFill>
                <a:latin typeface="Arial"/>
              </a:rPr>
              <a:t>What the level can tell you (method note)</a:t>
            </a:r>
          </a:p>
        </p:txBody>
      </p:sp>
      <p:sp>
        <p:nvSpPr>
          <p:cNvPr id="9" name="TextBox 8"/>
          <p:cNvSpPr txBox="1"/>
          <p:nvPr/>
        </p:nvSpPr>
        <p:spPr>
          <a:xfrm>
            <a:off x="7564337" y="2065020"/>
            <a:ext cx="4078717" cy="1290828"/>
          </a:xfrm>
          <a:prstGeom prst="rect">
            <a:avLst/>
          </a:prstGeom>
          <a:noFill/>
        </p:spPr>
        <p:txBody>
          <a:bodyPr wrap="square">
            <a:spAutoFit/>
          </a:bodyPr>
          <a:lstStyle/>
          <a:p>
            <a:pPr>
              <a:spcAft>
                <a:spcPts val="300"/>
              </a:spcAft>
            </a:pPr>
            <a:r>
              <a:rPr sz="1100">
                <a:solidFill>
                  <a:srgbClr val="1F2328"/>
                </a:solidFill>
                <a:latin typeface="Arial"/>
              </a:rPr>
              <a:t>• How specifically the report describes AI use, on a published 1–5 ladder (Yu et al.)</a:t>
            </a:r>
          </a:p>
          <a:p>
            <a:pPr>
              <a:spcAft>
                <a:spcPts val="300"/>
              </a:spcAft>
            </a:pPr>
            <a:r>
              <a:rPr sz="1100">
                <a:solidFill>
                  <a:srgbClr val="1F2328"/>
                </a:solidFill>
                <a:latin typeface="Arial"/>
              </a:rPr>
              <a:t>• Which sentences triggered each component — each a released quotation in A1</a:t>
            </a:r>
          </a:p>
          <a:p>
            <a:pPr>
              <a:spcAft>
                <a:spcPts val="300"/>
              </a:spcAft>
            </a:pPr>
            <a:r>
              <a:rPr sz="1100">
                <a:solidFill>
                  <a:srgbClr val="1F2328"/>
                </a:solidFill>
                <a:latin typeface="Arial"/>
              </a:rPr>
              <a:t>• A like-for-like signal across named peers once their reports are run</a:t>
            </a:r>
          </a:p>
        </p:txBody>
      </p:sp>
      <p:sp>
        <p:nvSpPr>
          <p:cNvPr id="10" name="TextBox 9"/>
          <p:cNvSpPr txBox="1"/>
          <p:nvPr/>
        </p:nvSpPr>
        <p:spPr>
          <a:xfrm>
            <a:off x="7564337" y="3355848"/>
            <a:ext cx="4078717" cy="263652"/>
          </a:xfrm>
          <a:prstGeom prst="rect">
            <a:avLst/>
          </a:prstGeom>
          <a:noFill/>
        </p:spPr>
        <p:txBody>
          <a:bodyPr wrap="square" lIns="45720" rIns="45720" tIns="27432" bIns="27432" anchor="t">
            <a:spAutoFit/>
          </a:bodyPr>
          <a:lstStyle/>
          <a:p>
            <a:r>
              <a:rPr sz="1200" b="1" i="0">
                <a:solidFill>
                  <a:srgbClr val="1F2328"/>
                </a:solidFill>
                <a:latin typeface="Arial"/>
              </a:rPr>
              <a:t>What it cannot tell you (method note)</a:t>
            </a:r>
          </a:p>
        </p:txBody>
      </p:sp>
      <p:sp>
        <p:nvSpPr>
          <p:cNvPr id="11" name="TextBox 10"/>
          <p:cNvSpPr txBox="1"/>
          <p:nvPr/>
        </p:nvSpPr>
        <p:spPr>
          <a:xfrm>
            <a:off x="7564337" y="3619500"/>
            <a:ext cx="4078717" cy="1509014"/>
          </a:xfrm>
          <a:prstGeom prst="rect">
            <a:avLst/>
          </a:prstGeom>
          <a:noFill/>
        </p:spPr>
        <p:txBody>
          <a:bodyPr wrap="square">
            <a:spAutoFit/>
          </a:bodyPr>
          <a:lstStyle/>
          <a:p>
            <a:pPr>
              <a:spcAft>
                <a:spcPts val="300"/>
              </a:spcAft>
            </a:pPr>
            <a:r>
              <a:rPr sz="1100">
                <a:solidFill>
                  <a:srgbClr val="1F2328"/>
                </a:solidFill>
                <a:latin typeface="Arial"/>
              </a:rPr>
              <a:t>• Whether the systems work or at what scale: a report describes, it does not evidence</a:t>
            </a:r>
          </a:p>
          <a:p>
            <a:pPr>
              <a:spcAft>
                <a:spcPts val="300"/>
              </a:spcAft>
            </a:pPr>
            <a:r>
              <a:rPr sz="1100">
                <a:solidFill>
                  <a:srgbClr val="1F2328"/>
                </a:solidFill>
                <a:latin typeface="Arial"/>
              </a:rPr>
              <a:t>• Maturity: proxies corroborate only and never lift an item above level 3 (instrument §5.4)</a:t>
            </a:r>
          </a:p>
          <a:p>
            <a:pPr>
              <a:spcAft>
                <a:spcPts val="300"/>
              </a:spcAft>
            </a:pPr>
            <a:r>
              <a:rPr sz="1100">
                <a:solidFill>
                  <a:srgbClr val="1F2328"/>
                </a:solidFill>
                <a:latin typeface="Arial"/>
              </a:rPr>
              <a:t>• Governance maturity: a lexicon count in one document is a question, not a score</a:t>
            </a:r>
          </a:p>
          <a:p>
            <a:pPr>
              <a:spcAft>
                <a:spcPts val="300"/>
              </a:spcAft>
            </a:pPr>
            <a:r>
              <a:rPr sz="1100">
                <a:solidFill>
                  <a:srgbClr val="1F2328"/>
                </a:solidFill>
                <a:latin typeface="Arial"/>
              </a:rPr>
              <a:t>• Rank among peers: peer reports have not been run</a:t>
            </a:r>
          </a:p>
        </p:txBody>
      </p:sp>
      <p:sp>
        <p:nvSpPr>
          <p:cNvPr id="12" name="plumbdeck-sowhat"/>
          <p:cNvSpPr txBox="1"/>
          <p:nvPr/>
        </p:nvSpPr>
        <p:spPr>
          <a:xfrm>
            <a:off x="548640" y="5212080"/>
            <a:ext cx="11094415" cy="411480"/>
          </a:xfrm>
          <a:prstGeom prst="rect">
            <a:avLst/>
          </a:prstGeom>
          <a:solidFill>
            <a:srgbClr val="EEF1F4"/>
          </a:solidFill>
          <a:ln>
            <a:solidFill>
              <a:srgbClr val="2F4B66"/>
            </a:solidFill>
          </a:ln>
        </p:spPr>
        <p:txBody>
          <a:bodyPr wrap="square" lIns="45720" rIns="45720" tIns="27432" bIns="27432" anchor="ctr">
            <a:spAutoFit/>
          </a:bodyPr>
          <a:lstStyle/>
          <a:p>
            <a:r>
              <a:rPr sz="1100" b="1" i="0">
                <a:solidFill>
                  <a:srgbClr val="1F2328"/>
                </a:solidFill>
                <a:latin typeface="Arial"/>
              </a:rPr>
              <a:t>So what: level 4 says the report is specific about AI; whether that AI is governed and measured is asked on S08.</a:t>
            </a:r>
          </a:p>
        </p:txBody>
      </p:sp>
      <p:sp>
        <p:nvSpPr>
          <p:cNvPr id="13" name="plumbdeck-source"/>
          <p:cNvSpPr txBox="1"/>
          <p:nvPr/>
        </p:nvSpPr>
        <p:spPr>
          <a:xfrm>
            <a:off x="548640" y="5943600"/>
            <a:ext cx="11094415" cy="347472"/>
          </a:xfrm>
          <a:prstGeom prst="rect">
            <a:avLst/>
          </a:prstGeom>
          <a:noFill/>
        </p:spPr>
        <p:txBody>
          <a:bodyPr wrap="square" lIns="45720" rIns="45720" tIns="27432" bIns="27432" anchor="t">
            <a:spAutoFit/>
          </a:bodyPr>
          <a:lstStyle/>
          <a:p>
            <a:r>
              <a:rPr sz="900" b="0" i="0">
                <a:solidFill>
                  <a:srgbClr val="57606A"/>
                </a:solidFill>
                <a:latin typeface="Arial"/>
              </a:rPr>
              <a:t>Source: T2 Great Eastern Holdings Limited annual report FY2025 pp. 8, 14, 31, 40, 67 (attached; publisher hash unreconciled), 2026-10-25; confidence: model-inferred</a:t>
            </a:r>
          </a:p>
        </p:txBody>
      </p:sp>
      <p:sp>
        <p:nvSpPr>
          <p:cNvPr id="14" name="Rectangle 13"/>
          <p:cNvSpPr/>
          <p:nvPr/>
        </p:nvSpPr>
        <p:spPr>
          <a:xfrm>
            <a:off x="548640" y="6322885"/>
            <a:ext cx="11094415" cy="9525"/>
          </a:xfrm>
          <a:prstGeom prst="rect">
            <a:avLst/>
          </a:prstGeom>
          <a:solidFill>
            <a:srgbClr val="D0D7DE"/>
          </a:solidFill>
          <a:ln>
            <a:noFill/>
          </a:ln>
          <a:effectLst/>
        </p:spPr>
        <p:txBody>
          <a:bodyPr rtlCol="0" anchor="ctr"/>
          <a:lstStyle/>
          <a:p>
            <a:pPr algn="ctr"/>
          </a:p>
        </p:txBody>
      </p:sp>
      <p:sp>
        <p:nvSpPr>
          <p:cNvPr id="15" name="plumbdeck-footer"/>
          <p:cNvSpPr txBox="1"/>
          <p:nvPr/>
        </p:nvSpPr>
        <p:spPr>
          <a:xfrm>
            <a:off x="548640" y="6373368"/>
            <a:ext cx="10362895" cy="365760"/>
          </a:xfrm>
          <a:prstGeom prst="rect">
            <a:avLst/>
          </a:prstGeom>
          <a:noFill/>
        </p:spPr>
        <p:txBody>
          <a:bodyPr wrap="square" lIns="45720" rIns="45720" tIns="27432" bIns="27432" anchor="t">
            <a:spAutoFit/>
          </a:bodyPr>
          <a:lstStyle/>
          <a:p>
            <a:r>
              <a:rPr sz="800" b="0" i="0">
                <a:solidFill>
                  <a:srgbClr val="57606A"/>
                </a:solidFill>
                <a:latin typeface="Arial"/>
              </a:rPr>
              <a:t>DRAFT — not for board use. Deliverable PLUMB-PR-great-eastern-research-e0bc54685dce v0.1.</a:t>
            </a:r>
          </a:p>
        </p:txBody>
      </p:sp>
      <p:sp>
        <p:nvSpPr>
          <p:cNvPr id="16" name="TextBox 15"/>
          <p:cNvSpPr txBox="1"/>
          <p:nvPr/>
        </p:nvSpPr>
        <p:spPr>
          <a:xfrm>
            <a:off x="11002975" y="6373368"/>
            <a:ext cx="640080" cy="274320"/>
          </a:xfrm>
          <a:prstGeom prst="rect">
            <a:avLst/>
          </a:prstGeom>
          <a:noFill/>
        </p:spPr>
        <p:txBody>
          <a:bodyPr wrap="square" lIns="45720" rIns="45720" tIns="27432" bIns="27432" anchor="t">
            <a:spAutoFit/>
          </a:bodyPr>
          <a:lstStyle/>
          <a:p>
            <a:pPr algn="r"/>
            <a:r>
              <a:rPr sz="800" b="0" i="0">
                <a:solidFill>
                  <a:srgbClr val="57606A"/>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plumbdeck-banner"/>
          <p:cNvSpPr txBox="1"/>
          <p:nvPr/>
        </p:nvSpPr>
        <p:spPr>
          <a:xfrm>
            <a:off x="0" y="0"/>
            <a:ext cx="12191695" cy="384048"/>
          </a:xfrm>
          <a:prstGeom prst="rect">
            <a:avLst/>
          </a:prstGeom>
          <a:solidFill>
            <a:srgbClr val="B42318"/>
          </a:solidFill>
        </p:spPr>
        <p:txBody>
          <a:bodyPr wrap="square" lIns="45720" rIns="45720" tIns="27432" bIns="27432" anchor="ctr">
            <a:spAutoFit/>
          </a:bodyPr>
          <a:lstStyle/>
          <a:p>
            <a:pPr algn="ctr"/>
            <a:r>
              <a:rPr sz="1100" b="1" i="0">
                <a:solidFill>
                  <a:srgbClr val="FFFFFF"/>
                </a:solidFill>
                <a:latin typeface="Arial"/>
              </a:rPr>
              <a:t>DRAFT — not for board use (internal profile; 1 attachment unreconciled; resolution 0.1429; no QA gate 3 sign-off)</a:t>
            </a:r>
          </a:p>
        </p:txBody>
      </p:sp>
      <p:sp>
        <p:nvSpPr>
          <p:cNvPr id="3" name="plumbdeck-section"/>
          <p:cNvSpPr txBox="1"/>
          <p:nvPr/>
        </p:nvSpPr>
        <p:spPr>
          <a:xfrm>
            <a:off x="548640" y="502920"/>
            <a:ext cx="11094415" cy="274320"/>
          </a:xfrm>
          <a:prstGeom prst="rect">
            <a:avLst/>
          </a:prstGeom>
          <a:noFill/>
        </p:spPr>
        <p:txBody>
          <a:bodyPr wrap="square" lIns="45720" rIns="45720" tIns="27432" bIns="27432" anchor="t">
            <a:spAutoFit/>
          </a:bodyPr>
          <a:lstStyle/>
          <a:p>
            <a:r>
              <a:rPr sz="1000" b="0" i="0">
                <a:solidFill>
                  <a:srgbClr val="57606A"/>
                </a:solidFill>
                <a:latin typeface="Arial"/>
              </a:rPr>
              <a:t>S07 · Regulatory clock  ·  withheld</a:t>
            </a:r>
          </a:p>
        </p:txBody>
      </p:sp>
      <p:sp>
        <p:nvSpPr>
          <p:cNvPr id="4" name="plumbdeck-title"/>
          <p:cNvSpPr txBox="1"/>
          <p:nvPr/>
        </p:nvSpPr>
        <p:spPr>
          <a:xfrm>
            <a:off x="548640" y="822960"/>
            <a:ext cx="11094415" cy="466344"/>
          </a:xfrm>
          <a:prstGeom prst="rect">
            <a:avLst/>
          </a:prstGeom>
          <a:noFill/>
        </p:spPr>
        <p:txBody>
          <a:bodyPr wrap="square" lIns="45720" rIns="45720" tIns="27432" bIns="27432" anchor="t">
            <a:spAutoFit/>
          </a:bodyPr>
          <a:lstStyle/>
          <a:p>
            <a:r>
              <a:rPr sz="2000" b="1" i="0">
                <a:solidFill>
                  <a:srgbClr val="1F2328"/>
                </a:solidFill>
                <a:latin typeface="Arial"/>
              </a:rPr>
              <a:t>[H] The MAS AI risk clock is withheld until its primary source is fetched</a:t>
            </a:r>
          </a:p>
        </p:txBody>
      </p:sp>
      <p:sp>
        <p:nvSpPr>
          <p:cNvPr id="5" name="Rectangle 4"/>
          <p:cNvSpPr/>
          <p:nvPr/>
        </p:nvSpPr>
        <p:spPr>
          <a:xfrm>
            <a:off x="548640" y="1330261"/>
            <a:ext cx="11094415" cy="9525"/>
          </a:xfrm>
          <a:prstGeom prst="rect">
            <a:avLst/>
          </a:prstGeom>
          <a:solidFill>
            <a:srgbClr val="D0D7DE"/>
          </a:solidFill>
          <a:ln>
            <a:noFill/>
          </a:ln>
          <a:effectLst/>
        </p:spPr>
        <p:txBody>
          <a:bodyPr rtlCol="0" anchor="ctr"/>
          <a:lstStyle/>
          <a:p>
            <a:pPr algn="ctr"/>
          </a:p>
        </p:txBody>
      </p:sp>
      <p:sp>
        <p:nvSpPr>
          <p:cNvPr id="6" name="TextBox 5"/>
          <p:cNvSpPr txBox="1"/>
          <p:nvPr/>
        </p:nvSpPr>
        <p:spPr>
          <a:xfrm>
            <a:off x="548640" y="1472184"/>
            <a:ext cx="11094415" cy="295402"/>
          </a:xfrm>
          <a:prstGeom prst="rect">
            <a:avLst/>
          </a:prstGeom>
          <a:noFill/>
        </p:spPr>
        <p:txBody>
          <a:bodyPr wrap="square" lIns="45720" rIns="45720" tIns="27432" bIns="27432" anchor="t">
            <a:spAutoFit/>
          </a:bodyPr>
          <a:lstStyle/>
          <a:p>
            <a:r>
              <a:rPr sz="1400" b="1" i="0">
                <a:solidFill>
                  <a:srgbClr val="8A4B00"/>
                </a:solidFill>
                <a:latin typeface="Arial"/>
              </a:rPr>
              <a:t>Withheld — see gap register G-5, G-6, G-7</a:t>
            </a:r>
          </a:p>
        </p:txBody>
      </p:sp>
      <p:sp>
        <p:nvSpPr>
          <p:cNvPr id="7" name="TextBox 6"/>
          <p:cNvSpPr txBox="1"/>
          <p:nvPr/>
        </p:nvSpPr>
        <p:spPr>
          <a:xfrm>
            <a:off x="548640" y="1767586"/>
            <a:ext cx="11094415" cy="231902"/>
          </a:xfrm>
          <a:prstGeom prst="rect">
            <a:avLst/>
          </a:prstGeom>
          <a:noFill/>
        </p:spPr>
        <p:txBody>
          <a:bodyPr wrap="square" lIns="45720" rIns="45720" tIns="27432" bIns="27432" anchor="t">
            <a:spAutoFit/>
          </a:bodyPr>
          <a:lstStyle/>
          <a:p>
            <a:r>
              <a:rPr sz="1000" b="0" i="0">
                <a:solidFill>
                  <a:srgbClr val="57606A"/>
                </a:solidFill>
                <a:latin typeface="Arial"/>
              </a:rPr>
              <a:t>Every item bound to this slide is withheld, so the slide is a placeholder until the gap register items close (block-not-flag, pipeline C11).</a:t>
            </a:r>
          </a:p>
        </p:txBody>
      </p:sp>
      <p:sp>
        <p:nvSpPr>
          <p:cNvPr id="8" name="TextBox 7"/>
          <p:cNvSpPr txBox="1"/>
          <p:nvPr/>
        </p:nvSpPr>
        <p:spPr>
          <a:xfrm>
            <a:off x="548640" y="1999488"/>
            <a:ext cx="11094415" cy="231902"/>
          </a:xfrm>
          <a:prstGeom prst="rect">
            <a:avLst/>
          </a:prstGeom>
          <a:noFill/>
        </p:spPr>
        <p:txBody>
          <a:bodyPr wrap="square" lIns="45720" rIns="45720" tIns="27432" bIns="27432" anchor="t">
            <a:spAutoFit/>
          </a:bodyPr>
          <a:lstStyle/>
          <a:p>
            <a:r>
              <a:rPr sz="1000" b="0" i="0">
                <a:solidFill>
                  <a:srgbClr val="57606A"/>
                </a:solidFill>
                <a:latin typeface="Arial"/>
              </a:rPr>
              <a:t>Exhibit when built: MAS AIRM milestones (issued, takes effect, lifecycle controls) from the MAS primary PDF and landing page; compliance/regulatory-status-map.md MAS AIRM row</a:t>
            </a:r>
          </a:p>
        </p:txBody>
      </p:sp>
      <p:sp>
        <p:nvSpPr>
          <p:cNvPr id="9" name="Rectangle 8"/>
          <p:cNvSpPr/>
          <p:nvPr/>
        </p:nvSpPr>
        <p:spPr>
          <a:xfrm>
            <a:off x="548640" y="6322885"/>
            <a:ext cx="11094415" cy="9525"/>
          </a:xfrm>
          <a:prstGeom prst="rect">
            <a:avLst/>
          </a:prstGeom>
          <a:solidFill>
            <a:srgbClr val="D0D7DE"/>
          </a:solidFill>
          <a:ln>
            <a:noFill/>
          </a:ln>
          <a:effectLst/>
        </p:spPr>
        <p:txBody>
          <a:bodyPr rtlCol="0" anchor="ctr"/>
          <a:lstStyle/>
          <a:p>
            <a:pPr algn="ctr"/>
          </a:p>
        </p:txBody>
      </p:sp>
      <p:sp>
        <p:nvSpPr>
          <p:cNvPr id="10" name="plumbdeck-footer"/>
          <p:cNvSpPr txBox="1"/>
          <p:nvPr/>
        </p:nvSpPr>
        <p:spPr>
          <a:xfrm>
            <a:off x="548640" y="6373368"/>
            <a:ext cx="10362895" cy="365760"/>
          </a:xfrm>
          <a:prstGeom prst="rect">
            <a:avLst/>
          </a:prstGeom>
          <a:noFill/>
        </p:spPr>
        <p:txBody>
          <a:bodyPr wrap="square" lIns="45720" rIns="45720" tIns="27432" bIns="27432" anchor="t">
            <a:spAutoFit/>
          </a:bodyPr>
          <a:lstStyle/>
          <a:p>
            <a:r>
              <a:rPr sz="800" b="0" i="0">
                <a:solidFill>
                  <a:srgbClr val="57606A"/>
                </a:solidFill>
                <a:latin typeface="Arial"/>
              </a:rPr>
              <a:t>DRAFT — not for board use. Deliverable PLUMB-PR-great-eastern-research-e0bc54685dce v0.1.</a:t>
            </a:r>
          </a:p>
        </p:txBody>
      </p:sp>
      <p:sp>
        <p:nvSpPr>
          <p:cNvPr id="11" name="TextBox 10"/>
          <p:cNvSpPr txBox="1"/>
          <p:nvPr/>
        </p:nvSpPr>
        <p:spPr>
          <a:xfrm>
            <a:off x="11002975" y="6373368"/>
            <a:ext cx="640080" cy="274320"/>
          </a:xfrm>
          <a:prstGeom prst="rect">
            <a:avLst/>
          </a:prstGeom>
          <a:noFill/>
        </p:spPr>
        <p:txBody>
          <a:bodyPr wrap="square" lIns="45720" rIns="45720" tIns="27432" bIns="27432" anchor="t">
            <a:spAutoFit/>
          </a:bodyPr>
          <a:lstStyle/>
          <a:p>
            <a:pPr algn="r"/>
            <a:r>
              <a:rPr sz="800" b="0" i="0">
                <a:solidFill>
                  <a:srgbClr val="57606A"/>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plumbdeck-banner"/>
          <p:cNvSpPr txBox="1"/>
          <p:nvPr/>
        </p:nvSpPr>
        <p:spPr>
          <a:xfrm>
            <a:off x="0" y="0"/>
            <a:ext cx="12191695" cy="384048"/>
          </a:xfrm>
          <a:prstGeom prst="rect">
            <a:avLst/>
          </a:prstGeom>
          <a:solidFill>
            <a:srgbClr val="B42318"/>
          </a:solidFill>
        </p:spPr>
        <p:txBody>
          <a:bodyPr wrap="square" lIns="45720" rIns="45720" tIns="27432" bIns="27432" anchor="ctr">
            <a:spAutoFit/>
          </a:bodyPr>
          <a:lstStyle/>
          <a:p>
            <a:pPr algn="ctr"/>
            <a:r>
              <a:rPr sz="1100" b="1" i="0">
                <a:solidFill>
                  <a:srgbClr val="FFFFFF"/>
                </a:solidFill>
                <a:latin typeface="Arial"/>
              </a:rPr>
              <a:t>DRAFT — not for board use (internal profile; 1 attachment unreconciled; resolution 0.1429; no QA gate 3 sign-off)</a:t>
            </a:r>
          </a:p>
        </p:txBody>
      </p:sp>
      <p:sp>
        <p:nvSpPr>
          <p:cNvPr id="3" name="plumbdeck-section"/>
          <p:cNvSpPr txBox="1"/>
          <p:nvPr/>
        </p:nvSpPr>
        <p:spPr>
          <a:xfrm>
            <a:off x="548640" y="502920"/>
            <a:ext cx="11094415" cy="274320"/>
          </a:xfrm>
          <a:prstGeom prst="rect">
            <a:avLst/>
          </a:prstGeom>
          <a:noFill/>
        </p:spPr>
        <p:txBody>
          <a:bodyPr wrap="square" lIns="45720" rIns="45720" tIns="27432" bIns="27432" anchor="t">
            <a:spAutoFit/>
          </a:bodyPr>
          <a:lstStyle/>
          <a:p>
            <a:r>
              <a:rPr sz="1000" b="0" i="0">
                <a:solidFill>
                  <a:srgbClr val="57606A"/>
                </a:solidFill>
                <a:latin typeface="Arial"/>
              </a:rPr>
              <a:t>S08 · Questions for management</a:t>
            </a:r>
          </a:p>
        </p:txBody>
      </p:sp>
      <p:sp>
        <p:nvSpPr>
          <p:cNvPr id="4" name="plumbdeck-title"/>
          <p:cNvSpPr txBox="1"/>
          <p:nvPr/>
        </p:nvSpPr>
        <p:spPr>
          <a:xfrm>
            <a:off x="548640" y="822960"/>
            <a:ext cx="11094415" cy="466344"/>
          </a:xfrm>
          <a:prstGeom prst="rect">
            <a:avLst/>
          </a:prstGeom>
          <a:noFill/>
        </p:spPr>
        <p:txBody>
          <a:bodyPr wrap="square" lIns="45720" rIns="45720" tIns="27432" bIns="27432" anchor="t">
            <a:spAutoFit/>
          </a:bodyPr>
          <a:lstStyle/>
          <a:p>
            <a:r>
              <a:rPr sz="2000" b="1" i="0">
                <a:solidFill>
                  <a:srgbClr val="1F2328"/>
                </a:solidFill>
                <a:latin typeface="Arial"/>
              </a:rPr>
              <a:t>Six questions for management that the public record raises but cannot answer</a:t>
            </a:r>
          </a:p>
        </p:txBody>
      </p:sp>
      <p:sp>
        <p:nvSpPr>
          <p:cNvPr id="5" name="Rectangle 4"/>
          <p:cNvSpPr/>
          <p:nvPr/>
        </p:nvSpPr>
        <p:spPr>
          <a:xfrm>
            <a:off x="548640" y="1330261"/>
            <a:ext cx="11094415" cy="9525"/>
          </a:xfrm>
          <a:prstGeom prst="rect">
            <a:avLst/>
          </a:prstGeom>
          <a:solidFill>
            <a:srgbClr val="D0D7DE"/>
          </a:solidFill>
          <a:ln>
            <a:noFill/>
          </a:ln>
          <a:effectLst/>
        </p:spPr>
        <p:txBody>
          <a:bodyPr rtlCol="0" anchor="ctr"/>
          <a:lstStyle/>
          <a:p>
            <a:pPr algn="ctr"/>
          </a:p>
        </p:txBody>
      </p:sp>
      <p:graphicFrame>
        <p:nvGraphicFramePr>
          <p:cNvPr id="6" name="Table 5"/>
          <p:cNvGraphicFramePr>
            <a:graphicFrameLocks noGrp="1"/>
          </p:cNvGraphicFramePr>
          <p:nvPr/>
        </p:nvGraphicFramePr>
        <p:xfrm>
          <a:off x="548640" y="1472184"/>
          <a:ext cx="11094414" cy="3201917"/>
        </p:xfrm>
        <a:graphic>
          <a:graphicData uri="http://schemas.openxmlformats.org/drawingml/2006/table">
            <a:tbl>
              <a:tblPr firstRow="1" bandRow="1">
                <a:tableStyleId>{5C22544A-7EE6-4342-B048-85BDC9FD1C3A}</a:tableStyleId>
              </a:tblPr>
              <a:tblGrid>
                <a:gridCol w="962529"/>
                <a:gridCol w="5673856"/>
                <a:gridCol w="4458029"/>
              </a:tblGrid>
              <a:tr h="264667">
                <a:tc>
                  <a:txBody>
                    <a:bodyPr wrap="square"/>
                    <a:lstStyle/>
                    <a:p>
                      <a:r>
                        <a:rPr sz="1000" b="1">
                          <a:solidFill>
                            <a:srgbClr val="1F2328"/>
                          </a:solidFill>
                          <a:latin typeface="Arial"/>
                        </a:rPr>
                        <a:t>#</a:t>
                      </a:r>
                    </a:p>
                  </a:txBody>
                  <a:tcPr marL="45720" marR="45720" marT="18288" marB="18288">
                    <a:solidFill>
                      <a:srgbClr val="EEF1F4"/>
                    </a:solidFill>
                  </a:tcPr>
                </a:tc>
                <a:tc>
                  <a:txBody>
                    <a:bodyPr wrap="square"/>
                    <a:lstStyle/>
                    <a:p>
                      <a:r>
                        <a:rPr sz="1000" b="1">
                          <a:solidFill>
                            <a:srgbClr val="1F2328"/>
                          </a:solidFill>
                          <a:latin typeface="Arial"/>
                        </a:rPr>
                        <a:t>Question for management</a:t>
                      </a:r>
                    </a:p>
                  </a:txBody>
                  <a:tcPr marL="45720" marR="45720" marT="18288" marB="18288">
                    <a:solidFill>
                      <a:srgbClr val="EEF1F4"/>
                    </a:solidFill>
                  </a:tcPr>
                </a:tc>
                <a:tc>
                  <a:txBody>
                    <a:bodyPr wrap="square"/>
                    <a:lstStyle/>
                    <a:p>
                      <a:r>
                        <a:rPr sz="1000" b="1">
                          <a:solidFill>
                            <a:srgbClr val="1F2328"/>
                          </a:solidFill>
                          <a:latin typeface="Arial"/>
                        </a:rPr>
                        <a:t>Why we ask</a:t>
                      </a:r>
                    </a:p>
                  </a:txBody>
                  <a:tcPr marL="45720" marR="45720" marT="18288" marB="18288">
                    <a:solidFill>
                      <a:srgbClr val="EEF1F4"/>
                    </a:solidFill>
                  </a:tcPr>
                </a:tc>
              </a:tr>
              <a:tr h="574548">
                <a:tc>
                  <a:txBody>
                    <a:bodyPr wrap="square"/>
                    <a:lstStyle/>
                    <a:p>
                      <a:r>
                        <a:rPr sz="1000" b="0">
                          <a:solidFill>
                            <a:srgbClr val="1F2328"/>
                          </a:solidFill>
                          <a:latin typeface="Arial"/>
                        </a:rPr>
                        <a:t>Q1 (observation)</a:t>
                      </a:r>
                    </a:p>
                  </a:txBody>
                  <a:tcPr marL="45720" marR="45720" marT="18288" marB="18288">
                    <a:solidFill>
                      <a:srgbClr val="FFFFFF"/>
                    </a:solidFill>
                  </a:tcPr>
                </a:tc>
                <a:tc>
                  <a:txBody>
                    <a:bodyPr wrap="square"/>
                    <a:lstStyle/>
                    <a:p>
                      <a:r>
                        <a:rPr sz="1000" b="0">
                          <a:solidFill>
                            <a:srgbClr val="1F2328"/>
                          </a:solidFill>
                          <a:latin typeface="Arial"/>
                        </a:rPr>
                        <a:t>Where is the framework behind Great Eastern's AI governance statements documented, and who owns it?</a:t>
                      </a:r>
                    </a:p>
                  </a:txBody>
                  <a:tcPr marL="45720" marR="45720" marT="18288" marB="18288">
                    <a:solidFill>
                      <a:srgbClr val="FFFFFF"/>
                    </a:solidFill>
                  </a:tcPr>
                </a:tc>
                <a:tc>
                  <a:txBody>
                    <a:bodyPr wrap="square"/>
                    <a:lstStyle/>
                    <a:p>
                      <a:r>
                        <a:rPr sz="1000" b="0">
                          <a:solidFill>
                            <a:srgbClr val="1F2328"/>
                          </a:solidFill>
                          <a:latin typeface="Arial"/>
                        </a:rPr>
                        <a:t>Observation, not a finding: 0 hits for 17 AI-specific governance terms in 1–244 pp.; Quoted: p. 14, p. 40; board AI references quoted: p. 73, p. 80</a:t>
                      </a:r>
                    </a:p>
                  </a:txBody>
                  <a:tcPr marL="45720" marR="45720" marT="18288" marB="18288">
                    <a:solidFill>
                      <a:srgbClr val="FFFFFF"/>
                    </a:solidFill>
                  </a:tcPr>
                </a:tc>
              </a:tr>
              <a:tr h="419607">
                <a:tc>
                  <a:txBody>
                    <a:bodyPr wrap="square"/>
                    <a:lstStyle/>
                    <a:p>
                      <a:r>
                        <a:rPr sz="1000" b="0">
                          <a:solidFill>
                            <a:srgbClr val="1F2328"/>
                          </a:solidFill>
                          <a:latin typeface="Arial"/>
                        </a:rPr>
                        <a:t>Q2</a:t>
                      </a:r>
                    </a:p>
                  </a:txBody>
                  <a:tcPr marL="45720" marR="45720" marT="18288" marB="18288">
                    <a:solidFill>
                      <a:srgbClr val="FFFFFF"/>
                    </a:solidFill>
                  </a:tcPr>
                </a:tc>
                <a:tc>
                  <a:txBody>
                    <a:bodyPr wrap="square"/>
                    <a:lstStyle/>
                    <a:p>
                      <a:r>
                        <a:rPr sz="1000" b="0">
                          <a:solidFill>
                            <a:srgbClr val="1F2328"/>
                          </a:solidFill>
                          <a:latin typeface="Arial"/>
                        </a:rPr>
                        <a:t>Which AI risk policies does Great Eastern set itself, and which does it adopt from OCBC group?</a:t>
                      </a:r>
                    </a:p>
                  </a:txBody>
                  <a:tcPr marL="45720" marR="45720" marT="18288" marB="18288">
                    <a:solidFill>
                      <a:srgbClr val="FFFFFF"/>
                    </a:solidFill>
                  </a:tcPr>
                </a:tc>
                <a:tc>
                  <a:txBody>
                    <a:bodyPr wrap="square"/>
                    <a:lstStyle/>
                    <a:p>
                      <a:r>
                        <a:rPr sz="1000" b="0">
                          <a:solidFill>
                            <a:srgbClr val="1F2328"/>
                          </a:solidFill>
                          <a:latin typeface="Arial"/>
                        </a:rPr>
                        <a:t>Quoted: p. 67; OCBC-level frameworks were not examined (observation limitation)</a:t>
                      </a:r>
                    </a:p>
                  </a:txBody>
                  <a:tcPr marL="45720" marR="45720" marT="18288" marB="18288">
                    <a:solidFill>
                      <a:srgbClr val="FFFFFF"/>
                    </a:solidFill>
                  </a:tcPr>
                </a:tc>
              </a:tr>
              <a:tr h="419607">
                <a:tc>
                  <a:txBody>
                    <a:bodyPr wrap="square"/>
                    <a:lstStyle/>
                    <a:p>
                      <a:r>
                        <a:rPr sz="1000" b="0">
                          <a:solidFill>
                            <a:srgbClr val="1F2328"/>
                          </a:solidFill>
                          <a:latin typeface="Arial"/>
                        </a:rPr>
                        <a:t>Q3</a:t>
                      </a:r>
                    </a:p>
                  </a:txBody>
                  <a:tcPr marL="45720" marR="45720" marT="18288" marB="18288">
                    <a:solidFill>
                      <a:srgbClr val="FFFFFF"/>
                    </a:solidFill>
                  </a:tcPr>
                </a:tc>
                <a:tc>
                  <a:txBody>
                    <a:bodyPr wrap="square"/>
                    <a:lstStyle/>
                    <a:p>
                      <a:r>
                        <a:rPr sz="1000" b="0">
                          <a:solidFill>
                            <a:srgbClr val="1F2328"/>
                          </a:solidFill>
                          <a:latin typeface="Arial"/>
                        </a:rPr>
                        <a:t>Has a successor for the Group Data and AI seat been named since the report, with the same scope?</a:t>
                      </a:r>
                    </a:p>
                  </a:txBody>
                  <a:tcPr marL="45720" marR="45720" marT="18288" marB="18288">
                    <a:solidFill>
                      <a:srgbClr val="FFFFFF"/>
                    </a:solidFill>
                  </a:tcPr>
                </a:tc>
                <a:tc>
                  <a:txBody>
                    <a:bodyPr wrap="square"/>
                    <a:lstStyle/>
                    <a:p>
                      <a:r>
                        <a:rPr sz="1000" b="0">
                          <a:solidFill>
                            <a:srgbClr val="1F2328"/>
                          </a:solidFill>
                          <a:latin typeface="Arial"/>
                        </a:rPr>
                        <a:t>Quoted: p. 67; seat in transition at the report date</a:t>
                      </a:r>
                    </a:p>
                  </a:txBody>
                  <a:tcPr marL="45720" marR="45720" marT="18288" marB="18288">
                    <a:solidFill>
                      <a:srgbClr val="FFFFFF"/>
                    </a:solidFill>
                  </a:tcPr>
                </a:tc>
              </a:tr>
              <a:tr h="419607">
                <a:tc>
                  <a:txBody>
                    <a:bodyPr wrap="square"/>
                    <a:lstStyle/>
                    <a:p>
                      <a:r>
                        <a:rPr sz="1000" b="0">
                          <a:solidFill>
                            <a:srgbClr val="1F2328"/>
                          </a:solidFill>
                          <a:latin typeface="Arial"/>
                        </a:rPr>
                        <a:t>Q4</a:t>
                      </a:r>
                    </a:p>
                  </a:txBody>
                  <a:tcPr marL="45720" marR="45720" marT="18288" marB="18288">
                    <a:solidFill>
                      <a:srgbClr val="FFFFFF"/>
                    </a:solidFill>
                  </a:tcPr>
                </a:tc>
                <a:tc>
                  <a:txBody>
                    <a:bodyPr wrap="square"/>
                    <a:lstStyle/>
                    <a:p>
                      <a:r>
                        <a:rPr sz="1000" b="0">
                          <a:solidFill>
                            <a:srgbClr val="1F2328"/>
                          </a:solidFill>
                          <a:latin typeface="Arial"/>
                        </a:rPr>
                        <a:t>What evidence would move the underwriting AI from testing to production, and who approves it?</a:t>
                      </a:r>
                    </a:p>
                  </a:txBody>
                  <a:tcPr marL="45720" marR="45720" marT="18288" marB="18288">
                    <a:solidFill>
                      <a:srgbClr val="FFFFFF"/>
                    </a:solidFill>
                  </a:tcPr>
                </a:tc>
                <a:tc>
                  <a:txBody>
                    <a:bodyPr wrap="square"/>
                    <a:lstStyle/>
                    <a:p>
                      <a:r>
                        <a:rPr sz="1000" b="0">
                          <a:solidFill>
                            <a:srgbClr val="1F2328"/>
                          </a:solidFill>
                          <a:latin typeface="Arial"/>
                        </a:rPr>
                        <a:t>Quoted: p. 14; described as testing in the report</a:t>
                      </a:r>
                    </a:p>
                  </a:txBody>
                  <a:tcPr marL="45720" marR="45720" marT="18288" marB="18288">
                    <a:solidFill>
                      <a:srgbClr val="FFFFFF"/>
                    </a:solidFill>
                  </a:tcPr>
                </a:tc>
              </a:tr>
              <a:tr h="419607">
                <a:tc>
                  <a:txBody>
                    <a:bodyPr wrap="square"/>
                    <a:lstStyle/>
                    <a:p>
                      <a:r>
                        <a:rPr sz="1000" b="0">
                          <a:solidFill>
                            <a:srgbClr val="1F2328"/>
                          </a:solidFill>
                          <a:latin typeface="Arial"/>
                        </a:rPr>
                        <a:t>Q5</a:t>
                      </a:r>
                    </a:p>
                  </a:txBody>
                  <a:tcPr marL="45720" marR="45720" marT="18288" marB="18288">
                    <a:solidFill>
                      <a:srgbClr val="FFFFFF"/>
                    </a:solidFill>
                  </a:tcPr>
                </a:tc>
                <a:tc>
                  <a:txBody>
                    <a:bodyPr wrap="square"/>
                    <a:lstStyle/>
                    <a:p>
                      <a:r>
                        <a:rPr sz="1000" b="0">
                          <a:solidFill>
                            <a:srgbClr val="1F2328"/>
                          </a:solidFill>
                          <a:latin typeface="Arial"/>
                        </a:rPr>
                        <a:t>How are the reported 75% figures measured: baseline, period and population; which are outcomes and which aims?</a:t>
                      </a:r>
                    </a:p>
                  </a:txBody>
                  <a:tcPr marL="45720" marR="45720" marT="18288" marB="18288">
                    <a:solidFill>
                      <a:srgbClr val="FFFFFF"/>
                    </a:solidFill>
                  </a:tcPr>
                </a:tc>
                <a:tc>
                  <a:txBody>
                    <a:bodyPr wrap="square"/>
                    <a:lstStyle/>
                    <a:p>
                      <a:r>
                        <a:rPr sz="1000" b="0">
                          <a:solidFill>
                            <a:srgbClr val="1F2328"/>
                          </a:solidFill>
                          <a:latin typeface="Arial"/>
                        </a:rPr>
                        <a:t>Quoted: p. 14, p. 40; figures as reported; method not disclosed in the report</a:t>
                      </a:r>
                    </a:p>
                  </a:txBody>
                  <a:tcPr marL="45720" marR="45720" marT="18288" marB="18288">
                    <a:solidFill>
                      <a:srgbClr val="FFFFFF"/>
                    </a:solidFill>
                  </a:tcPr>
                </a:tc>
              </a:tr>
              <a:tr h="419607">
                <a:tc>
                  <a:txBody>
                    <a:bodyPr wrap="square"/>
                    <a:lstStyle/>
                    <a:p>
                      <a:r>
                        <a:rPr sz="1000" b="0">
                          <a:solidFill>
                            <a:srgbClr val="1F2328"/>
                          </a:solidFill>
                          <a:latin typeface="Arial"/>
                        </a:rPr>
                        <a:t>Q6</a:t>
                      </a:r>
                    </a:p>
                  </a:txBody>
                  <a:tcPr marL="45720" marR="45720" marT="18288" marB="18288">
                    <a:solidFill>
                      <a:srgbClr val="FFFFFF"/>
                    </a:solidFill>
                  </a:tcPr>
                </a:tc>
                <a:tc>
                  <a:txBody>
                    <a:bodyPr wrap="square"/>
                    <a:lstStyle/>
                    <a:p>
                      <a:r>
                        <a:rPr sz="1000" b="0">
                          <a:solidFill>
                            <a:srgbClr val="1F2328"/>
                          </a:solidFill>
                          <a:latin typeface="Arial"/>
                        </a:rPr>
                        <a:t>What changed in the 2025 Data &amp; AI operating-model restructure, and where does AI risk ownership sit?</a:t>
                      </a:r>
                    </a:p>
                  </a:txBody>
                  <a:tcPr marL="45720" marR="45720" marT="18288" marB="18288">
                    <a:solidFill>
                      <a:srgbClr val="FFFFFF"/>
                    </a:solidFill>
                  </a:tcPr>
                </a:tc>
                <a:tc>
                  <a:txBody>
                    <a:bodyPr wrap="square"/>
                    <a:lstStyle/>
                    <a:p>
                      <a:r>
                        <a:rPr sz="1000" b="0">
                          <a:solidFill>
                            <a:srgbClr val="1F2328"/>
                          </a:solidFill>
                          <a:latin typeface="Arial"/>
                        </a:rPr>
                        <a:t>Quoted: p. 41; restructure stated; design not described</a:t>
                      </a:r>
                    </a:p>
                  </a:txBody>
                  <a:tcPr marL="45720" marR="45720" marT="18288" marB="18288">
                    <a:solidFill>
                      <a:srgbClr val="FFFFFF"/>
                    </a:solidFill>
                  </a:tcPr>
                </a:tc>
              </a:tr>
              <a:tr h="264667">
                <a:tc>
                  <a:txBody>
                    <a:bodyPr wrap="square"/>
                    <a:lstStyle/>
                    <a:p>
                      <a:r>
                        <a:rPr sz="1000" b="0">
                          <a:solidFill>
                            <a:srgbClr val="1F2328"/>
                          </a:solidFill>
                          <a:latin typeface="Arial"/>
                        </a:rPr>
                        <a:t>Q7</a:t>
                      </a:r>
                    </a:p>
                  </a:txBody>
                  <a:tcPr marL="45720" marR="45720" marT="18288" marB="18288">
                    <a:solidFill>
                      <a:srgbClr val="FFFFFF"/>
                    </a:solidFill>
                  </a:tcPr>
                </a:tc>
                <a:tc>
                  <a:txBody>
                    <a:bodyPr wrap="square"/>
                    <a:lstStyle/>
                    <a:p>
                      <a:r>
                        <a:rPr sz="1000" b="0">
                          <a:solidFill>
                            <a:srgbClr val="8A4B00"/>
                          </a:solidFill>
                          <a:latin typeface="Arial"/>
                        </a:rPr>
                        <a:t>Withheld — see gap register G-5, G-6</a:t>
                      </a:r>
                    </a:p>
                  </a:txBody>
                  <a:tcPr marL="45720" marR="45720" marT="18288" marB="18288">
                    <a:solidFill>
                      <a:srgbClr val="FFFFFF"/>
                    </a:solidFill>
                  </a:tcPr>
                </a:tc>
                <a:tc>
                  <a:txBody>
                    <a:bodyPr wrap="square"/>
                    <a:lstStyle/>
                    <a:p>
                      <a:r>
                        <a:rPr sz="1000" b="0">
                          <a:solidFill>
                            <a:srgbClr val="1F2328"/>
                          </a:solidFill>
                          <a:latin typeface="Arial"/>
                        </a:rPr>
                        <a:t>basis withheld — listed in the gap register</a:t>
                      </a:r>
                    </a:p>
                  </a:txBody>
                  <a:tcPr marL="45720" marR="45720" marT="18288" marB="18288">
                    <a:solidFill>
                      <a:srgbClr val="FFFFFF"/>
                    </a:solidFill>
                  </a:tcPr>
                </a:tc>
              </a:tr>
            </a:tbl>
          </a:graphicData>
        </a:graphic>
      </p:graphicFrame>
      <p:sp>
        <p:nvSpPr>
          <p:cNvPr id="7" name="TextBox 6"/>
          <p:cNvSpPr txBox="1"/>
          <p:nvPr/>
        </p:nvSpPr>
        <p:spPr>
          <a:xfrm>
            <a:off x="548640" y="4811268"/>
            <a:ext cx="11094415" cy="390652"/>
          </a:xfrm>
          <a:prstGeom prst="rect">
            <a:avLst/>
          </a:prstGeom>
          <a:noFill/>
        </p:spPr>
        <p:txBody>
          <a:bodyPr wrap="square" lIns="45720" rIns="45720" tIns="27432" bIns="27432" anchor="t">
            <a:spAutoFit/>
          </a:bodyPr>
          <a:lstStyle/>
          <a:p>
            <a:r>
              <a:rPr sz="1000" b="0" i="0">
                <a:solidFill>
                  <a:srgbClr val="57606A"/>
                </a:solidFill>
                <a:latin typeface="Arial"/>
              </a:rPr>
              <a:t>Observation, not a finding — search record: annual report FY2025, SHA-256 ae320cb3ffa2…, pp. 1–244, engine pdftotext-layout; 0 hits for 17 AI-specific governance terms; broader terms: “governance” 106 (2 with an AI term), “ethics / ethical” 7 (0 with an AI term), “technology risk” 3 (0 with an AI term), “oversight” 19 (0 with an AI term).</a:t>
            </a:r>
          </a:p>
        </p:txBody>
      </p:sp>
      <p:sp>
        <p:nvSpPr>
          <p:cNvPr id="8" name="TextBox 7"/>
          <p:cNvSpPr txBox="1"/>
          <p:nvPr/>
        </p:nvSpPr>
        <p:spPr>
          <a:xfrm>
            <a:off x="548640" y="5201920"/>
            <a:ext cx="11094415" cy="390652"/>
          </a:xfrm>
          <a:prstGeom prst="rect">
            <a:avLst/>
          </a:prstGeom>
          <a:noFill/>
        </p:spPr>
        <p:txBody>
          <a:bodyPr wrap="square" lIns="45720" rIns="45720" tIns="27432" bIns="27432" anchor="t">
            <a:spAutoFit/>
          </a:bodyPr>
          <a:lstStyle/>
          <a:p>
            <a:r>
              <a:rPr sz="1000" b="0" i="0">
                <a:solidFill>
                  <a:srgbClr val="57606A"/>
                </a:solidFill>
                <a:latin typeface="Arial"/>
              </a:rPr>
              <a:t>Limitations: (1) one document searched; (2) exact-term lexicon; (3) group-level (OCBC) frameworks not read; (4) PDF extraction not checked by eye; (5) no independent human read; two-upstream rule not met. Full search record and limitations: gap register §6.</a:t>
            </a:r>
          </a:p>
        </p:txBody>
      </p:sp>
      <p:sp>
        <p:nvSpPr>
          <p:cNvPr id="9" name="plumbdeck-sowhat"/>
          <p:cNvSpPr txBox="1"/>
          <p:nvPr/>
        </p:nvSpPr>
        <p:spPr>
          <a:xfrm>
            <a:off x="548640" y="5486400"/>
            <a:ext cx="11094415" cy="411480"/>
          </a:xfrm>
          <a:prstGeom prst="rect">
            <a:avLst/>
          </a:prstGeom>
          <a:solidFill>
            <a:srgbClr val="EEF1F4"/>
          </a:solidFill>
          <a:ln>
            <a:solidFill>
              <a:srgbClr val="2F4B66"/>
            </a:solidFill>
          </a:ln>
        </p:spPr>
        <p:txBody>
          <a:bodyPr wrap="square" lIns="45720" rIns="45720" tIns="27432" bIns="27432" anchor="ctr">
            <a:spAutoFit/>
          </a:bodyPr>
          <a:lstStyle/>
          <a:p>
            <a:r>
              <a:rPr sz="1100" b="1" i="0">
                <a:solidFill>
                  <a:srgbClr val="1F2328"/>
                </a:solidFill>
                <a:latin typeface="Arial"/>
              </a:rPr>
              <a:t>So what: each answer moves an item from outside-in proxy to evidence; a Phase A assessment collects them (S09).</a:t>
            </a:r>
          </a:p>
        </p:txBody>
      </p:sp>
      <p:sp>
        <p:nvSpPr>
          <p:cNvPr id="10" name="plumbdeck-source"/>
          <p:cNvSpPr txBox="1"/>
          <p:nvPr/>
        </p:nvSpPr>
        <p:spPr>
          <a:xfrm>
            <a:off x="548640" y="5943600"/>
            <a:ext cx="11094415" cy="347472"/>
          </a:xfrm>
          <a:prstGeom prst="rect">
            <a:avLst/>
          </a:prstGeom>
          <a:noFill/>
        </p:spPr>
        <p:txBody>
          <a:bodyPr wrap="square" lIns="45720" rIns="45720" tIns="27432" bIns="27432" anchor="t">
            <a:spAutoFit/>
          </a:bodyPr>
          <a:lstStyle/>
          <a:p>
            <a:r>
              <a:rPr sz="900" b="0" i="0">
                <a:solidFill>
                  <a:srgbClr val="57606A"/>
                </a:solidFill>
                <a:latin typeface="Arial"/>
              </a:rPr>
              <a:t>Source: T2 Great Eastern Holdings Limited annual report FY2025 pp. 14, 40, 41, 67, 73, 80 (attached; publisher hash unreconciled), 2026-10-25; confidence: filed</a:t>
            </a:r>
          </a:p>
        </p:txBody>
      </p:sp>
      <p:sp>
        <p:nvSpPr>
          <p:cNvPr id="11" name="Rectangle 10"/>
          <p:cNvSpPr/>
          <p:nvPr/>
        </p:nvSpPr>
        <p:spPr>
          <a:xfrm>
            <a:off x="548640" y="6322885"/>
            <a:ext cx="11094415" cy="9525"/>
          </a:xfrm>
          <a:prstGeom prst="rect">
            <a:avLst/>
          </a:prstGeom>
          <a:solidFill>
            <a:srgbClr val="D0D7DE"/>
          </a:solidFill>
          <a:ln>
            <a:noFill/>
          </a:ln>
          <a:effectLst/>
        </p:spPr>
        <p:txBody>
          <a:bodyPr rtlCol="0" anchor="ctr"/>
          <a:lstStyle/>
          <a:p>
            <a:pPr algn="ctr"/>
          </a:p>
        </p:txBody>
      </p:sp>
      <p:sp>
        <p:nvSpPr>
          <p:cNvPr id="12" name="plumbdeck-footer"/>
          <p:cNvSpPr txBox="1"/>
          <p:nvPr/>
        </p:nvSpPr>
        <p:spPr>
          <a:xfrm>
            <a:off x="548640" y="6373368"/>
            <a:ext cx="10362895" cy="365760"/>
          </a:xfrm>
          <a:prstGeom prst="rect">
            <a:avLst/>
          </a:prstGeom>
          <a:noFill/>
        </p:spPr>
        <p:txBody>
          <a:bodyPr wrap="square" lIns="45720" rIns="45720" tIns="27432" bIns="27432" anchor="t">
            <a:spAutoFit/>
          </a:bodyPr>
          <a:lstStyle/>
          <a:p>
            <a:r>
              <a:rPr sz="800" b="0" i="0">
                <a:solidFill>
                  <a:srgbClr val="57606A"/>
                </a:solidFill>
                <a:latin typeface="Arial"/>
              </a:rPr>
              <a:t>DRAFT — not for board use. Deliverable PLUMB-PR-great-eastern-research-e0bc54685dce v0.1.</a:t>
            </a:r>
          </a:p>
        </p:txBody>
      </p:sp>
      <p:sp>
        <p:nvSpPr>
          <p:cNvPr id="13" name="TextBox 12"/>
          <p:cNvSpPr txBox="1"/>
          <p:nvPr/>
        </p:nvSpPr>
        <p:spPr>
          <a:xfrm>
            <a:off x="11002975" y="6373368"/>
            <a:ext cx="640080" cy="274320"/>
          </a:xfrm>
          <a:prstGeom prst="rect">
            <a:avLst/>
          </a:prstGeom>
          <a:noFill/>
        </p:spPr>
        <p:txBody>
          <a:bodyPr wrap="square" lIns="45720" rIns="45720" tIns="27432" bIns="27432" anchor="t">
            <a:spAutoFit/>
          </a:bodyPr>
          <a:lstStyle/>
          <a:p>
            <a:pPr algn="r"/>
            <a:r>
              <a:rPr sz="800" b="0" i="0">
                <a:solidFill>
                  <a:srgbClr val="57606A"/>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plumbdeck-banner"/>
          <p:cNvSpPr txBox="1"/>
          <p:nvPr/>
        </p:nvSpPr>
        <p:spPr>
          <a:xfrm>
            <a:off x="0" y="0"/>
            <a:ext cx="12191695" cy="384048"/>
          </a:xfrm>
          <a:prstGeom prst="rect">
            <a:avLst/>
          </a:prstGeom>
          <a:solidFill>
            <a:srgbClr val="B42318"/>
          </a:solidFill>
        </p:spPr>
        <p:txBody>
          <a:bodyPr wrap="square" lIns="45720" rIns="45720" tIns="27432" bIns="27432" anchor="ctr">
            <a:spAutoFit/>
          </a:bodyPr>
          <a:lstStyle/>
          <a:p>
            <a:pPr algn="ctr"/>
            <a:r>
              <a:rPr sz="1100" b="1" i="0">
                <a:solidFill>
                  <a:srgbClr val="FFFFFF"/>
                </a:solidFill>
                <a:latin typeface="Arial"/>
              </a:rPr>
              <a:t>DRAFT — not for board use (internal profile; 1 attachment unreconciled; resolution 0.1429; no QA gate 3 sign-off)</a:t>
            </a:r>
          </a:p>
        </p:txBody>
      </p:sp>
      <p:sp>
        <p:nvSpPr>
          <p:cNvPr id="3" name="plumbdeck-section"/>
          <p:cNvSpPr txBox="1"/>
          <p:nvPr/>
        </p:nvSpPr>
        <p:spPr>
          <a:xfrm>
            <a:off x="548640" y="502920"/>
            <a:ext cx="11094415" cy="274320"/>
          </a:xfrm>
          <a:prstGeom prst="rect">
            <a:avLst/>
          </a:prstGeom>
          <a:noFill/>
        </p:spPr>
        <p:txBody>
          <a:bodyPr wrap="square" lIns="45720" rIns="45720" tIns="27432" bIns="27432" anchor="t">
            <a:spAutoFit/>
          </a:bodyPr>
          <a:lstStyle/>
          <a:p>
            <a:r>
              <a:rPr sz="1000" b="0" i="0">
                <a:solidFill>
                  <a:srgbClr val="57606A"/>
                </a:solidFill>
                <a:latin typeface="Arial"/>
              </a:rPr>
              <a:t>S09 · What a PLUMB assessment would establish</a:t>
            </a:r>
          </a:p>
        </p:txBody>
      </p:sp>
      <p:sp>
        <p:nvSpPr>
          <p:cNvPr id="4" name="plumbdeck-title"/>
          <p:cNvSpPr txBox="1"/>
          <p:nvPr/>
        </p:nvSpPr>
        <p:spPr>
          <a:xfrm>
            <a:off x="548640" y="822960"/>
            <a:ext cx="11094415" cy="795528"/>
          </a:xfrm>
          <a:prstGeom prst="rect">
            <a:avLst/>
          </a:prstGeom>
          <a:noFill/>
        </p:spPr>
        <p:txBody>
          <a:bodyPr wrap="square" lIns="45720" rIns="45720" tIns="27432" bIns="27432" anchor="t">
            <a:spAutoFit/>
          </a:bodyPr>
          <a:lstStyle/>
          <a:p>
            <a:r>
              <a:rPr sz="2000" b="1" i="0">
                <a:solidFill>
                  <a:srgbClr val="1F2328"/>
                </a:solidFill>
                <a:latin typeface="Arial"/>
              </a:rPr>
              <a:t>A Phase A assessment would test these questions against evidence in 12 working days</a:t>
            </a:r>
          </a:p>
        </p:txBody>
      </p:sp>
      <p:sp>
        <p:nvSpPr>
          <p:cNvPr id="5" name="Rectangle 4"/>
          <p:cNvSpPr/>
          <p:nvPr/>
        </p:nvSpPr>
        <p:spPr>
          <a:xfrm>
            <a:off x="548640" y="1659445"/>
            <a:ext cx="11094415" cy="9525"/>
          </a:xfrm>
          <a:prstGeom prst="rect">
            <a:avLst/>
          </a:prstGeom>
          <a:solidFill>
            <a:srgbClr val="D0D7DE"/>
          </a:solidFill>
          <a:ln>
            <a:noFill/>
          </a:ln>
          <a:effectLst/>
        </p:spPr>
        <p:txBody>
          <a:bodyPr rtlCol="0" anchor="ctr"/>
          <a:lstStyle/>
          <a:p>
            <a:pPr algn="ctr"/>
          </a:p>
        </p:txBody>
      </p:sp>
      <p:sp>
        <p:nvSpPr>
          <p:cNvPr id="6" name="TextBox 5"/>
          <p:cNvSpPr txBox="1"/>
          <p:nvPr/>
        </p:nvSpPr>
        <p:spPr>
          <a:xfrm>
            <a:off x="548640" y="1801368"/>
            <a:ext cx="11094415" cy="263652"/>
          </a:xfrm>
          <a:prstGeom prst="rect">
            <a:avLst/>
          </a:prstGeom>
          <a:noFill/>
        </p:spPr>
        <p:txBody>
          <a:bodyPr wrap="square" lIns="45720" rIns="45720" tIns="27432" bIns="27432" anchor="t">
            <a:spAutoFit/>
          </a:bodyPr>
          <a:lstStyle/>
          <a:p>
            <a:r>
              <a:rPr sz="1200" b="1" i="0">
                <a:solidFill>
                  <a:srgbClr val="1F2328"/>
                </a:solidFill>
                <a:latin typeface="Arial"/>
              </a:rPr>
              <a:t>Offer — not a finding. What a PLUMB assessment would establish, and in what order.</a:t>
            </a:r>
          </a:p>
        </p:txBody>
      </p:sp>
      <p:sp>
        <p:nvSpPr>
          <p:cNvPr id="7" name="TextBox 6"/>
          <p:cNvSpPr txBox="1"/>
          <p:nvPr/>
        </p:nvSpPr>
        <p:spPr>
          <a:xfrm>
            <a:off x="548640" y="2065020"/>
            <a:ext cx="5410047" cy="454152"/>
          </a:xfrm>
          <a:prstGeom prst="rect">
            <a:avLst/>
          </a:prstGeom>
          <a:noFill/>
        </p:spPr>
        <p:txBody>
          <a:bodyPr wrap="square" lIns="45720" rIns="45720" tIns="27432" bIns="27432" anchor="t">
            <a:spAutoFit/>
          </a:bodyPr>
          <a:lstStyle/>
          <a:p>
            <a:r>
              <a:rPr sz="1200" b="1" i="0">
                <a:solidFill>
                  <a:srgbClr val="1F2328"/>
                </a:solidFill>
                <a:latin typeface="Arial"/>
              </a:rPr>
              <a:t>Phase A — public data, instrument, interviews (12 working days; no confidential data, no system access)</a:t>
            </a:r>
          </a:p>
        </p:txBody>
      </p:sp>
      <p:sp>
        <p:nvSpPr>
          <p:cNvPr id="8" name="TextBox 7"/>
          <p:cNvSpPr txBox="1"/>
          <p:nvPr/>
        </p:nvSpPr>
        <p:spPr>
          <a:xfrm>
            <a:off x="548640" y="2519172"/>
            <a:ext cx="5410047" cy="1908810"/>
          </a:xfrm>
          <a:prstGeom prst="rect">
            <a:avLst/>
          </a:prstGeom>
          <a:noFill/>
        </p:spPr>
        <p:txBody>
          <a:bodyPr wrap="square">
            <a:spAutoFit/>
          </a:bodyPr>
          <a:lstStyle/>
          <a:p>
            <a:pPr>
              <a:spcAft>
                <a:spcPts val="300"/>
              </a:spcAft>
            </a:pPr>
            <a:r>
              <a:rPr sz="1100">
                <a:solidFill>
                  <a:srgbClr val="1F2328"/>
                </a:solidFill>
                <a:latin typeface="Arial"/>
              </a:rPr>
              <a:t>• Outside-in research sprint on public sources, executed with egress and every attachment reconciled before anything is shown</a:t>
            </a:r>
          </a:p>
          <a:p>
            <a:pPr>
              <a:spcAft>
                <a:spcPts val="300"/>
              </a:spcAft>
            </a:pPr>
            <a:r>
              <a:rPr sz="1100">
                <a:solidFill>
                  <a:srgbClr val="1F2328"/>
                </a:solidFill>
                <a:latin typeface="Arial"/>
              </a:rPr>
              <a:t>• 48-item self-assessment to 10–30 leaders: self-view and evidenced view side by side</a:t>
            </a:r>
          </a:p>
          <a:p>
            <a:pPr>
              <a:spcAft>
                <a:spcPts val="300"/>
              </a:spcAft>
            </a:pPr>
            <a:r>
              <a:rPr sz="1100">
                <a:solidFill>
                  <a:srgbClr val="1F2328"/>
                </a:solidFill>
                <a:latin typeface="Arial"/>
              </a:rPr>
              <a:t>• 6–10 executive interviews: the S08 questions answered with artefacts, not assertions</a:t>
            </a:r>
          </a:p>
          <a:p>
            <a:pPr>
              <a:spcAft>
                <a:spcPts val="300"/>
              </a:spcAft>
            </a:pPr>
            <a:r>
              <a:rPr sz="1100">
                <a:solidFill>
                  <a:srgbClr val="1F2328"/>
                </a:solidFill>
                <a:latin typeface="Arial"/>
              </a:rPr>
              <a:t>• Rank within named core peers (n disclosed); no percentile below n = 15</a:t>
            </a:r>
          </a:p>
          <a:p>
            <a:pPr>
              <a:spcAft>
                <a:spcPts val="300"/>
              </a:spcAft>
            </a:pPr>
            <a:r>
              <a:rPr sz="1100">
                <a:solidFill>
                  <a:srgbClr val="1F2328"/>
                </a:solidFill>
                <a:latin typeface="Arial"/>
              </a:rPr>
              <a:t>• Gated use-case list and MAS-mapped evidence-pack skeleton; independent reviewer at QA gate 3</a:t>
            </a:r>
          </a:p>
        </p:txBody>
      </p:sp>
      <p:sp>
        <p:nvSpPr>
          <p:cNvPr id="9" name="TextBox 8"/>
          <p:cNvSpPr txBox="1"/>
          <p:nvPr/>
        </p:nvSpPr>
        <p:spPr>
          <a:xfrm>
            <a:off x="6233007" y="2065020"/>
            <a:ext cx="5410047" cy="454152"/>
          </a:xfrm>
          <a:prstGeom prst="rect">
            <a:avLst/>
          </a:prstGeom>
          <a:noFill/>
        </p:spPr>
        <p:txBody>
          <a:bodyPr wrap="square" lIns="45720" rIns="45720" tIns="27432" bIns="27432" anchor="t">
            <a:spAutoFit/>
          </a:bodyPr>
          <a:lstStyle/>
          <a:p>
            <a:r>
              <a:rPr sz="1200" b="1" i="0">
                <a:solidFill>
                  <a:srgbClr val="1F2328"/>
                </a:solidFill>
                <a:latin typeface="Arial"/>
              </a:rPr>
              <a:t>Phase B — confidential extracts (+8 working days, only after onboarding clears)</a:t>
            </a:r>
          </a:p>
        </p:txBody>
      </p:sp>
      <p:sp>
        <p:nvSpPr>
          <p:cNvPr id="10" name="TextBox 9"/>
          <p:cNvSpPr txBox="1"/>
          <p:nvPr/>
        </p:nvSpPr>
        <p:spPr>
          <a:xfrm>
            <a:off x="6233007" y="2519172"/>
            <a:ext cx="5410047" cy="1327404"/>
          </a:xfrm>
          <a:prstGeom prst="rect">
            <a:avLst/>
          </a:prstGeom>
          <a:noFill/>
        </p:spPr>
        <p:txBody>
          <a:bodyPr wrap="square">
            <a:spAutoFit/>
          </a:bodyPr>
          <a:lstStyle/>
          <a:p>
            <a:pPr>
              <a:spcAft>
                <a:spcPts val="300"/>
              </a:spcAft>
            </a:pPr>
            <a:r>
              <a:rPr sz="1100">
                <a:solidFill>
                  <a:srgbClr val="1F2328"/>
                </a:solidFill>
                <a:latin typeface="Arial"/>
              </a:rPr>
              <a:t>• KPI extracts into the value driver tree; value pools re-sized on client data</a:t>
            </a:r>
          </a:p>
          <a:p>
            <a:pPr>
              <a:spcAft>
                <a:spcPts val="300"/>
              </a:spcAft>
            </a:pPr>
            <a:r>
              <a:rPr sz="1100">
                <a:solidFill>
                  <a:srgbClr val="1F2328"/>
                </a:solidFill>
                <a:latin typeface="Arial"/>
              </a:rPr>
              <a:t>• AI inventory, governance papers, vendor contracts and incident log reviewed</a:t>
            </a:r>
          </a:p>
          <a:p>
            <a:pPr>
              <a:spcAft>
                <a:spcPts val="300"/>
              </a:spcAft>
            </a:pPr>
            <a:r>
              <a:rPr sz="1100">
                <a:solidFill>
                  <a:srgbClr val="1F2328"/>
                </a:solidFill>
                <a:latin typeface="Arial"/>
              </a:rPr>
              <a:t>• Business cases on system-measured baselines; measurement design</a:t>
            </a:r>
          </a:p>
          <a:p>
            <a:pPr>
              <a:spcAft>
                <a:spcPts val="300"/>
              </a:spcAft>
            </a:pPr>
            <a:r>
              <a:rPr sz="1100">
                <a:solidFill>
                  <a:srgbClr val="1F2328"/>
                </a:solidFill>
                <a:latin typeface="Arial"/>
              </a:rPr>
              <a:t>• Full 10-artefact evidence pack; QA gate 3 re-run on every changed number</a:t>
            </a:r>
          </a:p>
        </p:txBody>
      </p:sp>
      <p:sp>
        <p:nvSpPr>
          <p:cNvPr id="11" name="TextBox 10"/>
          <p:cNvSpPr txBox="1"/>
          <p:nvPr/>
        </p:nvSpPr>
        <p:spPr>
          <a:xfrm>
            <a:off x="548640" y="4427982"/>
            <a:ext cx="11094415" cy="231902"/>
          </a:xfrm>
          <a:prstGeom prst="rect">
            <a:avLst/>
          </a:prstGeom>
          <a:noFill/>
        </p:spPr>
        <p:txBody>
          <a:bodyPr wrap="square" lIns="45720" rIns="45720" tIns="27432" bIns="27432" anchor="t">
            <a:spAutoFit/>
          </a:bodyPr>
          <a:lstStyle/>
          <a:p>
            <a:r>
              <a:rPr sz="1000" b="0" i="0">
                <a:solidFill>
                  <a:srgbClr val="57606A"/>
                </a:solidFill>
                <a:latin typeface="Arial"/>
              </a:rPr>
              <a:t>Fixed fee by client size band, Phase A sold alone; Phase B is a written option (pricing ladder §3.1).</a:t>
            </a:r>
          </a:p>
        </p:txBody>
      </p:sp>
      <p:sp>
        <p:nvSpPr>
          <p:cNvPr id="12" name="TextBox 11"/>
          <p:cNvSpPr txBox="1"/>
          <p:nvPr/>
        </p:nvSpPr>
        <p:spPr>
          <a:xfrm>
            <a:off x="548640" y="4659884"/>
            <a:ext cx="11094415" cy="231902"/>
          </a:xfrm>
          <a:prstGeom prst="rect">
            <a:avLst/>
          </a:prstGeom>
          <a:noFill/>
        </p:spPr>
        <p:txBody>
          <a:bodyPr wrap="square" lIns="45720" rIns="45720" tIns="27432" bIns="27432" anchor="t">
            <a:spAutoFit/>
          </a:bodyPr>
          <a:lstStyle/>
          <a:p>
            <a:r>
              <a:rPr sz="1000" b="0" i="0">
                <a:solidFill>
                  <a:srgbClr val="57606A"/>
                </a:solidFill>
                <a:latin typeface="Arial"/>
              </a:rPr>
              <a:t>Offer source: commercial/pricing-ladder.md v0.2 §3 (static offer text; not a claim about the prospect)</a:t>
            </a:r>
          </a:p>
        </p:txBody>
      </p:sp>
      <p:sp>
        <p:nvSpPr>
          <p:cNvPr id="13" name="Rectangle 12"/>
          <p:cNvSpPr/>
          <p:nvPr/>
        </p:nvSpPr>
        <p:spPr>
          <a:xfrm>
            <a:off x="548640" y="6322885"/>
            <a:ext cx="11094415" cy="9525"/>
          </a:xfrm>
          <a:prstGeom prst="rect">
            <a:avLst/>
          </a:prstGeom>
          <a:solidFill>
            <a:srgbClr val="D0D7DE"/>
          </a:solidFill>
          <a:ln>
            <a:noFill/>
          </a:ln>
          <a:effectLst/>
        </p:spPr>
        <p:txBody>
          <a:bodyPr rtlCol="0" anchor="ctr"/>
          <a:lstStyle/>
          <a:p>
            <a:pPr algn="ctr"/>
          </a:p>
        </p:txBody>
      </p:sp>
      <p:sp>
        <p:nvSpPr>
          <p:cNvPr id="14" name="plumbdeck-footer"/>
          <p:cNvSpPr txBox="1"/>
          <p:nvPr/>
        </p:nvSpPr>
        <p:spPr>
          <a:xfrm>
            <a:off x="548640" y="6373368"/>
            <a:ext cx="10362895" cy="365760"/>
          </a:xfrm>
          <a:prstGeom prst="rect">
            <a:avLst/>
          </a:prstGeom>
          <a:noFill/>
        </p:spPr>
        <p:txBody>
          <a:bodyPr wrap="square" lIns="45720" rIns="45720" tIns="27432" bIns="27432" anchor="t">
            <a:spAutoFit/>
          </a:bodyPr>
          <a:lstStyle/>
          <a:p>
            <a:r>
              <a:rPr sz="800" b="0" i="0">
                <a:solidFill>
                  <a:srgbClr val="57606A"/>
                </a:solidFill>
                <a:latin typeface="Arial"/>
              </a:rPr>
              <a:t>DRAFT — not for board use. Deliverable PLUMB-PR-great-eastern-research-e0bc54685dce v0.1.</a:t>
            </a:r>
          </a:p>
        </p:txBody>
      </p:sp>
      <p:sp>
        <p:nvSpPr>
          <p:cNvPr id="15" name="TextBox 14"/>
          <p:cNvSpPr txBox="1"/>
          <p:nvPr/>
        </p:nvSpPr>
        <p:spPr>
          <a:xfrm>
            <a:off x="11002975" y="6373368"/>
            <a:ext cx="640080" cy="274320"/>
          </a:xfrm>
          <a:prstGeom prst="rect">
            <a:avLst/>
          </a:prstGeom>
          <a:noFill/>
        </p:spPr>
        <p:txBody>
          <a:bodyPr wrap="square" lIns="45720" rIns="45720" tIns="27432" bIns="27432" anchor="t">
            <a:spAutoFit/>
          </a:bodyPr>
          <a:lstStyle/>
          <a:p>
            <a:pPr algn="r"/>
            <a:r>
              <a:rPr sz="800" b="0" i="0">
                <a:solidFill>
                  <a:srgbClr val="57606A"/>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plumbdeck-banner"/>
          <p:cNvSpPr txBox="1"/>
          <p:nvPr/>
        </p:nvSpPr>
        <p:spPr>
          <a:xfrm>
            <a:off x="0" y="0"/>
            <a:ext cx="12191695" cy="384048"/>
          </a:xfrm>
          <a:prstGeom prst="rect">
            <a:avLst/>
          </a:prstGeom>
          <a:solidFill>
            <a:srgbClr val="B42318"/>
          </a:solidFill>
        </p:spPr>
        <p:txBody>
          <a:bodyPr wrap="square" lIns="45720" rIns="45720" tIns="27432" bIns="27432" anchor="ctr">
            <a:spAutoFit/>
          </a:bodyPr>
          <a:lstStyle/>
          <a:p>
            <a:pPr algn="ctr"/>
            <a:r>
              <a:rPr sz="1100" b="1" i="0">
                <a:solidFill>
                  <a:srgbClr val="FFFFFF"/>
                </a:solidFill>
                <a:latin typeface="Arial"/>
              </a:rPr>
              <a:t>DRAFT — not for board use (internal profile; 1 attachment unreconciled; resolution 0.1429; no QA gate 3 sign-off)</a:t>
            </a:r>
          </a:p>
        </p:txBody>
      </p:sp>
      <p:sp>
        <p:nvSpPr>
          <p:cNvPr id="3" name="plumbdeck-section"/>
          <p:cNvSpPr txBox="1"/>
          <p:nvPr/>
        </p:nvSpPr>
        <p:spPr>
          <a:xfrm>
            <a:off x="548640" y="502920"/>
            <a:ext cx="11094415" cy="274320"/>
          </a:xfrm>
          <a:prstGeom prst="rect">
            <a:avLst/>
          </a:prstGeom>
          <a:noFill/>
        </p:spPr>
        <p:txBody>
          <a:bodyPr wrap="square" lIns="45720" rIns="45720" tIns="27432" bIns="27432" anchor="t">
            <a:spAutoFit/>
          </a:bodyPr>
          <a:lstStyle/>
          <a:p>
            <a:r>
              <a:rPr sz="1000" b="0" i="0">
                <a:solidFill>
                  <a:srgbClr val="57606A"/>
                </a:solidFill>
                <a:latin typeface="Arial"/>
              </a:rPr>
              <a:t>S10 · Released / withheld summary</a:t>
            </a:r>
          </a:p>
        </p:txBody>
      </p:sp>
      <p:sp>
        <p:nvSpPr>
          <p:cNvPr id="4" name="plumbdeck-title"/>
          <p:cNvSpPr txBox="1"/>
          <p:nvPr/>
        </p:nvSpPr>
        <p:spPr>
          <a:xfrm>
            <a:off x="548640" y="822960"/>
            <a:ext cx="11094415" cy="466344"/>
          </a:xfrm>
          <a:prstGeom prst="rect">
            <a:avLst/>
          </a:prstGeom>
          <a:noFill/>
        </p:spPr>
        <p:txBody>
          <a:bodyPr wrap="square" lIns="45720" rIns="45720" tIns="27432" bIns="27432" anchor="t">
            <a:spAutoFit/>
          </a:bodyPr>
          <a:lstStyle/>
          <a:p>
            <a:r>
              <a:rPr sz="2000" b="1" i="0">
                <a:solidFill>
                  <a:srgbClr val="1F2328"/>
                </a:solidFill>
                <a:latin typeface="Arial"/>
              </a:rPr>
              <a:t>29 claims were released and 7 withheld; every withheld claim is listed</a:t>
            </a:r>
          </a:p>
        </p:txBody>
      </p:sp>
      <p:sp>
        <p:nvSpPr>
          <p:cNvPr id="5" name="Rectangle 4"/>
          <p:cNvSpPr/>
          <p:nvPr/>
        </p:nvSpPr>
        <p:spPr>
          <a:xfrm>
            <a:off x="548640" y="1330261"/>
            <a:ext cx="11094415" cy="9525"/>
          </a:xfrm>
          <a:prstGeom prst="rect">
            <a:avLst/>
          </a:prstGeom>
          <a:solidFill>
            <a:srgbClr val="D0D7DE"/>
          </a:solidFill>
          <a:ln>
            <a:noFill/>
          </a:ln>
          <a:effectLst/>
        </p:spPr>
        <p:txBody>
          <a:bodyPr rtlCol="0" anchor="ctr"/>
          <a:lstStyle/>
          <a:p>
            <a:pPr algn="ctr"/>
          </a:p>
        </p:txBody>
      </p:sp>
      <p:sp>
        <p:nvSpPr>
          <p:cNvPr id="6" name="TextBox 5"/>
          <p:cNvSpPr txBox="1"/>
          <p:nvPr/>
        </p:nvSpPr>
        <p:spPr>
          <a:xfrm>
            <a:off x="548640" y="1472184"/>
            <a:ext cx="11094415" cy="295402"/>
          </a:xfrm>
          <a:prstGeom prst="rect">
            <a:avLst/>
          </a:prstGeom>
          <a:noFill/>
        </p:spPr>
        <p:txBody>
          <a:bodyPr wrap="square" lIns="45720" rIns="45720" tIns="27432" bIns="27432" anchor="t">
            <a:spAutoFit/>
          </a:bodyPr>
          <a:lstStyle/>
          <a:p>
            <a:r>
              <a:rPr sz="1400" b="1" i="0">
                <a:solidFill>
                  <a:srgbClr val="1F2328"/>
                </a:solidFill>
                <a:latin typeface="Arial"/>
              </a:rPr>
              <a:t>Released: 29 claims. Withheld: 7 claims (listed).</a:t>
            </a:r>
          </a:p>
        </p:txBody>
      </p:sp>
      <p:graphicFrame>
        <p:nvGraphicFramePr>
          <p:cNvPr id="7" name="Table 6"/>
          <p:cNvGraphicFramePr>
            <a:graphicFrameLocks noGrp="1"/>
          </p:cNvGraphicFramePr>
          <p:nvPr/>
        </p:nvGraphicFramePr>
        <p:xfrm>
          <a:off x="548640" y="1767586"/>
          <a:ext cx="11094412" cy="2969513"/>
        </p:xfrm>
        <a:graphic>
          <a:graphicData uri="http://schemas.openxmlformats.org/drawingml/2006/table">
            <a:tbl>
              <a:tblPr firstRow="1" bandRow="1">
                <a:tableStyleId>{5C22544A-7EE6-4342-B048-85BDC9FD1C3A}</a:tableStyleId>
              </a:tblPr>
              <a:tblGrid>
                <a:gridCol w="590826"/>
                <a:gridCol w="2494602"/>
                <a:gridCol w="2232012"/>
                <a:gridCol w="1575538"/>
                <a:gridCol w="2888486"/>
                <a:gridCol w="1312948"/>
              </a:tblGrid>
              <a:tr h="249173">
                <a:tc>
                  <a:txBody>
                    <a:bodyPr wrap="square"/>
                    <a:lstStyle/>
                    <a:p>
                      <a:r>
                        <a:rPr sz="900" b="1">
                          <a:solidFill>
                            <a:srgbClr val="1F2328"/>
                          </a:solidFill>
                          <a:latin typeface="Arial"/>
                        </a:rPr>
                        <a:t>Gap</a:t>
                      </a:r>
                    </a:p>
                  </a:txBody>
                  <a:tcPr marL="45720" marR="45720" marT="18288" marB="18288">
                    <a:solidFill>
                      <a:srgbClr val="EEF1F4"/>
                    </a:solidFill>
                  </a:tcPr>
                </a:tc>
                <a:tc>
                  <a:txBody>
                    <a:bodyPr wrap="square"/>
                    <a:lstStyle/>
                    <a:p>
                      <a:r>
                        <a:rPr sz="900" b="1">
                          <a:solidFill>
                            <a:srgbClr val="1F2328"/>
                          </a:solidFill>
                          <a:latin typeface="Arial"/>
                        </a:rPr>
                        <a:t>Claim</a:t>
                      </a:r>
                    </a:p>
                  </a:txBody>
                  <a:tcPr marL="45720" marR="45720" marT="18288" marB="18288">
                    <a:solidFill>
                      <a:srgbClr val="EEF1F4"/>
                    </a:solidFill>
                  </a:tcPr>
                </a:tc>
                <a:tc>
                  <a:txBody>
                    <a:bodyPr wrap="square"/>
                    <a:lstStyle/>
                    <a:p>
                      <a:r>
                        <a:rPr sz="900" b="1">
                          <a:solidFill>
                            <a:srgbClr val="1F2328"/>
                          </a:solidFill>
                          <a:latin typeface="Arial"/>
                        </a:rPr>
                        <a:t>Source attempted</a:t>
                      </a:r>
                    </a:p>
                  </a:txBody>
                  <a:tcPr marL="45720" marR="45720" marT="18288" marB="18288">
                    <a:solidFill>
                      <a:srgbClr val="EEF1F4"/>
                    </a:solidFill>
                  </a:tcPr>
                </a:tc>
                <a:tc>
                  <a:txBody>
                    <a:bodyPr wrap="square"/>
                    <a:lstStyle/>
                    <a:p>
                      <a:r>
                        <a:rPr sz="900" b="1">
                          <a:solidFill>
                            <a:srgbClr val="1F2328"/>
                          </a:solidFill>
                          <a:latin typeface="Arial"/>
                        </a:rPr>
                        <a:t>Reason</a:t>
                      </a:r>
                    </a:p>
                  </a:txBody>
                  <a:tcPr marL="45720" marR="45720" marT="18288" marB="18288">
                    <a:solidFill>
                      <a:srgbClr val="EEF1F4"/>
                    </a:solidFill>
                  </a:tcPr>
                </a:tc>
                <a:tc>
                  <a:txBody>
                    <a:bodyPr wrap="square"/>
                    <a:lstStyle/>
                    <a:p>
                      <a:r>
                        <a:rPr sz="900" b="1">
                          <a:solidFill>
                            <a:srgbClr val="1F2328"/>
                          </a:solidFill>
                          <a:latin typeface="Arial"/>
                        </a:rPr>
                        <a:t>What would resolve it</a:t>
                      </a:r>
                    </a:p>
                  </a:txBody>
                  <a:tcPr marL="45720" marR="45720" marT="18288" marB="18288">
                    <a:solidFill>
                      <a:srgbClr val="EEF1F4"/>
                    </a:solidFill>
                  </a:tcPr>
                </a:tc>
                <a:tc>
                  <a:txBody>
                    <a:bodyPr wrap="square"/>
                    <a:lstStyle/>
                    <a:p>
                      <a:r>
                        <a:rPr sz="900" b="1">
                          <a:solidFill>
                            <a:srgbClr val="1F2328"/>
                          </a:solidFill>
                          <a:latin typeface="Arial"/>
                        </a:rPr>
                        <a:t>Who holds it</a:t>
                      </a:r>
                    </a:p>
                  </a:txBody>
                  <a:tcPr marL="45720" marR="45720" marT="18288" marB="18288">
                    <a:solidFill>
                      <a:srgbClr val="EEF1F4"/>
                    </a:solidFill>
                  </a:tcPr>
                </a:tc>
              </a:tr>
              <a:tr h="388620">
                <a:tc>
                  <a:txBody>
                    <a:bodyPr wrap="square"/>
                    <a:lstStyle/>
                    <a:p>
                      <a:r>
                        <a:rPr sz="900" b="0">
                          <a:solidFill>
                            <a:srgbClr val="1F2328"/>
                          </a:solidFill>
                          <a:latin typeface="Arial"/>
                        </a:rPr>
                        <a:t>G-1</a:t>
                      </a:r>
                    </a:p>
                  </a:txBody>
                  <a:tcPr marL="45720" marR="45720" marT="18288" marB="18288">
                    <a:solidFill>
                      <a:srgbClr val="FFFFFF"/>
                    </a:solidFill>
                  </a:tcPr>
                </a:tc>
                <a:tc>
                  <a:txBody>
                    <a:bodyPr wrap="square"/>
                    <a:lstStyle/>
                    <a:p>
                      <a:r>
                        <a:rPr sz="900" b="0">
                          <a:solidFill>
                            <a:srgbClr val="1F2328"/>
                          </a:solidFill>
                          <a:latin typeface="Arial"/>
                        </a:rPr>
                        <a:t>Peer size: Prudential Assurance Co Singapore (I527L)</a:t>
                      </a:r>
                    </a:p>
                  </a:txBody>
                  <a:tcPr marL="45720" marR="45720" marT="18288" marB="18288">
                    <a:solidFill>
                      <a:srgbClr val="FFFFFF"/>
                    </a:solidFill>
                  </a:tcPr>
                </a:tc>
                <a:tc>
                  <a:txBody>
                    <a:bodyPr wrap="square"/>
                    <a:lstStyle/>
                    <a:p>
                      <a:r>
                        <a:rPr sz="900" b="0">
                          <a:solidFill>
                            <a:srgbClr val="1F2328"/>
                          </a:solidFill>
                          <a:latin typeface="Arial"/>
                        </a:rPr>
                        <a:t>www.mas.gov.sg 2025.xlsx</a:t>
                      </a:r>
                    </a:p>
                  </a:txBody>
                  <a:tcPr marL="45720" marR="45720" marT="18288" marB="18288">
                    <a:solidFill>
                      <a:srgbClr val="FFFFFF"/>
                    </a:solidFill>
                  </a:tcPr>
                </a:tc>
                <a:tc>
                  <a:txBody>
                    <a:bodyPr wrap="square"/>
                    <a:lstStyle/>
                    <a:p>
                      <a:r>
                        <a:rPr sz="900" b="0">
                          <a:solidFill>
                            <a:srgbClr val="1F2328"/>
                          </a:solidFill>
                          <a:latin typeface="Arial"/>
                        </a:rPr>
                        <a:t>unreachable</a:t>
                      </a:r>
                    </a:p>
                  </a:txBody>
                  <a:tcPr marL="45720" marR="45720" marT="18288" marB="18288">
                    <a:solidFill>
                      <a:srgbClr val="FFFFFF"/>
                    </a:solidFill>
                  </a:tcPr>
                </a:tc>
                <a:tc>
                  <a:txBody>
                    <a:bodyPr wrap="square"/>
                    <a:lstStyle/>
                    <a:p>
                      <a:r>
                        <a:rPr sz="900" b="0">
                          <a:solidFill>
                            <a:srgbClr val="1F2328"/>
                          </a:solidFill>
                          <a:latin typeface="Arial"/>
                        </a:rPr>
                        <a:t>re-run from a machine with egress, or attach the document under its publisher URL</a:t>
                      </a:r>
                    </a:p>
                  </a:txBody>
                  <a:tcPr marL="45720" marR="45720" marT="18288" marB="18288">
                    <a:solidFill>
                      <a:srgbClr val="FFFFFF"/>
                    </a:solidFill>
                  </a:tcPr>
                </a:tc>
                <a:tc>
                  <a:txBody>
                    <a:bodyPr wrap="square"/>
                    <a:lstStyle/>
                    <a:p>
                      <a:r>
                        <a:rPr sz="900" b="0">
                          <a:solidFill>
                            <a:srgbClr val="1F2328"/>
                          </a:solidFill>
                          <a:latin typeface="Arial"/>
                        </a:rPr>
                        <a:t>PLUMB (operator)</a:t>
                      </a:r>
                    </a:p>
                  </a:txBody>
                  <a:tcPr marL="45720" marR="45720" marT="18288" marB="18288">
                    <a:solidFill>
                      <a:srgbClr val="FFFFFF"/>
                    </a:solidFill>
                  </a:tcPr>
                </a:tc>
              </a:tr>
              <a:tr h="388620">
                <a:tc>
                  <a:txBody>
                    <a:bodyPr wrap="square"/>
                    <a:lstStyle/>
                    <a:p>
                      <a:r>
                        <a:rPr sz="900" b="0">
                          <a:solidFill>
                            <a:srgbClr val="1F2328"/>
                          </a:solidFill>
                          <a:latin typeface="Arial"/>
                        </a:rPr>
                        <a:t>G-2</a:t>
                      </a:r>
                    </a:p>
                  </a:txBody>
                  <a:tcPr marL="45720" marR="45720" marT="18288" marB="18288">
                    <a:solidFill>
                      <a:srgbClr val="FFFFFF"/>
                    </a:solidFill>
                  </a:tcPr>
                </a:tc>
                <a:tc>
                  <a:txBody>
                    <a:bodyPr wrap="square"/>
                    <a:lstStyle/>
                    <a:p>
                      <a:r>
                        <a:rPr sz="900" b="0">
                          <a:solidFill>
                            <a:srgbClr val="1F2328"/>
                          </a:solidFill>
                          <a:latin typeface="Arial"/>
                        </a:rPr>
                        <a:t>Peer size: Income Insurance Ltd (I585C)</a:t>
                      </a:r>
                    </a:p>
                  </a:txBody>
                  <a:tcPr marL="45720" marR="45720" marT="18288" marB="18288">
                    <a:solidFill>
                      <a:srgbClr val="FFFFFF"/>
                    </a:solidFill>
                  </a:tcPr>
                </a:tc>
                <a:tc>
                  <a:txBody>
                    <a:bodyPr wrap="square"/>
                    <a:lstStyle/>
                    <a:p>
                      <a:r>
                        <a:rPr sz="900" b="0">
                          <a:solidFill>
                            <a:srgbClr val="1F2328"/>
                          </a:solidFill>
                          <a:latin typeface="Arial"/>
                        </a:rPr>
                        <a:t>www.income.com.sg Income-Insurance-–-Annual-Report-2025.pdf</a:t>
                      </a:r>
                    </a:p>
                  </a:txBody>
                  <a:tcPr marL="45720" marR="45720" marT="18288" marB="18288">
                    <a:solidFill>
                      <a:srgbClr val="FFFFFF"/>
                    </a:solidFill>
                  </a:tcPr>
                </a:tc>
                <a:tc>
                  <a:txBody>
                    <a:bodyPr wrap="square"/>
                    <a:lstStyle/>
                    <a:p>
                      <a:r>
                        <a:rPr sz="900" b="0">
                          <a:solidFill>
                            <a:srgbClr val="1F2328"/>
                          </a:solidFill>
                          <a:latin typeface="Arial"/>
                        </a:rPr>
                        <a:t>unreachable</a:t>
                      </a:r>
                    </a:p>
                  </a:txBody>
                  <a:tcPr marL="45720" marR="45720" marT="18288" marB="18288">
                    <a:solidFill>
                      <a:srgbClr val="FFFFFF"/>
                    </a:solidFill>
                  </a:tcPr>
                </a:tc>
                <a:tc>
                  <a:txBody>
                    <a:bodyPr wrap="square"/>
                    <a:lstStyle/>
                    <a:p>
                      <a:r>
                        <a:rPr sz="900" b="0">
                          <a:solidFill>
                            <a:srgbClr val="1F2328"/>
                          </a:solidFill>
                          <a:latin typeface="Arial"/>
                        </a:rPr>
                        <a:t>re-run from a machine with egress, or attach the document under its publisher URL</a:t>
                      </a:r>
                    </a:p>
                  </a:txBody>
                  <a:tcPr marL="45720" marR="45720" marT="18288" marB="18288">
                    <a:solidFill>
                      <a:srgbClr val="FFFFFF"/>
                    </a:solidFill>
                  </a:tcPr>
                </a:tc>
                <a:tc>
                  <a:txBody>
                    <a:bodyPr wrap="square"/>
                    <a:lstStyle/>
                    <a:p>
                      <a:r>
                        <a:rPr sz="900" b="0">
                          <a:solidFill>
                            <a:srgbClr val="1F2328"/>
                          </a:solidFill>
                          <a:latin typeface="Arial"/>
                        </a:rPr>
                        <a:t>PLUMB (operator)</a:t>
                      </a:r>
                    </a:p>
                  </a:txBody>
                  <a:tcPr marL="45720" marR="45720" marT="18288" marB="18288">
                    <a:solidFill>
                      <a:srgbClr val="FFFFFF"/>
                    </a:solidFill>
                  </a:tcPr>
                </a:tc>
              </a:tr>
              <a:tr h="388620">
                <a:tc>
                  <a:txBody>
                    <a:bodyPr wrap="square"/>
                    <a:lstStyle/>
                    <a:p>
                      <a:r>
                        <a:rPr sz="900" b="0">
                          <a:solidFill>
                            <a:srgbClr val="1F2328"/>
                          </a:solidFill>
                          <a:latin typeface="Arial"/>
                        </a:rPr>
                        <a:t>G-3</a:t>
                      </a:r>
                    </a:p>
                  </a:txBody>
                  <a:tcPr marL="45720" marR="45720" marT="18288" marB="18288">
                    <a:solidFill>
                      <a:srgbClr val="FFFFFF"/>
                    </a:solidFill>
                  </a:tcPr>
                </a:tc>
                <a:tc>
                  <a:txBody>
                    <a:bodyPr wrap="square"/>
                    <a:lstStyle/>
                    <a:p>
                      <a:r>
                        <a:rPr sz="900" b="0">
                          <a:solidFill>
                            <a:srgbClr val="1F2328"/>
                          </a:solidFill>
                          <a:latin typeface="Arial"/>
                        </a:rPr>
                        <a:t>Peer size: Singapore Life Ltd (Singlife, I518C)</a:t>
                      </a:r>
                    </a:p>
                  </a:txBody>
                  <a:tcPr marL="45720" marR="45720" marT="18288" marB="18288">
                    <a:solidFill>
                      <a:srgbClr val="FFFFFF"/>
                    </a:solidFill>
                  </a:tcPr>
                </a:tc>
                <a:tc>
                  <a:txBody>
                    <a:bodyPr wrap="square"/>
                    <a:lstStyle/>
                    <a:p>
                      <a:r>
                        <a:rPr sz="900" b="0">
                          <a:solidFill>
                            <a:srgbClr val="1F2328"/>
                          </a:solidFill>
                          <a:latin typeface="Arial"/>
                        </a:rPr>
                        <a:t>www.mas.gov.sg 2025.xlsx</a:t>
                      </a:r>
                    </a:p>
                  </a:txBody>
                  <a:tcPr marL="45720" marR="45720" marT="18288" marB="18288">
                    <a:solidFill>
                      <a:srgbClr val="FFFFFF"/>
                    </a:solidFill>
                  </a:tcPr>
                </a:tc>
                <a:tc>
                  <a:txBody>
                    <a:bodyPr wrap="square"/>
                    <a:lstStyle/>
                    <a:p>
                      <a:r>
                        <a:rPr sz="900" b="0">
                          <a:solidFill>
                            <a:srgbClr val="1F2328"/>
                          </a:solidFill>
                          <a:latin typeface="Arial"/>
                        </a:rPr>
                        <a:t>unreachable</a:t>
                      </a:r>
                    </a:p>
                  </a:txBody>
                  <a:tcPr marL="45720" marR="45720" marT="18288" marB="18288">
                    <a:solidFill>
                      <a:srgbClr val="FFFFFF"/>
                    </a:solidFill>
                  </a:tcPr>
                </a:tc>
                <a:tc>
                  <a:txBody>
                    <a:bodyPr wrap="square"/>
                    <a:lstStyle/>
                    <a:p>
                      <a:r>
                        <a:rPr sz="900" b="0">
                          <a:solidFill>
                            <a:srgbClr val="1F2328"/>
                          </a:solidFill>
                          <a:latin typeface="Arial"/>
                        </a:rPr>
                        <a:t>re-run from a machine with egress, or attach the document under its publisher URL</a:t>
                      </a:r>
                    </a:p>
                  </a:txBody>
                  <a:tcPr marL="45720" marR="45720" marT="18288" marB="18288">
                    <a:solidFill>
                      <a:srgbClr val="FFFFFF"/>
                    </a:solidFill>
                  </a:tcPr>
                </a:tc>
                <a:tc>
                  <a:txBody>
                    <a:bodyPr wrap="square"/>
                    <a:lstStyle/>
                    <a:p>
                      <a:r>
                        <a:rPr sz="900" b="0">
                          <a:solidFill>
                            <a:srgbClr val="1F2328"/>
                          </a:solidFill>
                          <a:latin typeface="Arial"/>
                        </a:rPr>
                        <a:t>PLUMB (operator)</a:t>
                      </a:r>
                    </a:p>
                  </a:txBody>
                  <a:tcPr marL="45720" marR="45720" marT="18288" marB="18288">
                    <a:solidFill>
                      <a:srgbClr val="FFFFFF"/>
                    </a:solidFill>
                  </a:tcPr>
                </a:tc>
              </a:tr>
              <a:tr h="388620">
                <a:tc>
                  <a:txBody>
                    <a:bodyPr wrap="square"/>
                    <a:lstStyle/>
                    <a:p>
                      <a:r>
                        <a:rPr sz="900" b="0">
                          <a:solidFill>
                            <a:srgbClr val="1F2328"/>
                          </a:solidFill>
                          <a:latin typeface="Arial"/>
                        </a:rPr>
                        <a:t>G-4</a:t>
                      </a:r>
                    </a:p>
                  </a:txBody>
                  <a:tcPr marL="45720" marR="45720" marT="18288" marB="18288">
                    <a:solidFill>
                      <a:srgbClr val="FFFFFF"/>
                    </a:solidFill>
                  </a:tcPr>
                </a:tc>
                <a:tc>
                  <a:txBody>
                    <a:bodyPr wrap="square"/>
                    <a:lstStyle/>
                    <a:p>
                      <a:r>
                        <a:rPr sz="900" b="0">
                          <a:solidFill>
                            <a:srgbClr val="1F2328"/>
                          </a:solidFill>
                          <a:latin typeface="Arial"/>
                        </a:rPr>
                        <a:t>Peer size: AIA Group (whole)</a:t>
                      </a:r>
                    </a:p>
                  </a:txBody>
                  <a:tcPr marL="45720" marR="45720" marT="18288" marB="18288">
                    <a:solidFill>
                      <a:srgbClr val="FFFFFF"/>
                    </a:solidFill>
                  </a:tcPr>
                </a:tc>
                <a:tc>
                  <a:txBody>
                    <a:bodyPr wrap="square"/>
                    <a:lstStyle/>
                    <a:p>
                      <a:r>
                        <a:rPr sz="900" b="0">
                          <a:solidFill>
                            <a:srgbClr val="1F2328"/>
                          </a:solidFill>
                          <a:latin typeface="Arial"/>
                        </a:rPr>
                        <a:t>www.aia.com AIA 2025 annual report_EN.pdf</a:t>
                      </a:r>
                    </a:p>
                  </a:txBody>
                  <a:tcPr marL="45720" marR="45720" marT="18288" marB="18288">
                    <a:solidFill>
                      <a:srgbClr val="FFFFFF"/>
                    </a:solidFill>
                  </a:tcPr>
                </a:tc>
                <a:tc>
                  <a:txBody>
                    <a:bodyPr wrap="square"/>
                    <a:lstStyle/>
                    <a:p>
                      <a:r>
                        <a:rPr sz="900" b="0">
                          <a:solidFill>
                            <a:srgbClr val="1F2328"/>
                          </a:solidFill>
                          <a:latin typeface="Arial"/>
                        </a:rPr>
                        <a:t>unreachable</a:t>
                      </a:r>
                    </a:p>
                  </a:txBody>
                  <a:tcPr marL="45720" marR="45720" marT="18288" marB="18288">
                    <a:solidFill>
                      <a:srgbClr val="FFFFFF"/>
                    </a:solidFill>
                  </a:tcPr>
                </a:tc>
                <a:tc>
                  <a:txBody>
                    <a:bodyPr wrap="square"/>
                    <a:lstStyle/>
                    <a:p>
                      <a:r>
                        <a:rPr sz="900" b="0">
                          <a:solidFill>
                            <a:srgbClr val="1F2328"/>
                          </a:solidFill>
                          <a:latin typeface="Arial"/>
                        </a:rPr>
                        <a:t>re-run from a machine with egress, or attach the document under its publisher URL</a:t>
                      </a:r>
                    </a:p>
                  </a:txBody>
                  <a:tcPr marL="45720" marR="45720" marT="18288" marB="18288">
                    <a:solidFill>
                      <a:srgbClr val="FFFFFF"/>
                    </a:solidFill>
                  </a:tcPr>
                </a:tc>
                <a:tc>
                  <a:txBody>
                    <a:bodyPr wrap="square"/>
                    <a:lstStyle/>
                    <a:p>
                      <a:r>
                        <a:rPr sz="900" b="0">
                          <a:solidFill>
                            <a:srgbClr val="1F2328"/>
                          </a:solidFill>
                          <a:latin typeface="Arial"/>
                        </a:rPr>
                        <a:t>PLUMB (operator)</a:t>
                      </a:r>
                    </a:p>
                  </a:txBody>
                  <a:tcPr marL="45720" marR="45720" marT="18288" marB="18288">
                    <a:solidFill>
                      <a:srgbClr val="FFFFFF"/>
                    </a:solidFill>
                  </a:tcPr>
                </a:tc>
              </a:tr>
              <a:tr h="388620">
                <a:tc>
                  <a:txBody>
                    <a:bodyPr wrap="square"/>
                    <a:lstStyle/>
                    <a:p>
                      <a:r>
                        <a:rPr sz="900" b="0">
                          <a:solidFill>
                            <a:srgbClr val="1F2328"/>
                          </a:solidFill>
                          <a:latin typeface="Arial"/>
                        </a:rPr>
                        <a:t>G-5</a:t>
                      </a:r>
                    </a:p>
                  </a:txBody>
                  <a:tcPr marL="45720" marR="45720" marT="18288" marB="18288">
                    <a:solidFill>
                      <a:srgbClr val="FFFFFF"/>
                    </a:solidFill>
                  </a:tcPr>
                </a:tc>
                <a:tc>
                  <a:txBody>
                    <a:bodyPr wrap="square"/>
                    <a:lstStyle/>
                    <a:p>
                      <a:r>
                        <a:rPr sz="900" b="0">
                          <a:solidFill>
                            <a:srgbClr val="1F2328"/>
                          </a:solidFill>
                          <a:latin typeface="Arial"/>
                        </a:rPr>
                        <a:t>Regulatory clock: MAS AIRM (issued)</a:t>
                      </a:r>
                    </a:p>
                  </a:txBody>
                  <a:tcPr marL="45720" marR="45720" marT="18288" marB="18288">
                    <a:solidFill>
                      <a:srgbClr val="FFFFFF"/>
                    </a:solidFill>
                  </a:tcPr>
                </a:tc>
                <a:tc>
                  <a:txBody>
                    <a:bodyPr wrap="square"/>
                    <a:lstStyle/>
                    <a:p>
                      <a:r>
                        <a:rPr sz="900" b="0">
                          <a:solidFill>
                            <a:srgbClr val="1F2328"/>
                          </a:solidFill>
                          <a:latin typeface="Arial"/>
                        </a:rPr>
                        <a:t>www.mas.gov.sg guidelines-on-artificial-intelligence-risk-ma</a:t>
                      </a:r>
                    </a:p>
                  </a:txBody>
                  <a:tcPr marL="45720" marR="45720" marT="18288" marB="18288">
                    <a:solidFill>
                      <a:srgbClr val="FFFFFF"/>
                    </a:solidFill>
                  </a:tcPr>
                </a:tc>
                <a:tc>
                  <a:txBody>
                    <a:bodyPr wrap="square"/>
                    <a:lstStyle/>
                    <a:p>
                      <a:r>
                        <a:rPr sz="900" b="0">
                          <a:solidFill>
                            <a:srgbClr val="1F2328"/>
                          </a:solidFill>
                          <a:latin typeface="Arial"/>
                        </a:rPr>
                        <a:t>unreachable</a:t>
                      </a:r>
                    </a:p>
                  </a:txBody>
                  <a:tcPr marL="45720" marR="45720" marT="18288" marB="18288">
                    <a:solidFill>
                      <a:srgbClr val="FFFFFF"/>
                    </a:solidFill>
                  </a:tcPr>
                </a:tc>
                <a:tc>
                  <a:txBody>
                    <a:bodyPr wrap="square"/>
                    <a:lstStyle/>
                    <a:p>
                      <a:r>
                        <a:rPr sz="900" b="0">
                          <a:solidFill>
                            <a:srgbClr val="1F2328"/>
                          </a:solidFill>
                          <a:latin typeface="Arial"/>
                        </a:rPr>
                        <a:t>re-run from a machine with egress, or attach the document under its publisher URL</a:t>
                      </a:r>
                    </a:p>
                  </a:txBody>
                  <a:tcPr marL="45720" marR="45720" marT="18288" marB="18288">
                    <a:solidFill>
                      <a:srgbClr val="FFFFFF"/>
                    </a:solidFill>
                  </a:tcPr>
                </a:tc>
                <a:tc>
                  <a:txBody>
                    <a:bodyPr wrap="square"/>
                    <a:lstStyle/>
                    <a:p>
                      <a:r>
                        <a:rPr sz="900" b="0">
                          <a:solidFill>
                            <a:srgbClr val="1F2328"/>
                          </a:solidFill>
                          <a:latin typeface="Arial"/>
                        </a:rPr>
                        <a:t>PLUMB (operator)</a:t>
                      </a:r>
                    </a:p>
                  </a:txBody>
                  <a:tcPr marL="45720" marR="45720" marT="18288" marB="18288">
                    <a:solidFill>
                      <a:srgbClr val="FFFFFF"/>
                    </a:solidFill>
                  </a:tcPr>
                </a:tc>
              </a:tr>
              <a:tr h="388620">
                <a:tc>
                  <a:txBody>
                    <a:bodyPr wrap="square"/>
                    <a:lstStyle/>
                    <a:p>
                      <a:r>
                        <a:rPr sz="900" b="0">
                          <a:solidFill>
                            <a:srgbClr val="1F2328"/>
                          </a:solidFill>
                          <a:latin typeface="Arial"/>
                        </a:rPr>
                        <a:t>G-6</a:t>
                      </a:r>
                    </a:p>
                  </a:txBody>
                  <a:tcPr marL="45720" marR="45720" marT="18288" marB="18288">
                    <a:solidFill>
                      <a:srgbClr val="FFFFFF"/>
                    </a:solidFill>
                  </a:tcPr>
                </a:tc>
                <a:tc>
                  <a:txBody>
                    <a:bodyPr wrap="square"/>
                    <a:lstStyle/>
                    <a:p>
                      <a:r>
                        <a:rPr sz="900" b="0">
                          <a:solidFill>
                            <a:srgbClr val="1F2328"/>
                          </a:solidFill>
                          <a:latin typeface="Arial"/>
                        </a:rPr>
                        <a:t>Regulatory clock: MAS AIRM (effective)</a:t>
                      </a:r>
                    </a:p>
                  </a:txBody>
                  <a:tcPr marL="45720" marR="45720" marT="18288" marB="18288">
                    <a:solidFill>
                      <a:srgbClr val="FFFFFF"/>
                    </a:solidFill>
                  </a:tcPr>
                </a:tc>
                <a:tc>
                  <a:txBody>
                    <a:bodyPr wrap="square"/>
                    <a:lstStyle/>
                    <a:p>
                      <a:r>
                        <a:rPr sz="900" b="0">
                          <a:solidFill>
                            <a:srgbClr val="1F2328"/>
                          </a:solidFill>
                          <a:latin typeface="Arial"/>
                        </a:rPr>
                        <a:t>www.mas.gov.sg guidelines-on-artificial-intelligence-risk-ma</a:t>
                      </a:r>
                    </a:p>
                  </a:txBody>
                  <a:tcPr marL="45720" marR="45720" marT="18288" marB="18288">
                    <a:solidFill>
                      <a:srgbClr val="FFFFFF"/>
                    </a:solidFill>
                  </a:tcPr>
                </a:tc>
                <a:tc>
                  <a:txBody>
                    <a:bodyPr wrap="square"/>
                    <a:lstStyle/>
                    <a:p>
                      <a:r>
                        <a:rPr sz="900" b="0">
                          <a:solidFill>
                            <a:srgbClr val="1F2328"/>
                          </a:solidFill>
                          <a:latin typeface="Arial"/>
                        </a:rPr>
                        <a:t>unreachable</a:t>
                      </a:r>
                    </a:p>
                  </a:txBody>
                  <a:tcPr marL="45720" marR="45720" marT="18288" marB="18288">
                    <a:solidFill>
                      <a:srgbClr val="FFFFFF"/>
                    </a:solidFill>
                  </a:tcPr>
                </a:tc>
                <a:tc>
                  <a:txBody>
                    <a:bodyPr wrap="square"/>
                    <a:lstStyle/>
                    <a:p>
                      <a:r>
                        <a:rPr sz="900" b="0">
                          <a:solidFill>
                            <a:srgbClr val="1F2328"/>
                          </a:solidFill>
                          <a:latin typeface="Arial"/>
                        </a:rPr>
                        <a:t>re-run from a machine with egress, or attach the document under its publisher URL</a:t>
                      </a:r>
                    </a:p>
                  </a:txBody>
                  <a:tcPr marL="45720" marR="45720" marT="18288" marB="18288">
                    <a:solidFill>
                      <a:srgbClr val="FFFFFF"/>
                    </a:solidFill>
                  </a:tcPr>
                </a:tc>
                <a:tc>
                  <a:txBody>
                    <a:bodyPr wrap="square"/>
                    <a:lstStyle/>
                    <a:p>
                      <a:r>
                        <a:rPr sz="900" b="0">
                          <a:solidFill>
                            <a:srgbClr val="1F2328"/>
                          </a:solidFill>
                          <a:latin typeface="Arial"/>
                        </a:rPr>
                        <a:t>PLUMB (operator)</a:t>
                      </a:r>
                    </a:p>
                  </a:txBody>
                  <a:tcPr marL="45720" marR="45720" marT="18288" marB="18288">
                    <a:solidFill>
                      <a:srgbClr val="FFFFFF"/>
                    </a:solidFill>
                  </a:tcPr>
                </a:tc>
              </a:tr>
              <a:tr h="388620">
                <a:tc>
                  <a:txBody>
                    <a:bodyPr wrap="square"/>
                    <a:lstStyle/>
                    <a:p>
                      <a:r>
                        <a:rPr sz="900" b="0">
                          <a:solidFill>
                            <a:srgbClr val="1F2328"/>
                          </a:solidFill>
                          <a:latin typeface="Arial"/>
                        </a:rPr>
                        <a:t>G-7</a:t>
                      </a:r>
                    </a:p>
                  </a:txBody>
                  <a:tcPr marL="45720" marR="45720" marT="18288" marB="18288">
                    <a:solidFill>
                      <a:srgbClr val="FFFFFF"/>
                    </a:solidFill>
                  </a:tcPr>
                </a:tc>
                <a:tc>
                  <a:txBody>
                    <a:bodyPr wrap="square"/>
                    <a:lstStyle/>
                    <a:p>
                      <a:r>
                        <a:rPr sz="900" b="0">
                          <a:solidFill>
                            <a:srgbClr val="1F2328"/>
                          </a:solidFill>
                          <a:latin typeface="Arial"/>
                        </a:rPr>
                        <a:t>Regulatory clock: MAS AIRM (lifecycle)</a:t>
                      </a:r>
                    </a:p>
                  </a:txBody>
                  <a:tcPr marL="45720" marR="45720" marT="18288" marB="18288">
                    <a:solidFill>
                      <a:srgbClr val="FFFFFF"/>
                    </a:solidFill>
                  </a:tcPr>
                </a:tc>
                <a:tc>
                  <a:txBody>
                    <a:bodyPr wrap="square"/>
                    <a:lstStyle/>
                    <a:p>
                      <a:r>
                        <a:rPr sz="900" b="0">
                          <a:solidFill>
                            <a:srgbClr val="1F2328"/>
                          </a:solidFill>
                          <a:latin typeface="Arial"/>
                        </a:rPr>
                        <a:t>www.mas.gov.sg guidelines-on-artificial-intelligence-risk-ma</a:t>
                      </a:r>
                    </a:p>
                  </a:txBody>
                  <a:tcPr marL="45720" marR="45720" marT="18288" marB="18288">
                    <a:solidFill>
                      <a:srgbClr val="FFFFFF"/>
                    </a:solidFill>
                  </a:tcPr>
                </a:tc>
                <a:tc>
                  <a:txBody>
                    <a:bodyPr wrap="square"/>
                    <a:lstStyle/>
                    <a:p>
                      <a:r>
                        <a:rPr sz="900" b="0">
                          <a:solidFill>
                            <a:srgbClr val="1F2328"/>
                          </a:solidFill>
                          <a:latin typeface="Arial"/>
                        </a:rPr>
                        <a:t>unreachable</a:t>
                      </a:r>
                    </a:p>
                  </a:txBody>
                  <a:tcPr marL="45720" marR="45720" marT="18288" marB="18288">
                    <a:solidFill>
                      <a:srgbClr val="FFFFFF"/>
                    </a:solidFill>
                  </a:tcPr>
                </a:tc>
                <a:tc>
                  <a:txBody>
                    <a:bodyPr wrap="square"/>
                    <a:lstStyle/>
                    <a:p>
                      <a:r>
                        <a:rPr sz="900" b="0">
                          <a:solidFill>
                            <a:srgbClr val="1F2328"/>
                          </a:solidFill>
                          <a:latin typeface="Arial"/>
                        </a:rPr>
                        <a:t>re-run from a machine with egress, or attach the document under its publisher URL</a:t>
                      </a:r>
                    </a:p>
                  </a:txBody>
                  <a:tcPr marL="45720" marR="45720" marT="18288" marB="18288">
                    <a:solidFill>
                      <a:srgbClr val="FFFFFF"/>
                    </a:solidFill>
                  </a:tcPr>
                </a:tc>
                <a:tc>
                  <a:txBody>
                    <a:bodyPr wrap="square"/>
                    <a:lstStyle/>
                    <a:p>
                      <a:r>
                        <a:rPr sz="900" b="0">
                          <a:solidFill>
                            <a:srgbClr val="1F2328"/>
                          </a:solidFill>
                          <a:latin typeface="Arial"/>
                        </a:rPr>
                        <a:t>PLUMB (operator)</a:t>
                      </a:r>
                    </a:p>
                  </a:txBody>
                  <a:tcPr marL="45720" marR="45720" marT="18288" marB="18288">
                    <a:solidFill>
                      <a:srgbClr val="FFFFFF"/>
                    </a:solidFill>
                  </a:tcPr>
                </a:tc>
              </a:tr>
            </a:tbl>
          </a:graphicData>
        </a:graphic>
      </p:graphicFrame>
      <p:sp>
        <p:nvSpPr>
          <p:cNvPr id="8" name="TextBox 7"/>
          <p:cNvSpPr txBox="1"/>
          <p:nvPr/>
        </p:nvSpPr>
        <p:spPr>
          <a:xfrm>
            <a:off x="548640" y="4874260"/>
            <a:ext cx="11094415" cy="231902"/>
          </a:xfrm>
          <a:prstGeom prst="rect">
            <a:avLst/>
          </a:prstGeom>
          <a:noFill/>
        </p:spPr>
        <p:txBody>
          <a:bodyPr wrap="square" lIns="45720" rIns="45720" tIns="27432" bIns="27432" anchor="t">
            <a:spAutoFit/>
          </a:bodyPr>
          <a:lstStyle/>
          <a:p>
            <a:r>
              <a:rPr sz="1000" b="0" i="0">
                <a:solidFill>
                  <a:srgbClr val="57606A"/>
                </a:solidFill>
                <a:latin typeface="Arial"/>
              </a:rPr>
              <a:t>Also listed in the run's gap register: 19 module data gaps and 26 [VERIFY] items (what this run cannot tell you).</a:t>
            </a:r>
          </a:p>
        </p:txBody>
      </p:sp>
      <p:sp>
        <p:nvSpPr>
          <p:cNvPr id="9" name="plumbdeck-source"/>
          <p:cNvSpPr txBox="1"/>
          <p:nvPr/>
        </p:nvSpPr>
        <p:spPr>
          <a:xfrm>
            <a:off x="548640" y="5943600"/>
            <a:ext cx="11094415" cy="347472"/>
          </a:xfrm>
          <a:prstGeom prst="rect">
            <a:avLst/>
          </a:prstGeom>
          <a:noFill/>
        </p:spPr>
        <p:txBody>
          <a:bodyPr wrap="square" lIns="45720" rIns="45720" tIns="27432" bIns="27432" anchor="t">
            <a:spAutoFit/>
          </a:bodyPr>
          <a:lstStyle/>
          <a:p>
            <a:r>
              <a:rPr sz="900" b="0" i="0">
                <a:solidFill>
                  <a:srgbClr val="57606A"/>
                </a:solidFill>
                <a:latin typeface="Arial"/>
              </a:rPr>
              <a:t>Source: PLUMB build report research-e0bc54685dce, 2026-10-25</a:t>
            </a:r>
          </a:p>
        </p:txBody>
      </p:sp>
      <p:sp>
        <p:nvSpPr>
          <p:cNvPr id="10" name="Rectangle 9"/>
          <p:cNvSpPr/>
          <p:nvPr/>
        </p:nvSpPr>
        <p:spPr>
          <a:xfrm>
            <a:off x="548640" y="6322885"/>
            <a:ext cx="11094415" cy="9525"/>
          </a:xfrm>
          <a:prstGeom prst="rect">
            <a:avLst/>
          </a:prstGeom>
          <a:solidFill>
            <a:srgbClr val="D0D7DE"/>
          </a:solidFill>
          <a:ln>
            <a:noFill/>
          </a:ln>
          <a:effectLst/>
        </p:spPr>
        <p:txBody>
          <a:bodyPr rtlCol="0" anchor="ctr"/>
          <a:lstStyle/>
          <a:p>
            <a:pPr algn="ctr"/>
          </a:p>
        </p:txBody>
      </p:sp>
      <p:sp>
        <p:nvSpPr>
          <p:cNvPr id="11" name="plumbdeck-footer"/>
          <p:cNvSpPr txBox="1"/>
          <p:nvPr/>
        </p:nvSpPr>
        <p:spPr>
          <a:xfrm>
            <a:off x="548640" y="6373368"/>
            <a:ext cx="10362895" cy="365760"/>
          </a:xfrm>
          <a:prstGeom prst="rect">
            <a:avLst/>
          </a:prstGeom>
          <a:noFill/>
        </p:spPr>
        <p:txBody>
          <a:bodyPr wrap="square" lIns="45720" rIns="45720" tIns="27432" bIns="27432" anchor="t">
            <a:spAutoFit/>
          </a:bodyPr>
          <a:lstStyle/>
          <a:p>
            <a:r>
              <a:rPr sz="800" b="0" i="0">
                <a:solidFill>
                  <a:srgbClr val="57606A"/>
                </a:solidFill>
                <a:latin typeface="Arial"/>
              </a:rPr>
              <a:t>DRAFT — not for board use. Deliverable PLUMB-PR-great-eastern-research-e0bc54685dce v0.1.</a:t>
            </a:r>
          </a:p>
        </p:txBody>
      </p:sp>
      <p:sp>
        <p:nvSpPr>
          <p:cNvPr id="12" name="TextBox 11"/>
          <p:cNvSpPr txBox="1"/>
          <p:nvPr/>
        </p:nvSpPr>
        <p:spPr>
          <a:xfrm>
            <a:off x="11002975" y="6373368"/>
            <a:ext cx="640080" cy="274320"/>
          </a:xfrm>
          <a:prstGeom prst="rect">
            <a:avLst/>
          </a:prstGeom>
          <a:noFill/>
        </p:spPr>
        <p:txBody>
          <a:bodyPr wrap="square" lIns="45720" rIns="45720" tIns="27432" bIns="27432" anchor="t">
            <a:spAutoFit/>
          </a:bodyPr>
          <a:lstStyle/>
          <a:p>
            <a:pPr algn="r"/>
            <a:r>
              <a:rPr sz="800" b="0" i="0">
                <a:solidFill>
                  <a:srgbClr val="57606A"/>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plumbdeck-banner"/>
          <p:cNvSpPr txBox="1"/>
          <p:nvPr/>
        </p:nvSpPr>
        <p:spPr>
          <a:xfrm>
            <a:off x="0" y="0"/>
            <a:ext cx="12191695" cy="384048"/>
          </a:xfrm>
          <a:prstGeom prst="rect">
            <a:avLst/>
          </a:prstGeom>
          <a:solidFill>
            <a:srgbClr val="B42318"/>
          </a:solidFill>
        </p:spPr>
        <p:txBody>
          <a:bodyPr wrap="square" lIns="45720" rIns="45720" tIns="27432" bIns="27432" anchor="ctr">
            <a:spAutoFit/>
          </a:bodyPr>
          <a:lstStyle/>
          <a:p>
            <a:pPr algn="ctr"/>
            <a:r>
              <a:rPr sz="1100" b="1" i="0">
                <a:solidFill>
                  <a:srgbClr val="FFFFFF"/>
                </a:solidFill>
                <a:latin typeface="Arial"/>
              </a:rPr>
              <a:t>DRAFT — not for board use (internal profile; 1 attachment unreconciled; resolution 0.1429; no QA gate 3 sign-off)</a:t>
            </a:r>
          </a:p>
        </p:txBody>
      </p:sp>
      <p:sp>
        <p:nvSpPr>
          <p:cNvPr id="3" name="plumbdeck-section"/>
          <p:cNvSpPr txBox="1"/>
          <p:nvPr/>
        </p:nvSpPr>
        <p:spPr>
          <a:xfrm>
            <a:off x="548640" y="502920"/>
            <a:ext cx="11094415" cy="274320"/>
          </a:xfrm>
          <a:prstGeom prst="rect">
            <a:avLst/>
          </a:prstGeom>
          <a:noFill/>
        </p:spPr>
        <p:txBody>
          <a:bodyPr wrap="square" lIns="45720" rIns="45720" tIns="27432" bIns="27432" anchor="t">
            <a:spAutoFit/>
          </a:bodyPr>
          <a:lstStyle/>
          <a:p>
            <a:r>
              <a:rPr sz="1000" b="0" i="0">
                <a:solidFill>
                  <a:srgbClr val="57606A"/>
                </a:solidFill>
                <a:latin typeface="Arial"/>
              </a:rPr>
              <a:t>A1 · Appendix — evidence log  (1/4)</a:t>
            </a:r>
          </a:p>
        </p:txBody>
      </p:sp>
      <p:sp>
        <p:nvSpPr>
          <p:cNvPr id="4" name="plumbdeck-title"/>
          <p:cNvSpPr txBox="1"/>
          <p:nvPr/>
        </p:nvSpPr>
        <p:spPr>
          <a:xfrm>
            <a:off x="548640" y="822960"/>
            <a:ext cx="11094415" cy="466344"/>
          </a:xfrm>
          <a:prstGeom prst="rect">
            <a:avLst/>
          </a:prstGeom>
          <a:noFill/>
        </p:spPr>
        <p:txBody>
          <a:bodyPr wrap="square" lIns="45720" rIns="45720" tIns="27432" bIns="27432" anchor="t">
            <a:spAutoFit/>
          </a:bodyPr>
          <a:lstStyle/>
          <a:p>
            <a:r>
              <a:rPr sz="2000" b="1" i="0">
                <a:solidFill>
                  <a:srgbClr val="1F2328"/>
                </a:solidFill>
                <a:latin typeface="Arial"/>
              </a:rPr>
              <a:t>Every released claim traces to a stored source passage, page and hash</a:t>
            </a:r>
          </a:p>
        </p:txBody>
      </p:sp>
      <p:sp>
        <p:nvSpPr>
          <p:cNvPr id="5" name="Rectangle 4"/>
          <p:cNvSpPr/>
          <p:nvPr/>
        </p:nvSpPr>
        <p:spPr>
          <a:xfrm>
            <a:off x="548640" y="1330261"/>
            <a:ext cx="11094415" cy="9525"/>
          </a:xfrm>
          <a:prstGeom prst="rect">
            <a:avLst/>
          </a:prstGeom>
          <a:solidFill>
            <a:srgbClr val="D0D7DE"/>
          </a:solidFill>
          <a:ln>
            <a:noFill/>
          </a:ln>
          <a:effectLst/>
        </p:spPr>
        <p:txBody>
          <a:bodyPr rtlCol="0" anchor="ctr"/>
          <a:lstStyle/>
          <a:p>
            <a:pPr algn="ctr"/>
          </a:p>
        </p:txBody>
      </p:sp>
      <p:graphicFrame>
        <p:nvGraphicFramePr>
          <p:cNvPr id="6" name="Table 5"/>
          <p:cNvGraphicFramePr>
            <a:graphicFrameLocks noGrp="1"/>
          </p:cNvGraphicFramePr>
          <p:nvPr/>
        </p:nvGraphicFramePr>
        <p:xfrm>
          <a:off x="548640" y="1472184"/>
          <a:ext cx="11094411" cy="3358133"/>
        </p:xfrm>
        <a:graphic>
          <a:graphicData uri="http://schemas.openxmlformats.org/drawingml/2006/table">
            <a:tbl>
              <a:tblPr firstRow="1" bandRow="1">
                <a:tableStyleId>{5C22544A-7EE6-4342-B048-85BDC9FD1C3A}</a:tableStyleId>
              </a:tblPr>
              <a:tblGrid>
                <a:gridCol w="1415103"/>
                <a:gridCol w="679249"/>
                <a:gridCol w="5207582"/>
                <a:gridCol w="566041"/>
                <a:gridCol w="452833"/>
                <a:gridCol w="792458"/>
                <a:gridCol w="849062"/>
                <a:gridCol w="1132083"/>
              </a:tblGrid>
              <a:tr h="249173">
                <a:tc>
                  <a:txBody>
                    <a:bodyPr wrap="square"/>
                    <a:lstStyle/>
                    <a:p>
                      <a:r>
                        <a:rPr sz="900" b="1">
                          <a:solidFill>
                            <a:srgbClr val="1F2328"/>
                          </a:solidFill>
                          <a:latin typeface="Arial"/>
                        </a:rPr>
                        <a:t>Claim</a:t>
                      </a:r>
                    </a:p>
                  </a:txBody>
                  <a:tcPr marL="45720" marR="45720" marT="18288" marB="18288">
                    <a:solidFill>
                      <a:srgbClr val="EEF1F4"/>
                    </a:solidFill>
                  </a:tcPr>
                </a:tc>
                <a:tc>
                  <a:txBody>
                    <a:bodyPr wrap="square"/>
                    <a:lstStyle/>
                    <a:p>
                      <a:r>
                        <a:rPr sz="900" b="1">
                          <a:solidFill>
                            <a:srgbClr val="1F2328"/>
                          </a:solidFill>
                          <a:latin typeface="Arial"/>
                        </a:rPr>
                        <a:t>Slides</a:t>
                      </a:r>
                    </a:p>
                  </a:txBody>
                  <a:tcPr marL="45720" marR="45720" marT="18288" marB="18288">
                    <a:solidFill>
                      <a:srgbClr val="EEF1F4"/>
                    </a:solidFill>
                  </a:tcPr>
                </a:tc>
                <a:tc>
                  <a:txBody>
                    <a:bodyPr wrap="square"/>
                    <a:lstStyle/>
                    <a:p>
                      <a:r>
                        <a:rPr sz="900" b="1">
                          <a:solidFill>
                            <a:srgbClr val="1F2328"/>
                          </a:solidFill>
                          <a:latin typeface="Arial"/>
                        </a:rPr>
                        <a:t>Claim text</a:t>
                      </a:r>
                    </a:p>
                  </a:txBody>
                  <a:tcPr marL="45720" marR="45720" marT="18288" marB="18288">
                    <a:solidFill>
                      <a:srgbClr val="EEF1F4"/>
                    </a:solidFill>
                  </a:tcPr>
                </a:tc>
                <a:tc>
                  <a:txBody>
                    <a:bodyPr wrap="square"/>
                    <a:lstStyle/>
                    <a:p>
                      <a:r>
                        <a:rPr sz="900" b="1">
                          <a:solidFill>
                            <a:srgbClr val="1F2328"/>
                          </a:solidFill>
                          <a:latin typeface="Arial"/>
                        </a:rPr>
                        <a:t>Page</a:t>
                      </a:r>
                    </a:p>
                  </a:txBody>
                  <a:tcPr marL="45720" marR="45720" marT="18288" marB="18288">
                    <a:solidFill>
                      <a:srgbClr val="EEF1F4"/>
                    </a:solidFill>
                  </a:tcPr>
                </a:tc>
                <a:tc>
                  <a:txBody>
                    <a:bodyPr wrap="square"/>
                    <a:lstStyle/>
                    <a:p>
                      <a:r>
                        <a:rPr sz="900" b="1">
                          <a:solidFill>
                            <a:srgbClr val="1F2328"/>
                          </a:solidFill>
                          <a:latin typeface="Arial"/>
                        </a:rPr>
                        <a:t>Tier</a:t>
                      </a:r>
                    </a:p>
                  </a:txBody>
                  <a:tcPr marL="45720" marR="45720" marT="18288" marB="18288">
                    <a:solidFill>
                      <a:srgbClr val="EEF1F4"/>
                    </a:solidFill>
                  </a:tcPr>
                </a:tc>
                <a:tc>
                  <a:txBody>
                    <a:bodyPr wrap="square"/>
                    <a:lstStyle/>
                    <a:p>
                      <a:r>
                        <a:rPr sz="900" b="1">
                          <a:solidFill>
                            <a:srgbClr val="1F2328"/>
                          </a:solidFill>
                          <a:latin typeface="Arial"/>
                        </a:rPr>
                        <a:t>Label</a:t>
                      </a:r>
                    </a:p>
                  </a:txBody>
                  <a:tcPr marL="45720" marR="45720" marT="18288" marB="18288">
                    <a:solidFill>
                      <a:srgbClr val="EEF1F4"/>
                    </a:solidFill>
                  </a:tcPr>
                </a:tc>
                <a:tc>
                  <a:txBody>
                    <a:bodyPr wrap="square"/>
                    <a:lstStyle/>
                    <a:p>
                      <a:r>
                        <a:rPr sz="900" b="1">
                          <a:solidFill>
                            <a:srgbClr val="1F2328"/>
                          </a:solidFill>
                          <a:latin typeface="Arial"/>
                        </a:rPr>
                        <a:t>Hash</a:t>
                      </a:r>
                    </a:p>
                  </a:txBody>
                  <a:tcPr marL="45720" marR="45720" marT="18288" marB="18288">
                    <a:solidFill>
                      <a:srgbClr val="EEF1F4"/>
                    </a:solidFill>
                  </a:tcPr>
                </a:tc>
                <a:tc>
                  <a:txBody>
                    <a:bodyPr wrap="square"/>
                    <a:lstStyle/>
                    <a:p>
                      <a:r>
                        <a:rPr sz="900" b="1">
                          <a:solidFill>
                            <a:srgbClr val="1F2328"/>
                          </a:solidFill>
                          <a:latin typeface="Arial"/>
                        </a:rPr>
                        <a:t>State</a:t>
                      </a:r>
                    </a:p>
                  </a:txBody>
                  <a:tcPr marL="45720" marR="45720" marT="18288" marB="18288">
                    <a:solidFill>
                      <a:srgbClr val="EEF1F4"/>
                    </a:solidFill>
                  </a:tcPr>
                </a:tc>
              </a:tr>
              <a:tr h="388620">
                <a:tc>
                  <a:txBody>
                    <a:bodyPr wrap="square"/>
                    <a:lstStyle/>
                    <a:p>
                      <a:r>
                        <a:rPr sz="900" b="0">
                          <a:solidFill>
                            <a:srgbClr val="1F2328"/>
                          </a:solidFill>
                          <a:latin typeface="Arial"/>
                        </a:rPr>
                        <a:t>q1</a:t>
                      </a:r>
                    </a:p>
                  </a:txBody>
                  <a:tcPr marL="45720" marR="45720" marT="18288" marB="18288">
                    <a:solidFill>
                      <a:srgbClr val="FFFFFF"/>
                    </a:solidFill>
                  </a:tcPr>
                </a:tc>
                <a:tc>
                  <a:txBody>
                    <a:bodyPr wrap="square"/>
                    <a:lstStyle/>
                    <a:p>
                      <a:r>
                        <a:rPr sz="900" b="0">
                          <a:solidFill>
                            <a:srgbClr val="1F2328"/>
                          </a:solidFill>
                          <a:latin typeface="Arial"/>
                        </a:rPr>
                        <a:t>S06</a:t>
                      </a:r>
                    </a:p>
                  </a:txBody>
                  <a:tcPr marL="45720" marR="45720" marT="18288" marB="18288">
                    <a:solidFill>
                      <a:srgbClr val="FFFFFF"/>
                    </a:solidFill>
                  </a:tcPr>
                </a:tc>
                <a:tc>
                  <a:txBody>
                    <a:bodyPr wrap="square"/>
                    <a:lstStyle/>
                    <a:p>
                      <a:r>
                        <a:rPr sz="900" b="0">
                          <a:solidFill>
                            <a:srgbClr val="1F2328"/>
                          </a:solidFill>
                          <a:latin typeface="Arial"/>
                        </a:rPr>
                        <a:t>In 2025, we deployed an AI-enabled advisory platform that aims to reduce preparation time for financial adv…</a:t>
                      </a:r>
                    </a:p>
                  </a:txBody>
                  <a:tcPr marL="45720" marR="45720" marT="18288" marB="18288">
                    <a:solidFill>
                      <a:srgbClr val="FFFFFF"/>
                    </a:solidFill>
                  </a:tcPr>
                </a:tc>
                <a:tc>
                  <a:txBody>
                    <a:bodyPr wrap="square"/>
                    <a:lstStyle/>
                    <a:p>
                      <a:r>
                        <a:rPr sz="900" b="0">
                          <a:solidFill>
                            <a:srgbClr val="1F2328"/>
                          </a:solidFill>
                          <a:latin typeface="Arial"/>
                        </a:rPr>
                        <a:t>p. 14</a:t>
                      </a:r>
                    </a:p>
                  </a:txBody>
                  <a:tcPr marL="45720" marR="45720" marT="18288" marB="18288">
                    <a:solidFill>
                      <a:srgbClr val="FFFFFF"/>
                    </a:solidFill>
                  </a:tcPr>
                </a:tc>
                <a:tc>
                  <a:txBody>
                    <a:bodyPr wrap="square"/>
                    <a:lstStyle/>
                    <a:p>
                      <a:r>
                        <a:rPr sz="900" b="0">
                          <a:solidFill>
                            <a:srgbClr val="1F2328"/>
                          </a:solidFill>
                          <a:latin typeface="Arial"/>
                        </a:rPr>
                        <a:t>T2</a:t>
                      </a:r>
                    </a:p>
                  </a:txBody>
                  <a:tcPr marL="45720" marR="45720" marT="18288" marB="18288">
                    <a:solidFill>
                      <a:srgbClr val="FFFFFF"/>
                    </a:solidFill>
                  </a:tcPr>
                </a:tc>
                <a:tc>
                  <a:txBody>
                    <a:bodyPr wrap="square"/>
                    <a:lstStyle/>
                    <a:p>
                      <a:r>
                        <a:rPr sz="900" b="0">
                          <a:solidFill>
                            <a:srgbClr val="1F2328"/>
                          </a:solidFill>
                          <a:latin typeface="Arial"/>
                        </a:rPr>
                        <a:t>filed</a:t>
                      </a:r>
                    </a:p>
                  </a:txBody>
                  <a:tcPr marL="45720" marR="45720" marT="18288" marB="18288">
                    <a:solidFill>
                      <a:srgbClr val="FFFFFF"/>
                    </a:solidFill>
                  </a:tcPr>
                </a:tc>
                <a:tc>
                  <a:txBody>
                    <a:bodyPr wrap="square"/>
                    <a:lstStyle/>
                    <a:p>
                      <a:r>
                        <a:rPr sz="900" b="0">
                          <a:solidFill>
                            <a:srgbClr val="1F2328"/>
                          </a:solidFill>
                          <a:latin typeface="Arial"/>
                        </a:rPr>
                        <a:t>ae320cb3</a:t>
                      </a:r>
                    </a:p>
                  </a:txBody>
                  <a:tcPr marL="45720" marR="45720" marT="18288" marB="18288">
                    <a:solidFill>
                      <a:srgbClr val="FFFFFF"/>
                    </a:solidFill>
                  </a:tcPr>
                </a:tc>
                <a:tc>
                  <a:txBody>
                    <a:bodyPr wrap="square"/>
                    <a:lstStyle/>
                    <a:p>
                      <a:r>
                        <a:rPr sz="900" b="0">
                          <a:solidFill>
                            <a:srgbClr val="1F2328"/>
                          </a:solidFill>
                          <a:latin typeface="Arial"/>
                        </a:rPr>
                        <a:t>RELEASED (attached)</a:t>
                      </a:r>
                    </a:p>
                  </a:txBody>
                  <a:tcPr marL="45720" marR="45720" marT="18288" marB="18288">
                    <a:solidFill>
                      <a:srgbClr val="FFFFFF"/>
                    </a:solidFill>
                  </a:tcPr>
                </a:tc>
              </a:tr>
              <a:tr h="388620">
                <a:tc>
                  <a:txBody>
                    <a:bodyPr wrap="square"/>
                    <a:lstStyle/>
                    <a:p>
                      <a:r>
                        <a:rPr sz="900" b="0">
                          <a:solidFill>
                            <a:srgbClr val="1F2328"/>
                          </a:solidFill>
                          <a:latin typeface="Arial"/>
                        </a:rPr>
                        <a:t>q2</a:t>
                      </a:r>
                    </a:p>
                  </a:txBody>
                  <a:tcPr marL="45720" marR="45720" marT="18288" marB="18288">
                    <a:solidFill>
                      <a:srgbClr val="FFFFFF"/>
                    </a:solidFill>
                  </a:tcPr>
                </a:tc>
                <a:tc>
                  <a:txBody>
                    <a:bodyPr wrap="square"/>
                    <a:lstStyle/>
                    <a:p>
                      <a:r>
                        <a:rPr sz="900" b="0">
                          <a:solidFill>
                            <a:srgbClr val="1F2328"/>
                          </a:solidFill>
                          <a:latin typeface="Arial"/>
                        </a:rPr>
                        <a:t>S06</a:t>
                      </a:r>
                    </a:p>
                  </a:txBody>
                  <a:tcPr marL="45720" marR="45720" marT="18288" marB="18288">
                    <a:solidFill>
                      <a:srgbClr val="FFFFFF"/>
                    </a:solidFill>
                  </a:tcPr>
                </a:tc>
                <a:tc>
                  <a:txBody>
                    <a:bodyPr wrap="square"/>
                    <a:lstStyle/>
                    <a:p>
                      <a:r>
                        <a:rPr sz="900" b="0">
                          <a:solidFill>
                            <a:srgbClr val="1F2328"/>
                          </a:solidFill>
                          <a:latin typeface="Arial"/>
                        </a:rPr>
                        <a:t>We rolled out a proprietary AI-powered platform to automate medical claims, enhancing claim efficiency whil…</a:t>
                      </a:r>
                    </a:p>
                  </a:txBody>
                  <a:tcPr marL="45720" marR="45720" marT="18288" marB="18288">
                    <a:solidFill>
                      <a:srgbClr val="FFFFFF"/>
                    </a:solidFill>
                  </a:tcPr>
                </a:tc>
                <a:tc>
                  <a:txBody>
                    <a:bodyPr wrap="square"/>
                    <a:lstStyle/>
                    <a:p>
                      <a:r>
                        <a:rPr sz="900" b="0">
                          <a:solidFill>
                            <a:srgbClr val="1F2328"/>
                          </a:solidFill>
                          <a:latin typeface="Arial"/>
                        </a:rPr>
                        <a:t>p. 14</a:t>
                      </a:r>
                    </a:p>
                  </a:txBody>
                  <a:tcPr marL="45720" marR="45720" marT="18288" marB="18288">
                    <a:solidFill>
                      <a:srgbClr val="FFFFFF"/>
                    </a:solidFill>
                  </a:tcPr>
                </a:tc>
                <a:tc>
                  <a:txBody>
                    <a:bodyPr wrap="square"/>
                    <a:lstStyle/>
                    <a:p>
                      <a:r>
                        <a:rPr sz="900" b="0">
                          <a:solidFill>
                            <a:srgbClr val="1F2328"/>
                          </a:solidFill>
                          <a:latin typeface="Arial"/>
                        </a:rPr>
                        <a:t>T2</a:t>
                      </a:r>
                    </a:p>
                  </a:txBody>
                  <a:tcPr marL="45720" marR="45720" marT="18288" marB="18288">
                    <a:solidFill>
                      <a:srgbClr val="FFFFFF"/>
                    </a:solidFill>
                  </a:tcPr>
                </a:tc>
                <a:tc>
                  <a:txBody>
                    <a:bodyPr wrap="square"/>
                    <a:lstStyle/>
                    <a:p>
                      <a:r>
                        <a:rPr sz="900" b="0">
                          <a:solidFill>
                            <a:srgbClr val="1F2328"/>
                          </a:solidFill>
                          <a:latin typeface="Arial"/>
                        </a:rPr>
                        <a:t>filed</a:t>
                      </a:r>
                    </a:p>
                  </a:txBody>
                  <a:tcPr marL="45720" marR="45720" marT="18288" marB="18288">
                    <a:solidFill>
                      <a:srgbClr val="FFFFFF"/>
                    </a:solidFill>
                  </a:tcPr>
                </a:tc>
                <a:tc>
                  <a:txBody>
                    <a:bodyPr wrap="square"/>
                    <a:lstStyle/>
                    <a:p>
                      <a:r>
                        <a:rPr sz="900" b="0">
                          <a:solidFill>
                            <a:srgbClr val="1F2328"/>
                          </a:solidFill>
                          <a:latin typeface="Arial"/>
                        </a:rPr>
                        <a:t>ae320cb3</a:t>
                      </a:r>
                    </a:p>
                  </a:txBody>
                  <a:tcPr marL="45720" marR="45720" marT="18288" marB="18288">
                    <a:solidFill>
                      <a:srgbClr val="FFFFFF"/>
                    </a:solidFill>
                  </a:tcPr>
                </a:tc>
                <a:tc>
                  <a:txBody>
                    <a:bodyPr wrap="square"/>
                    <a:lstStyle/>
                    <a:p>
                      <a:r>
                        <a:rPr sz="900" b="0">
                          <a:solidFill>
                            <a:srgbClr val="1F2328"/>
                          </a:solidFill>
                          <a:latin typeface="Arial"/>
                        </a:rPr>
                        <a:t>RELEASED (attached)</a:t>
                      </a:r>
                    </a:p>
                  </a:txBody>
                  <a:tcPr marL="45720" marR="45720" marT="18288" marB="18288">
                    <a:solidFill>
                      <a:srgbClr val="FFFFFF"/>
                    </a:solidFill>
                  </a:tcPr>
                </a:tc>
              </a:tr>
              <a:tr h="388620">
                <a:tc>
                  <a:txBody>
                    <a:bodyPr wrap="square"/>
                    <a:lstStyle/>
                    <a:p>
                      <a:r>
                        <a:rPr sz="900" b="0">
                          <a:solidFill>
                            <a:srgbClr val="1F2328"/>
                          </a:solidFill>
                          <a:latin typeface="Arial"/>
                        </a:rPr>
                        <a:t>q3</a:t>
                      </a:r>
                    </a:p>
                  </a:txBody>
                  <a:tcPr marL="45720" marR="45720" marT="18288" marB="18288">
                    <a:solidFill>
                      <a:srgbClr val="FFFFFF"/>
                    </a:solidFill>
                  </a:tcPr>
                </a:tc>
                <a:tc>
                  <a:txBody>
                    <a:bodyPr wrap="square"/>
                    <a:lstStyle/>
                    <a:p>
                      <a:r>
                        <a:rPr sz="900" b="0">
                          <a:solidFill>
                            <a:srgbClr val="1F2328"/>
                          </a:solidFill>
                          <a:latin typeface="Arial"/>
                        </a:rPr>
                        <a:t>S06</a:t>
                      </a:r>
                    </a:p>
                  </a:txBody>
                  <a:tcPr marL="45720" marR="45720" marT="18288" marB="18288">
                    <a:solidFill>
                      <a:srgbClr val="FFFFFF"/>
                    </a:solidFill>
                  </a:tcPr>
                </a:tc>
                <a:tc>
                  <a:txBody>
                    <a:bodyPr wrap="square"/>
                    <a:lstStyle/>
                    <a:p>
                      <a:r>
                        <a:rPr sz="900" b="0">
                          <a:solidFill>
                            <a:srgbClr val="1F2328"/>
                          </a:solidFill>
                          <a:latin typeface="Arial"/>
                        </a:rPr>
                        <a:t>In 2025, our AI-driven claims system delivered same-day turnarounds for 75% of medical claims, one of the f…</a:t>
                      </a:r>
                    </a:p>
                  </a:txBody>
                  <a:tcPr marL="45720" marR="45720" marT="18288" marB="18288">
                    <a:solidFill>
                      <a:srgbClr val="FFFFFF"/>
                    </a:solidFill>
                  </a:tcPr>
                </a:tc>
                <a:tc>
                  <a:txBody>
                    <a:bodyPr wrap="square"/>
                    <a:lstStyle/>
                    <a:p>
                      <a:r>
                        <a:rPr sz="900" b="0">
                          <a:solidFill>
                            <a:srgbClr val="1F2328"/>
                          </a:solidFill>
                          <a:latin typeface="Arial"/>
                        </a:rPr>
                        <a:t>p. 40</a:t>
                      </a:r>
                    </a:p>
                  </a:txBody>
                  <a:tcPr marL="45720" marR="45720" marT="18288" marB="18288">
                    <a:solidFill>
                      <a:srgbClr val="FFFFFF"/>
                    </a:solidFill>
                  </a:tcPr>
                </a:tc>
                <a:tc>
                  <a:txBody>
                    <a:bodyPr wrap="square"/>
                    <a:lstStyle/>
                    <a:p>
                      <a:r>
                        <a:rPr sz="900" b="0">
                          <a:solidFill>
                            <a:srgbClr val="1F2328"/>
                          </a:solidFill>
                          <a:latin typeface="Arial"/>
                        </a:rPr>
                        <a:t>T2</a:t>
                      </a:r>
                    </a:p>
                  </a:txBody>
                  <a:tcPr marL="45720" marR="45720" marT="18288" marB="18288">
                    <a:solidFill>
                      <a:srgbClr val="FFFFFF"/>
                    </a:solidFill>
                  </a:tcPr>
                </a:tc>
                <a:tc>
                  <a:txBody>
                    <a:bodyPr wrap="square"/>
                    <a:lstStyle/>
                    <a:p>
                      <a:r>
                        <a:rPr sz="900" b="0">
                          <a:solidFill>
                            <a:srgbClr val="1F2328"/>
                          </a:solidFill>
                          <a:latin typeface="Arial"/>
                        </a:rPr>
                        <a:t>filed</a:t>
                      </a:r>
                    </a:p>
                  </a:txBody>
                  <a:tcPr marL="45720" marR="45720" marT="18288" marB="18288">
                    <a:solidFill>
                      <a:srgbClr val="FFFFFF"/>
                    </a:solidFill>
                  </a:tcPr>
                </a:tc>
                <a:tc>
                  <a:txBody>
                    <a:bodyPr wrap="square"/>
                    <a:lstStyle/>
                    <a:p>
                      <a:r>
                        <a:rPr sz="900" b="0">
                          <a:solidFill>
                            <a:srgbClr val="1F2328"/>
                          </a:solidFill>
                          <a:latin typeface="Arial"/>
                        </a:rPr>
                        <a:t>ae320cb3</a:t>
                      </a:r>
                    </a:p>
                  </a:txBody>
                  <a:tcPr marL="45720" marR="45720" marT="18288" marB="18288">
                    <a:solidFill>
                      <a:srgbClr val="FFFFFF"/>
                    </a:solidFill>
                  </a:tcPr>
                </a:tc>
                <a:tc>
                  <a:txBody>
                    <a:bodyPr wrap="square"/>
                    <a:lstStyle/>
                    <a:p>
                      <a:r>
                        <a:rPr sz="900" b="0">
                          <a:solidFill>
                            <a:srgbClr val="1F2328"/>
                          </a:solidFill>
                          <a:latin typeface="Arial"/>
                        </a:rPr>
                        <a:t>RELEASED (attached)</a:t>
                      </a:r>
                    </a:p>
                  </a:txBody>
                  <a:tcPr marL="45720" marR="45720" marT="18288" marB="18288">
                    <a:solidFill>
                      <a:srgbClr val="FFFFFF"/>
                    </a:solidFill>
                  </a:tcPr>
                </a:tc>
              </a:tr>
              <a:tr h="388620">
                <a:tc>
                  <a:txBody>
                    <a:bodyPr wrap="square"/>
                    <a:lstStyle/>
                    <a:p>
                      <a:r>
                        <a:rPr sz="900" b="0">
                          <a:solidFill>
                            <a:srgbClr val="1F2328"/>
                          </a:solidFill>
                          <a:latin typeface="Arial"/>
                        </a:rPr>
                        <a:t>q4</a:t>
                      </a:r>
                    </a:p>
                  </a:txBody>
                  <a:tcPr marL="45720" marR="45720" marT="18288" marB="18288">
                    <a:solidFill>
                      <a:srgbClr val="FFFFFF"/>
                    </a:solidFill>
                  </a:tcPr>
                </a:tc>
                <a:tc>
                  <a:txBody>
                    <a:bodyPr wrap="square"/>
                    <a:lstStyle/>
                    <a:p>
                      <a:r>
                        <a:rPr sz="900" b="0">
                          <a:solidFill>
                            <a:srgbClr val="1F2328"/>
                          </a:solidFill>
                          <a:latin typeface="Arial"/>
                        </a:rPr>
                        <a:t>S06</a:t>
                      </a:r>
                    </a:p>
                  </a:txBody>
                  <a:tcPr marL="45720" marR="45720" marT="18288" marB="18288">
                    <a:solidFill>
                      <a:srgbClr val="FFFFFF"/>
                    </a:solidFill>
                  </a:tcPr>
                </a:tc>
                <a:tc>
                  <a:txBody>
                    <a:bodyPr wrap="square"/>
                    <a:lstStyle/>
                    <a:p>
                      <a:r>
                        <a:rPr sz="900" b="0">
                          <a:solidFill>
                            <a:srgbClr val="1F2328"/>
                          </a:solidFill>
                          <a:latin typeface="Arial"/>
                        </a:rPr>
                        <a:t>ZHAO JINGYUAN Managing Director, Group Data and AI</a:t>
                      </a:r>
                    </a:p>
                  </a:txBody>
                  <a:tcPr marL="45720" marR="45720" marT="18288" marB="18288">
                    <a:solidFill>
                      <a:srgbClr val="FFFFFF"/>
                    </a:solidFill>
                  </a:tcPr>
                </a:tc>
                <a:tc>
                  <a:txBody>
                    <a:bodyPr wrap="square"/>
                    <a:lstStyle/>
                    <a:p>
                      <a:r>
                        <a:rPr sz="900" b="0">
                          <a:solidFill>
                            <a:srgbClr val="1F2328"/>
                          </a:solidFill>
                          <a:latin typeface="Arial"/>
                        </a:rPr>
                        <a:t>p. 31</a:t>
                      </a:r>
                    </a:p>
                  </a:txBody>
                  <a:tcPr marL="45720" marR="45720" marT="18288" marB="18288">
                    <a:solidFill>
                      <a:srgbClr val="FFFFFF"/>
                    </a:solidFill>
                  </a:tcPr>
                </a:tc>
                <a:tc>
                  <a:txBody>
                    <a:bodyPr wrap="square"/>
                    <a:lstStyle/>
                    <a:p>
                      <a:r>
                        <a:rPr sz="900" b="0">
                          <a:solidFill>
                            <a:srgbClr val="1F2328"/>
                          </a:solidFill>
                          <a:latin typeface="Arial"/>
                        </a:rPr>
                        <a:t>T2</a:t>
                      </a:r>
                    </a:p>
                  </a:txBody>
                  <a:tcPr marL="45720" marR="45720" marT="18288" marB="18288">
                    <a:solidFill>
                      <a:srgbClr val="FFFFFF"/>
                    </a:solidFill>
                  </a:tcPr>
                </a:tc>
                <a:tc>
                  <a:txBody>
                    <a:bodyPr wrap="square"/>
                    <a:lstStyle/>
                    <a:p>
                      <a:r>
                        <a:rPr sz="900" b="0">
                          <a:solidFill>
                            <a:srgbClr val="1F2328"/>
                          </a:solidFill>
                          <a:latin typeface="Arial"/>
                        </a:rPr>
                        <a:t>filed</a:t>
                      </a:r>
                    </a:p>
                  </a:txBody>
                  <a:tcPr marL="45720" marR="45720" marT="18288" marB="18288">
                    <a:solidFill>
                      <a:srgbClr val="FFFFFF"/>
                    </a:solidFill>
                  </a:tcPr>
                </a:tc>
                <a:tc>
                  <a:txBody>
                    <a:bodyPr wrap="square"/>
                    <a:lstStyle/>
                    <a:p>
                      <a:r>
                        <a:rPr sz="900" b="0">
                          <a:solidFill>
                            <a:srgbClr val="1F2328"/>
                          </a:solidFill>
                          <a:latin typeface="Arial"/>
                        </a:rPr>
                        <a:t>ae320cb3</a:t>
                      </a:r>
                    </a:p>
                  </a:txBody>
                  <a:tcPr marL="45720" marR="45720" marT="18288" marB="18288">
                    <a:solidFill>
                      <a:srgbClr val="FFFFFF"/>
                    </a:solidFill>
                  </a:tcPr>
                </a:tc>
                <a:tc>
                  <a:txBody>
                    <a:bodyPr wrap="square"/>
                    <a:lstStyle/>
                    <a:p>
                      <a:r>
                        <a:rPr sz="900" b="0">
                          <a:solidFill>
                            <a:srgbClr val="1F2328"/>
                          </a:solidFill>
                          <a:latin typeface="Arial"/>
                        </a:rPr>
                        <a:t>RELEASED (attached)</a:t>
                      </a:r>
                    </a:p>
                  </a:txBody>
                  <a:tcPr marL="45720" marR="45720" marT="18288" marB="18288">
                    <a:solidFill>
                      <a:srgbClr val="FFFFFF"/>
                    </a:solidFill>
                  </a:tcPr>
                </a:tc>
              </a:tr>
              <a:tr h="388620">
                <a:tc>
                  <a:txBody>
                    <a:bodyPr wrap="square"/>
                    <a:lstStyle/>
                    <a:p>
                      <a:r>
                        <a:rPr sz="900" b="0">
                          <a:solidFill>
                            <a:srgbClr val="1F2328"/>
                          </a:solidFill>
                          <a:latin typeface="Arial"/>
                        </a:rPr>
                        <a:t>q5</a:t>
                      </a:r>
                    </a:p>
                  </a:txBody>
                  <a:tcPr marL="45720" marR="45720" marT="18288" marB="18288">
                    <a:solidFill>
                      <a:srgbClr val="FFFFFF"/>
                    </a:solidFill>
                  </a:tcPr>
                </a:tc>
                <a:tc>
                  <a:txBody>
                    <a:bodyPr wrap="square"/>
                    <a:lstStyle/>
                    <a:p>
                      <a:r>
                        <a:rPr sz="900" b="0">
                          <a:solidFill>
                            <a:srgbClr val="1F2328"/>
                          </a:solidFill>
                          <a:latin typeface="Arial"/>
                        </a:rPr>
                        <a:t>S06</a:t>
                      </a:r>
                    </a:p>
                  </a:txBody>
                  <a:tcPr marL="45720" marR="45720" marT="18288" marB="18288">
                    <a:solidFill>
                      <a:srgbClr val="FFFFFF"/>
                    </a:solidFill>
                  </a:tcPr>
                </a:tc>
                <a:tc>
                  <a:txBody>
                    <a:bodyPr wrap="square"/>
                    <a:lstStyle/>
                    <a:p>
                      <a:r>
                        <a:rPr sz="900" b="0">
                          <a:solidFill>
                            <a:srgbClr val="1F2328"/>
                          </a:solidFill>
                          <a:latin typeface="Arial"/>
                        </a:rPr>
                        <a:t>Ms Zhao Jingyuan (Managing Director, Group Data and Artificial Intelligence) is expected to join Oversea-Ch…</a:t>
                      </a:r>
                    </a:p>
                  </a:txBody>
                  <a:tcPr marL="45720" marR="45720" marT="18288" marB="18288">
                    <a:solidFill>
                      <a:srgbClr val="FFFFFF"/>
                    </a:solidFill>
                  </a:tcPr>
                </a:tc>
                <a:tc>
                  <a:txBody>
                    <a:bodyPr wrap="square"/>
                    <a:lstStyle/>
                    <a:p>
                      <a:r>
                        <a:rPr sz="900" b="0">
                          <a:solidFill>
                            <a:srgbClr val="1F2328"/>
                          </a:solidFill>
                          <a:latin typeface="Arial"/>
                        </a:rPr>
                        <a:t>p. 67</a:t>
                      </a:r>
                    </a:p>
                  </a:txBody>
                  <a:tcPr marL="45720" marR="45720" marT="18288" marB="18288">
                    <a:solidFill>
                      <a:srgbClr val="FFFFFF"/>
                    </a:solidFill>
                  </a:tcPr>
                </a:tc>
                <a:tc>
                  <a:txBody>
                    <a:bodyPr wrap="square"/>
                    <a:lstStyle/>
                    <a:p>
                      <a:r>
                        <a:rPr sz="900" b="0">
                          <a:solidFill>
                            <a:srgbClr val="1F2328"/>
                          </a:solidFill>
                          <a:latin typeface="Arial"/>
                        </a:rPr>
                        <a:t>T2</a:t>
                      </a:r>
                    </a:p>
                  </a:txBody>
                  <a:tcPr marL="45720" marR="45720" marT="18288" marB="18288">
                    <a:solidFill>
                      <a:srgbClr val="FFFFFF"/>
                    </a:solidFill>
                  </a:tcPr>
                </a:tc>
                <a:tc>
                  <a:txBody>
                    <a:bodyPr wrap="square"/>
                    <a:lstStyle/>
                    <a:p>
                      <a:r>
                        <a:rPr sz="900" b="0">
                          <a:solidFill>
                            <a:srgbClr val="1F2328"/>
                          </a:solidFill>
                          <a:latin typeface="Arial"/>
                        </a:rPr>
                        <a:t>filed</a:t>
                      </a:r>
                    </a:p>
                  </a:txBody>
                  <a:tcPr marL="45720" marR="45720" marT="18288" marB="18288">
                    <a:solidFill>
                      <a:srgbClr val="FFFFFF"/>
                    </a:solidFill>
                  </a:tcPr>
                </a:tc>
                <a:tc>
                  <a:txBody>
                    <a:bodyPr wrap="square"/>
                    <a:lstStyle/>
                    <a:p>
                      <a:r>
                        <a:rPr sz="900" b="0">
                          <a:solidFill>
                            <a:srgbClr val="1F2328"/>
                          </a:solidFill>
                          <a:latin typeface="Arial"/>
                        </a:rPr>
                        <a:t>ae320cb3</a:t>
                      </a:r>
                    </a:p>
                  </a:txBody>
                  <a:tcPr marL="45720" marR="45720" marT="18288" marB="18288">
                    <a:solidFill>
                      <a:srgbClr val="FFFFFF"/>
                    </a:solidFill>
                  </a:tcPr>
                </a:tc>
                <a:tc>
                  <a:txBody>
                    <a:bodyPr wrap="square"/>
                    <a:lstStyle/>
                    <a:p>
                      <a:r>
                        <a:rPr sz="900" b="0">
                          <a:solidFill>
                            <a:srgbClr val="1F2328"/>
                          </a:solidFill>
                          <a:latin typeface="Arial"/>
                        </a:rPr>
                        <a:t>RELEASED (attached)</a:t>
                      </a:r>
                    </a:p>
                  </a:txBody>
                  <a:tcPr marL="45720" marR="45720" marT="18288" marB="18288">
                    <a:solidFill>
                      <a:srgbClr val="FFFFFF"/>
                    </a:solidFill>
                  </a:tcPr>
                </a:tc>
              </a:tr>
              <a:tr h="388620">
                <a:tc>
                  <a:txBody>
                    <a:bodyPr wrap="square"/>
                    <a:lstStyle/>
                    <a:p>
                      <a:r>
                        <a:rPr sz="900" b="0">
                          <a:solidFill>
                            <a:srgbClr val="1F2328"/>
                          </a:solidFill>
                          <a:latin typeface="Arial"/>
                        </a:rPr>
                        <a:t>q6</a:t>
                      </a:r>
                    </a:p>
                  </a:txBody>
                  <a:tcPr marL="45720" marR="45720" marT="18288" marB="18288">
                    <a:solidFill>
                      <a:srgbClr val="FFFFFF"/>
                    </a:solidFill>
                  </a:tcPr>
                </a:tc>
                <a:tc>
                  <a:txBody>
                    <a:bodyPr wrap="square"/>
                    <a:lstStyle/>
                    <a:p>
                      <a:r>
                        <a:rPr sz="900" b="0">
                          <a:solidFill>
                            <a:srgbClr val="1F2328"/>
                          </a:solidFill>
                          <a:latin typeface="Arial"/>
                        </a:rPr>
                        <a:t>S06</a:t>
                      </a:r>
                    </a:p>
                  </a:txBody>
                  <a:tcPr marL="45720" marR="45720" marT="18288" marB="18288">
                    <a:solidFill>
                      <a:srgbClr val="FFFFFF"/>
                    </a:solidFill>
                  </a:tcPr>
                </a:tc>
                <a:tc>
                  <a:txBody>
                    <a:bodyPr wrap="square"/>
                    <a:lstStyle/>
                    <a:p>
                      <a:r>
                        <a:rPr sz="900" b="0">
                          <a:solidFill>
                            <a:srgbClr val="1F2328"/>
                          </a:solidFill>
                          <a:latin typeface="Arial"/>
                        </a:rPr>
                        <a:t>Sharpened in-house analytics and AI for underwriting and medical claims to enhance accuracy and consistency…</a:t>
                      </a:r>
                    </a:p>
                  </a:txBody>
                  <a:tcPr marL="45720" marR="45720" marT="18288" marB="18288">
                    <a:solidFill>
                      <a:srgbClr val="FFFFFF"/>
                    </a:solidFill>
                  </a:tcPr>
                </a:tc>
                <a:tc>
                  <a:txBody>
                    <a:bodyPr wrap="square"/>
                    <a:lstStyle/>
                    <a:p>
                      <a:r>
                        <a:rPr sz="900" b="0">
                          <a:solidFill>
                            <a:srgbClr val="1F2328"/>
                          </a:solidFill>
                          <a:latin typeface="Arial"/>
                        </a:rPr>
                        <a:t>p. 8</a:t>
                      </a:r>
                    </a:p>
                  </a:txBody>
                  <a:tcPr marL="45720" marR="45720" marT="18288" marB="18288">
                    <a:solidFill>
                      <a:srgbClr val="FFFFFF"/>
                    </a:solidFill>
                  </a:tcPr>
                </a:tc>
                <a:tc>
                  <a:txBody>
                    <a:bodyPr wrap="square"/>
                    <a:lstStyle/>
                    <a:p>
                      <a:r>
                        <a:rPr sz="900" b="0">
                          <a:solidFill>
                            <a:srgbClr val="1F2328"/>
                          </a:solidFill>
                          <a:latin typeface="Arial"/>
                        </a:rPr>
                        <a:t>T2</a:t>
                      </a:r>
                    </a:p>
                  </a:txBody>
                  <a:tcPr marL="45720" marR="45720" marT="18288" marB="18288">
                    <a:solidFill>
                      <a:srgbClr val="FFFFFF"/>
                    </a:solidFill>
                  </a:tcPr>
                </a:tc>
                <a:tc>
                  <a:txBody>
                    <a:bodyPr wrap="square"/>
                    <a:lstStyle/>
                    <a:p>
                      <a:r>
                        <a:rPr sz="900" b="0">
                          <a:solidFill>
                            <a:srgbClr val="1F2328"/>
                          </a:solidFill>
                          <a:latin typeface="Arial"/>
                        </a:rPr>
                        <a:t>filed</a:t>
                      </a:r>
                    </a:p>
                  </a:txBody>
                  <a:tcPr marL="45720" marR="45720" marT="18288" marB="18288">
                    <a:solidFill>
                      <a:srgbClr val="FFFFFF"/>
                    </a:solidFill>
                  </a:tcPr>
                </a:tc>
                <a:tc>
                  <a:txBody>
                    <a:bodyPr wrap="square"/>
                    <a:lstStyle/>
                    <a:p>
                      <a:r>
                        <a:rPr sz="900" b="0">
                          <a:solidFill>
                            <a:srgbClr val="1F2328"/>
                          </a:solidFill>
                          <a:latin typeface="Arial"/>
                        </a:rPr>
                        <a:t>ae320cb3</a:t>
                      </a:r>
                    </a:p>
                  </a:txBody>
                  <a:tcPr marL="45720" marR="45720" marT="18288" marB="18288">
                    <a:solidFill>
                      <a:srgbClr val="FFFFFF"/>
                    </a:solidFill>
                  </a:tcPr>
                </a:tc>
                <a:tc>
                  <a:txBody>
                    <a:bodyPr wrap="square"/>
                    <a:lstStyle/>
                    <a:p>
                      <a:r>
                        <a:rPr sz="900" b="0">
                          <a:solidFill>
                            <a:srgbClr val="1F2328"/>
                          </a:solidFill>
                          <a:latin typeface="Arial"/>
                        </a:rPr>
                        <a:t>RELEASED (attached)</a:t>
                      </a:r>
                    </a:p>
                  </a:txBody>
                  <a:tcPr marL="45720" marR="45720" marT="18288" marB="18288">
                    <a:solidFill>
                      <a:srgbClr val="FFFFFF"/>
                    </a:solidFill>
                  </a:tcPr>
                </a:tc>
              </a:tr>
              <a:tr h="388620">
                <a:tc>
                  <a:txBody>
                    <a:bodyPr wrap="square"/>
                    <a:lstStyle/>
                    <a:p>
                      <a:r>
                        <a:rPr sz="900" b="0">
                          <a:solidFill>
                            <a:srgbClr val="1F2328"/>
                          </a:solidFill>
                          <a:latin typeface="Arial"/>
                        </a:rPr>
                        <a:t>l1</a:t>
                      </a:r>
                    </a:p>
                  </a:txBody>
                  <a:tcPr marL="45720" marR="45720" marT="18288" marB="18288">
                    <a:solidFill>
                      <a:srgbClr val="FFFFFF"/>
                    </a:solidFill>
                  </a:tcPr>
                </a:tc>
                <a:tc>
                  <a:txBody>
                    <a:bodyPr wrap="square"/>
                    <a:lstStyle/>
                    <a:p>
                      <a:r>
                        <a:rPr sz="900" b="0">
                          <a:solidFill>
                            <a:srgbClr val="1F2328"/>
                          </a:solidFill>
                          <a:latin typeface="Arial"/>
                        </a:rPr>
                        <a:t>A1</a:t>
                      </a:r>
                    </a:p>
                  </a:txBody>
                  <a:tcPr marL="45720" marR="45720" marT="18288" marB="18288">
                    <a:solidFill>
                      <a:srgbClr val="FFFFFF"/>
                    </a:solidFill>
                  </a:tcPr>
                </a:tc>
                <a:tc>
                  <a:txBody>
                    <a:bodyPr wrap="square"/>
                    <a:lstStyle/>
                    <a:p>
                      <a:r>
                        <a:rPr sz="900" b="0">
                          <a:solidFill>
                            <a:srgbClr val="1F2328"/>
                          </a:solidFill>
                          <a:latin typeface="Arial"/>
                        </a:rPr>
                        <a:t>Wynn Chew Ai Ling Division Head, Group &amp; Digital Affinity</a:t>
                      </a:r>
                    </a:p>
                  </a:txBody>
                  <a:tcPr marL="45720" marR="45720" marT="18288" marB="18288">
                    <a:solidFill>
                      <a:srgbClr val="FFFFFF"/>
                    </a:solidFill>
                  </a:tcPr>
                </a:tc>
                <a:tc>
                  <a:txBody>
                    <a:bodyPr wrap="square"/>
                    <a:lstStyle/>
                    <a:p>
                      <a:r>
                        <a:rPr sz="900" b="0">
                          <a:solidFill>
                            <a:srgbClr val="1F2328"/>
                          </a:solidFill>
                          <a:latin typeface="Arial"/>
                        </a:rPr>
                        <a:t>p. 229</a:t>
                      </a:r>
                    </a:p>
                  </a:txBody>
                  <a:tcPr marL="45720" marR="45720" marT="18288" marB="18288">
                    <a:solidFill>
                      <a:srgbClr val="FFFFFF"/>
                    </a:solidFill>
                  </a:tcPr>
                </a:tc>
                <a:tc>
                  <a:txBody>
                    <a:bodyPr wrap="square"/>
                    <a:lstStyle/>
                    <a:p>
                      <a:r>
                        <a:rPr sz="900" b="0">
                          <a:solidFill>
                            <a:srgbClr val="1F2328"/>
                          </a:solidFill>
                          <a:latin typeface="Arial"/>
                        </a:rPr>
                        <a:t>T2</a:t>
                      </a:r>
                    </a:p>
                  </a:txBody>
                  <a:tcPr marL="45720" marR="45720" marT="18288" marB="18288">
                    <a:solidFill>
                      <a:srgbClr val="FFFFFF"/>
                    </a:solidFill>
                  </a:tcPr>
                </a:tc>
                <a:tc>
                  <a:txBody>
                    <a:bodyPr wrap="square"/>
                    <a:lstStyle/>
                    <a:p>
                      <a:r>
                        <a:rPr sz="900" b="0">
                          <a:solidFill>
                            <a:srgbClr val="1F2328"/>
                          </a:solidFill>
                          <a:latin typeface="Arial"/>
                        </a:rPr>
                        <a:t>filed</a:t>
                      </a:r>
                    </a:p>
                  </a:txBody>
                  <a:tcPr marL="45720" marR="45720" marT="18288" marB="18288">
                    <a:solidFill>
                      <a:srgbClr val="FFFFFF"/>
                    </a:solidFill>
                  </a:tcPr>
                </a:tc>
                <a:tc>
                  <a:txBody>
                    <a:bodyPr wrap="square"/>
                    <a:lstStyle/>
                    <a:p>
                      <a:r>
                        <a:rPr sz="900" b="0">
                          <a:solidFill>
                            <a:srgbClr val="1F2328"/>
                          </a:solidFill>
                          <a:latin typeface="Arial"/>
                        </a:rPr>
                        <a:t>ae320cb3</a:t>
                      </a:r>
                    </a:p>
                  </a:txBody>
                  <a:tcPr marL="45720" marR="45720" marT="18288" marB="18288">
                    <a:solidFill>
                      <a:srgbClr val="FFFFFF"/>
                    </a:solidFill>
                  </a:tcPr>
                </a:tc>
                <a:tc>
                  <a:txBody>
                    <a:bodyPr wrap="square"/>
                    <a:lstStyle/>
                    <a:p>
                      <a:r>
                        <a:rPr sz="900" b="0">
                          <a:solidFill>
                            <a:srgbClr val="1F2328"/>
                          </a:solidFill>
                          <a:latin typeface="Arial"/>
                        </a:rPr>
                        <a:t>RELEASED (attached)</a:t>
                      </a:r>
                    </a:p>
                  </a:txBody>
                  <a:tcPr marL="45720" marR="45720" marT="18288" marB="18288">
                    <a:solidFill>
                      <a:srgbClr val="FFFFFF"/>
                    </a:solidFill>
                  </a:tcPr>
                </a:tc>
              </a:tr>
              <a:tr h="388620">
                <a:tc>
                  <a:txBody>
                    <a:bodyPr wrap="square"/>
                    <a:lstStyle/>
                    <a:p>
                      <a:r>
                        <a:rPr sz="900" b="0">
                          <a:solidFill>
                            <a:srgbClr val="1F2328"/>
                          </a:solidFill>
                          <a:latin typeface="Arial"/>
                        </a:rPr>
                        <a:t>l2</a:t>
                      </a:r>
                    </a:p>
                  </a:txBody>
                  <a:tcPr marL="45720" marR="45720" marT="18288" marB="18288">
                    <a:solidFill>
                      <a:srgbClr val="FFFFFF"/>
                    </a:solidFill>
                  </a:tcPr>
                </a:tc>
                <a:tc>
                  <a:txBody>
                    <a:bodyPr wrap="square"/>
                    <a:lstStyle/>
                    <a:p>
                      <a:r>
                        <a:rPr sz="900" b="0">
                          <a:solidFill>
                            <a:srgbClr val="1F2328"/>
                          </a:solidFill>
                          <a:latin typeface="Arial"/>
                        </a:rPr>
                        <a:t>A1</a:t>
                      </a:r>
                    </a:p>
                  </a:txBody>
                  <a:tcPr marL="45720" marR="45720" marT="18288" marB="18288">
                    <a:solidFill>
                      <a:srgbClr val="FFFFFF"/>
                    </a:solidFill>
                  </a:tcPr>
                </a:tc>
                <a:tc>
                  <a:txBody>
                    <a:bodyPr wrap="square"/>
                    <a:lstStyle/>
                    <a:p>
                      <a:r>
                        <a:rPr sz="900" b="0">
                          <a:solidFill>
                            <a:srgbClr val="1F2328"/>
                          </a:solidFill>
                          <a:latin typeface="Arial"/>
                        </a:rPr>
                        <a:t>Lucy Loo Liuxi Division Head, Marketing and Digital Transformation</a:t>
                      </a:r>
                    </a:p>
                  </a:txBody>
                  <a:tcPr marL="45720" marR="45720" marT="18288" marB="18288">
                    <a:solidFill>
                      <a:srgbClr val="FFFFFF"/>
                    </a:solidFill>
                  </a:tcPr>
                </a:tc>
                <a:tc>
                  <a:txBody>
                    <a:bodyPr wrap="square"/>
                    <a:lstStyle/>
                    <a:p>
                      <a:r>
                        <a:rPr sz="900" b="0">
                          <a:solidFill>
                            <a:srgbClr val="1F2328"/>
                          </a:solidFill>
                          <a:latin typeface="Arial"/>
                        </a:rPr>
                        <a:t>p. 229</a:t>
                      </a:r>
                    </a:p>
                  </a:txBody>
                  <a:tcPr marL="45720" marR="45720" marT="18288" marB="18288">
                    <a:solidFill>
                      <a:srgbClr val="FFFFFF"/>
                    </a:solidFill>
                  </a:tcPr>
                </a:tc>
                <a:tc>
                  <a:txBody>
                    <a:bodyPr wrap="square"/>
                    <a:lstStyle/>
                    <a:p>
                      <a:r>
                        <a:rPr sz="900" b="0">
                          <a:solidFill>
                            <a:srgbClr val="1F2328"/>
                          </a:solidFill>
                          <a:latin typeface="Arial"/>
                        </a:rPr>
                        <a:t>T2</a:t>
                      </a:r>
                    </a:p>
                  </a:txBody>
                  <a:tcPr marL="45720" marR="45720" marT="18288" marB="18288">
                    <a:solidFill>
                      <a:srgbClr val="FFFFFF"/>
                    </a:solidFill>
                  </a:tcPr>
                </a:tc>
                <a:tc>
                  <a:txBody>
                    <a:bodyPr wrap="square"/>
                    <a:lstStyle/>
                    <a:p>
                      <a:r>
                        <a:rPr sz="900" b="0">
                          <a:solidFill>
                            <a:srgbClr val="1F2328"/>
                          </a:solidFill>
                          <a:latin typeface="Arial"/>
                        </a:rPr>
                        <a:t>filed</a:t>
                      </a:r>
                    </a:p>
                  </a:txBody>
                  <a:tcPr marL="45720" marR="45720" marT="18288" marB="18288">
                    <a:solidFill>
                      <a:srgbClr val="FFFFFF"/>
                    </a:solidFill>
                  </a:tcPr>
                </a:tc>
                <a:tc>
                  <a:txBody>
                    <a:bodyPr wrap="square"/>
                    <a:lstStyle/>
                    <a:p>
                      <a:r>
                        <a:rPr sz="900" b="0">
                          <a:solidFill>
                            <a:srgbClr val="1F2328"/>
                          </a:solidFill>
                          <a:latin typeface="Arial"/>
                        </a:rPr>
                        <a:t>ae320cb3</a:t>
                      </a:r>
                    </a:p>
                  </a:txBody>
                  <a:tcPr marL="45720" marR="45720" marT="18288" marB="18288">
                    <a:solidFill>
                      <a:srgbClr val="FFFFFF"/>
                    </a:solidFill>
                  </a:tcPr>
                </a:tc>
                <a:tc>
                  <a:txBody>
                    <a:bodyPr wrap="square"/>
                    <a:lstStyle/>
                    <a:p>
                      <a:r>
                        <a:rPr sz="900" b="0">
                          <a:solidFill>
                            <a:srgbClr val="1F2328"/>
                          </a:solidFill>
                          <a:latin typeface="Arial"/>
                        </a:rPr>
                        <a:t>RELEASED (attached)</a:t>
                      </a:r>
                    </a:p>
                  </a:txBody>
                  <a:tcPr marL="45720" marR="45720" marT="18288" marB="18288">
                    <a:solidFill>
                      <a:srgbClr val="FFFFFF"/>
                    </a:solidFill>
                  </a:tcPr>
                </a:tc>
              </a:tr>
            </a:tbl>
          </a:graphicData>
        </a:graphic>
      </p:graphicFrame>
      <p:sp>
        <p:nvSpPr>
          <p:cNvPr id="7" name="plumbdeck-source"/>
          <p:cNvSpPr txBox="1"/>
          <p:nvPr/>
        </p:nvSpPr>
        <p:spPr>
          <a:xfrm>
            <a:off x="548640" y="5943600"/>
            <a:ext cx="11094415" cy="347472"/>
          </a:xfrm>
          <a:prstGeom prst="rect">
            <a:avLst/>
          </a:prstGeom>
          <a:noFill/>
        </p:spPr>
        <p:txBody>
          <a:bodyPr wrap="square" lIns="45720" rIns="45720" tIns="27432" bIns="27432" anchor="t">
            <a:spAutoFit/>
          </a:bodyPr>
          <a:lstStyle/>
          <a:p>
            <a:r>
              <a:rPr sz="900" b="0" i="0">
                <a:solidFill>
                  <a:srgbClr val="57606A"/>
                </a:solidFill>
                <a:latin typeface="Arial"/>
              </a:rPr>
              <a:t>Source: T2 Great Eastern Holdings Limited annual report FY2025 pp. 8, 14, 18, 31, 40, 41, 43, 67, 73, 80, 229 (attached; publisher hash unreconciled), 2026-10-25; confidence: filed</a:t>
            </a:r>
          </a:p>
        </p:txBody>
      </p:sp>
      <p:sp>
        <p:nvSpPr>
          <p:cNvPr id="8" name="Rectangle 7"/>
          <p:cNvSpPr/>
          <p:nvPr/>
        </p:nvSpPr>
        <p:spPr>
          <a:xfrm>
            <a:off x="548640" y="6322885"/>
            <a:ext cx="11094415" cy="9525"/>
          </a:xfrm>
          <a:prstGeom prst="rect">
            <a:avLst/>
          </a:prstGeom>
          <a:solidFill>
            <a:srgbClr val="D0D7DE"/>
          </a:solidFill>
          <a:ln>
            <a:noFill/>
          </a:ln>
          <a:effectLst/>
        </p:spPr>
        <p:txBody>
          <a:bodyPr rtlCol="0" anchor="ctr"/>
          <a:lstStyle/>
          <a:p>
            <a:pPr algn="ctr"/>
          </a:p>
        </p:txBody>
      </p:sp>
      <p:sp>
        <p:nvSpPr>
          <p:cNvPr id="9" name="plumbdeck-footer"/>
          <p:cNvSpPr txBox="1"/>
          <p:nvPr/>
        </p:nvSpPr>
        <p:spPr>
          <a:xfrm>
            <a:off x="548640" y="6373368"/>
            <a:ext cx="10362895" cy="365760"/>
          </a:xfrm>
          <a:prstGeom prst="rect">
            <a:avLst/>
          </a:prstGeom>
          <a:noFill/>
        </p:spPr>
        <p:txBody>
          <a:bodyPr wrap="square" lIns="45720" rIns="45720" tIns="27432" bIns="27432" anchor="t">
            <a:spAutoFit/>
          </a:bodyPr>
          <a:lstStyle/>
          <a:p>
            <a:r>
              <a:rPr sz="800" b="0" i="0">
                <a:solidFill>
                  <a:srgbClr val="57606A"/>
                </a:solidFill>
                <a:latin typeface="Arial"/>
              </a:rPr>
              <a:t>DRAFT — not for board use. Deliverable PLUMB-PR-great-eastern-research-e0bc54685dce v0.1.</a:t>
            </a:r>
          </a:p>
        </p:txBody>
      </p:sp>
      <p:sp>
        <p:nvSpPr>
          <p:cNvPr id="10" name="TextBox 9"/>
          <p:cNvSpPr txBox="1"/>
          <p:nvPr/>
        </p:nvSpPr>
        <p:spPr>
          <a:xfrm>
            <a:off x="11002975" y="6373368"/>
            <a:ext cx="640080" cy="274320"/>
          </a:xfrm>
          <a:prstGeom prst="rect">
            <a:avLst/>
          </a:prstGeom>
          <a:noFill/>
        </p:spPr>
        <p:txBody>
          <a:bodyPr wrap="square" lIns="45720" rIns="45720" tIns="27432" bIns="27432" anchor="t">
            <a:spAutoFit/>
          </a:bodyPr>
          <a:lstStyle/>
          <a:p>
            <a:pPr algn="r"/>
            <a:r>
              <a:rPr sz="800" b="0" i="0">
                <a:solidFill>
                  <a:srgbClr val="57606A"/>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plumbdeck-banner"/>
          <p:cNvSpPr txBox="1"/>
          <p:nvPr/>
        </p:nvSpPr>
        <p:spPr>
          <a:xfrm>
            <a:off x="0" y="0"/>
            <a:ext cx="12191695" cy="384048"/>
          </a:xfrm>
          <a:prstGeom prst="rect">
            <a:avLst/>
          </a:prstGeom>
          <a:solidFill>
            <a:srgbClr val="B42318"/>
          </a:solidFill>
        </p:spPr>
        <p:txBody>
          <a:bodyPr wrap="square" lIns="45720" rIns="45720" tIns="27432" bIns="27432" anchor="ctr">
            <a:spAutoFit/>
          </a:bodyPr>
          <a:lstStyle/>
          <a:p>
            <a:pPr algn="ctr"/>
            <a:r>
              <a:rPr sz="1100" b="1" i="0">
                <a:solidFill>
                  <a:srgbClr val="FFFFFF"/>
                </a:solidFill>
                <a:latin typeface="Arial"/>
              </a:rPr>
              <a:t>DRAFT — not for board use (internal profile; 1 attachment unreconciled; resolution 0.1429; no QA gate 3 sign-off)</a:t>
            </a:r>
          </a:p>
        </p:txBody>
      </p:sp>
      <p:sp>
        <p:nvSpPr>
          <p:cNvPr id="3" name="plumbdeck-section"/>
          <p:cNvSpPr txBox="1"/>
          <p:nvPr/>
        </p:nvSpPr>
        <p:spPr>
          <a:xfrm>
            <a:off x="548640" y="502920"/>
            <a:ext cx="11094415" cy="274320"/>
          </a:xfrm>
          <a:prstGeom prst="rect">
            <a:avLst/>
          </a:prstGeom>
          <a:noFill/>
        </p:spPr>
        <p:txBody>
          <a:bodyPr wrap="square" lIns="45720" rIns="45720" tIns="27432" bIns="27432" anchor="t">
            <a:spAutoFit/>
          </a:bodyPr>
          <a:lstStyle/>
          <a:p>
            <a:r>
              <a:rPr sz="1000" b="0" i="0">
                <a:solidFill>
                  <a:srgbClr val="57606A"/>
                </a:solidFill>
                <a:latin typeface="Arial"/>
              </a:rPr>
              <a:t>A1 · Appendix — evidence log  (2/4)</a:t>
            </a:r>
          </a:p>
        </p:txBody>
      </p:sp>
      <p:sp>
        <p:nvSpPr>
          <p:cNvPr id="4" name="plumbdeck-title"/>
          <p:cNvSpPr txBox="1"/>
          <p:nvPr/>
        </p:nvSpPr>
        <p:spPr>
          <a:xfrm>
            <a:off x="548640" y="822960"/>
            <a:ext cx="11094415" cy="466344"/>
          </a:xfrm>
          <a:prstGeom prst="rect">
            <a:avLst/>
          </a:prstGeom>
          <a:noFill/>
        </p:spPr>
        <p:txBody>
          <a:bodyPr wrap="square" lIns="45720" rIns="45720" tIns="27432" bIns="27432" anchor="t">
            <a:spAutoFit/>
          </a:bodyPr>
          <a:lstStyle/>
          <a:p>
            <a:r>
              <a:rPr sz="2000" b="1" i="0">
                <a:solidFill>
                  <a:srgbClr val="1F2328"/>
                </a:solidFill>
                <a:latin typeface="Arial"/>
              </a:rPr>
              <a:t>Every released claim traces to a stored source passage, page and hash</a:t>
            </a:r>
          </a:p>
        </p:txBody>
      </p:sp>
      <p:sp>
        <p:nvSpPr>
          <p:cNvPr id="5" name="Rectangle 4"/>
          <p:cNvSpPr/>
          <p:nvPr/>
        </p:nvSpPr>
        <p:spPr>
          <a:xfrm>
            <a:off x="548640" y="1330261"/>
            <a:ext cx="11094415" cy="9525"/>
          </a:xfrm>
          <a:prstGeom prst="rect">
            <a:avLst/>
          </a:prstGeom>
          <a:solidFill>
            <a:srgbClr val="D0D7DE"/>
          </a:solidFill>
          <a:ln>
            <a:noFill/>
          </a:ln>
          <a:effectLst/>
        </p:spPr>
        <p:txBody>
          <a:bodyPr rtlCol="0" anchor="ctr"/>
          <a:lstStyle/>
          <a:p>
            <a:pPr algn="ctr"/>
          </a:p>
        </p:txBody>
      </p:sp>
      <p:graphicFrame>
        <p:nvGraphicFramePr>
          <p:cNvPr id="6" name="Table 5"/>
          <p:cNvGraphicFramePr>
            <a:graphicFrameLocks noGrp="1"/>
          </p:cNvGraphicFramePr>
          <p:nvPr/>
        </p:nvGraphicFramePr>
        <p:xfrm>
          <a:off x="548640" y="1472184"/>
          <a:ext cx="11094411" cy="3358133"/>
        </p:xfrm>
        <a:graphic>
          <a:graphicData uri="http://schemas.openxmlformats.org/drawingml/2006/table">
            <a:tbl>
              <a:tblPr firstRow="1" bandRow="1">
                <a:tableStyleId>{5C22544A-7EE6-4342-B048-85BDC9FD1C3A}</a:tableStyleId>
              </a:tblPr>
              <a:tblGrid>
                <a:gridCol w="1415103"/>
                <a:gridCol w="679249"/>
                <a:gridCol w="5207582"/>
                <a:gridCol w="566041"/>
                <a:gridCol w="452833"/>
                <a:gridCol w="792458"/>
                <a:gridCol w="849062"/>
                <a:gridCol w="1132083"/>
              </a:tblGrid>
              <a:tr h="249173">
                <a:tc>
                  <a:txBody>
                    <a:bodyPr wrap="square"/>
                    <a:lstStyle/>
                    <a:p>
                      <a:r>
                        <a:rPr sz="900" b="1">
                          <a:solidFill>
                            <a:srgbClr val="1F2328"/>
                          </a:solidFill>
                          <a:latin typeface="Arial"/>
                        </a:rPr>
                        <a:t>Claim</a:t>
                      </a:r>
                    </a:p>
                  </a:txBody>
                  <a:tcPr marL="45720" marR="45720" marT="18288" marB="18288">
                    <a:solidFill>
                      <a:srgbClr val="EEF1F4"/>
                    </a:solidFill>
                  </a:tcPr>
                </a:tc>
                <a:tc>
                  <a:txBody>
                    <a:bodyPr wrap="square"/>
                    <a:lstStyle/>
                    <a:p>
                      <a:r>
                        <a:rPr sz="900" b="1">
                          <a:solidFill>
                            <a:srgbClr val="1F2328"/>
                          </a:solidFill>
                          <a:latin typeface="Arial"/>
                        </a:rPr>
                        <a:t>Slides</a:t>
                      </a:r>
                    </a:p>
                  </a:txBody>
                  <a:tcPr marL="45720" marR="45720" marT="18288" marB="18288">
                    <a:solidFill>
                      <a:srgbClr val="EEF1F4"/>
                    </a:solidFill>
                  </a:tcPr>
                </a:tc>
                <a:tc>
                  <a:txBody>
                    <a:bodyPr wrap="square"/>
                    <a:lstStyle/>
                    <a:p>
                      <a:r>
                        <a:rPr sz="900" b="1">
                          <a:solidFill>
                            <a:srgbClr val="1F2328"/>
                          </a:solidFill>
                          <a:latin typeface="Arial"/>
                        </a:rPr>
                        <a:t>Claim text</a:t>
                      </a:r>
                    </a:p>
                  </a:txBody>
                  <a:tcPr marL="45720" marR="45720" marT="18288" marB="18288">
                    <a:solidFill>
                      <a:srgbClr val="EEF1F4"/>
                    </a:solidFill>
                  </a:tcPr>
                </a:tc>
                <a:tc>
                  <a:txBody>
                    <a:bodyPr wrap="square"/>
                    <a:lstStyle/>
                    <a:p>
                      <a:r>
                        <a:rPr sz="900" b="1">
                          <a:solidFill>
                            <a:srgbClr val="1F2328"/>
                          </a:solidFill>
                          <a:latin typeface="Arial"/>
                        </a:rPr>
                        <a:t>Page</a:t>
                      </a:r>
                    </a:p>
                  </a:txBody>
                  <a:tcPr marL="45720" marR="45720" marT="18288" marB="18288">
                    <a:solidFill>
                      <a:srgbClr val="EEF1F4"/>
                    </a:solidFill>
                  </a:tcPr>
                </a:tc>
                <a:tc>
                  <a:txBody>
                    <a:bodyPr wrap="square"/>
                    <a:lstStyle/>
                    <a:p>
                      <a:r>
                        <a:rPr sz="900" b="1">
                          <a:solidFill>
                            <a:srgbClr val="1F2328"/>
                          </a:solidFill>
                          <a:latin typeface="Arial"/>
                        </a:rPr>
                        <a:t>Tier</a:t>
                      </a:r>
                    </a:p>
                  </a:txBody>
                  <a:tcPr marL="45720" marR="45720" marT="18288" marB="18288">
                    <a:solidFill>
                      <a:srgbClr val="EEF1F4"/>
                    </a:solidFill>
                  </a:tcPr>
                </a:tc>
                <a:tc>
                  <a:txBody>
                    <a:bodyPr wrap="square"/>
                    <a:lstStyle/>
                    <a:p>
                      <a:r>
                        <a:rPr sz="900" b="1">
                          <a:solidFill>
                            <a:srgbClr val="1F2328"/>
                          </a:solidFill>
                          <a:latin typeface="Arial"/>
                        </a:rPr>
                        <a:t>Label</a:t>
                      </a:r>
                    </a:p>
                  </a:txBody>
                  <a:tcPr marL="45720" marR="45720" marT="18288" marB="18288">
                    <a:solidFill>
                      <a:srgbClr val="EEF1F4"/>
                    </a:solidFill>
                  </a:tcPr>
                </a:tc>
                <a:tc>
                  <a:txBody>
                    <a:bodyPr wrap="square"/>
                    <a:lstStyle/>
                    <a:p>
                      <a:r>
                        <a:rPr sz="900" b="1">
                          <a:solidFill>
                            <a:srgbClr val="1F2328"/>
                          </a:solidFill>
                          <a:latin typeface="Arial"/>
                        </a:rPr>
                        <a:t>Hash</a:t>
                      </a:r>
                    </a:p>
                  </a:txBody>
                  <a:tcPr marL="45720" marR="45720" marT="18288" marB="18288">
                    <a:solidFill>
                      <a:srgbClr val="EEF1F4"/>
                    </a:solidFill>
                  </a:tcPr>
                </a:tc>
                <a:tc>
                  <a:txBody>
                    <a:bodyPr wrap="square"/>
                    <a:lstStyle/>
                    <a:p>
                      <a:r>
                        <a:rPr sz="900" b="1">
                          <a:solidFill>
                            <a:srgbClr val="1F2328"/>
                          </a:solidFill>
                          <a:latin typeface="Arial"/>
                        </a:rPr>
                        <a:t>State</a:t>
                      </a:r>
                    </a:p>
                  </a:txBody>
                  <a:tcPr marL="45720" marR="45720" marT="18288" marB="18288">
                    <a:solidFill>
                      <a:srgbClr val="EEF1F4"/>
                    </a:solidFill>
                  </a:tcPr>
                </a:tc>
              </a:tr>
              <a:tr h="388620">
                <a:tc>
                  <a:txBody>
                    <a:bodyPr wrap="square"/>
                    <a:lstStyle/>
                    <a:p>
                      <a:r>
                        <a:rPr sz="900" b="0">
                          <a:solidFill>
                            <a:srgbClr val="1F2328"/>
                          </a:solidFill>
                          <a:latin typeface="Arial"/>
                        </a:rPr>
                        <a:t>l3</a:t>
                      </a:r>
                    </a:p>
                  </a:txBody>
                  <a:tcPr marL="45720" marR="45720" marT="18288" marB="18288">
                    <a:solidFill>
                      <a:srgbClr val="FFFFFF"/>
                    </a:solidFill>
                  </a:tcPr>
                </a:tc>
                <a:tc>
                  <a:txBody>
                    <a:bodyPr wrap="square"/>
                    <a:lstStyle/>
                    <a:p>
                      <a:r>
                        <a:rPr sz="900" b="0">
                          <a:solidFill>
                            <a:srgbClr val="1F2328"/>
                          </a:solidFill>
                          <a:latin typeface="Arial"/>
                        </a:rPr>
                        <a:t>A1</a:t>
                      </a:r>
                    </a:p>
                  </a:txBody>
                  <a:tcPr marL="45720" marR="45720" marT="18288" marB="18288">
                    <a:solidFill>
                      <a:srgbClr val="FFFFFF"/>
                    </a:solidFill>
                  </a:tcPr>
                </a:tc>
                <a:tc>
                  <a:txBody>
                    <a:bodyPr wrap="square"/>
                    <a:lstStyle/>
                    <a:p>
                      <a:r>
                        <a:rPr sz="900" b="0">
                          <a:solidFill>
                            <a:srgbClr val="1F2328"/>
                          </a:solidFill>
                          <a:latin typeface="Arial"/>
                        </a:rPr>
                        <a:t>Ms Zhao Jingyuan (Managing Director, Group Data and Artificial Intelligence) is expected to join Oversea-Ch…</a:t>
                      </a:r>
                    </a:p>
                  </a:txBody>
                  <a:tcPr marL="45720" marR="45720" marT="18288" marB="18288">
                    <a:solidFill>
                      <a:srgbClr val="FFFFFF"/>
                    </a:solidFill>
                  </a:tcPr>
                </a:tc>
                <a:tc>
                  <a:txBody>
                    <a:bodyPr wrap="square"/>
                    <a:lstStyle/>
                    <a:p>
                      <a:r>
                        <a:rPr sz="900" b="0">
                          <a:solidFill>
                            <a:srgbClr val="1F2328"/>
                          </a:solidFill>
                          <a:latin typeface="Arial"/>
                        </a:rPr>
                        <a:t>p. 67</a:t>
                      </a:r>
                    </a:p>
                  </a:txBody>
                  <a:tcPr marL="45720" marR="45720" marT="18288" marB="18288">
                    <a:solidFill>
                      <a:srgbClr val="FFFFFF"/>
                    </a:solidFill>
                  </a:tcPr>
                </a:tc>
                <a:tc>
                  <a:txBody>
                    <a:bodyPr wrap="square"/>
                    <a:lstStyle/>
                    <a:p>
                      <a:r>
                        <a:rPr sz="900" b="0">
                          <a:solidFill>
                            <a:srgbClr val="1F2328"/>
                          </a:solidFill>
                          <a:latin typeface="Arial"/>
                        </a:rPr>
                        <a:t>T2</a:t>
                      </a:r>
                    </a:p>
                  </a:txBody>
                  <a:tcPr marL="45720" marR="45720" marT="18288" marB="18288">
                    <a:solidFill>
                      <a:srgbClr val="FFFFFF"/>
                    </a:solidFill>
                  </a:tcPr>
                </a:tc>
                <a:tc>
                  <a:txBody>
                    <a:bodyPr wrap="square"/>
                    <a:lstStyle/>
                    <a:p>
                      <a:r>
                        <a:rPr sz="900" b="0">
                          <a:solidFill>
                            <a:srgbClr val="1F2328"/>
                          </a:solidFill>
                          <a:latin typeface="Arial"/>
                        </a:rPr>
                        <a:t>filed</a:t>
                      </a:r>
                    </a:p>
                  </a:txBody>
                  <a:tcPr marL="45720" marR="45720" marT="18288" marB="18288">
                    <a:solidFill>
                      <a:srgbClr val="FFFFFF"/>
                    </a:solidFill>
                  </a:tcPr>
                </a:tc>
                <a:tc>
                  <a:txBody>
                    <a:bodyPr wrap="square"/>
                    <a:lstStyle/>
                    <a:p>
                      <a:r>
                        <a:rPr sz="900" b="0">
                          <a:solidFill>
                            <a:srgbClr val="1F2328"/>
                          </a:solidFill>
                          <a:latin typeface="Arial"/>
                        </a:rPr>
                        <a:t>ae320cb3</a:t>
                      </a:r>
                    </a:p>
                  </a:txBody>
                  <a:tcPr marL="45720" marR="45720" marT="18288" marB="18288">
                    <a:solidFill>
                      <a:srgbClr val="FFFFFF"/>
                    </a:solidFill>
                  </a:tcPr>
                </a:tc>
                <a:tc>
                  <a:txBody>
                    <a:bodyPr wrap="square"/>
                    <a:lstStyle/>
                    <a:p>
                      <a:r>
                        <a:rPr sz="900" b="0">
                          <a:solidFill>
                            <a:srgbClr val="1F2328"/>
                          </a:solidFill>
                          <a:latin typeface="Arial"/>
                        </a:rPr>
                        <a:t>RELEASED (attached)</a:t>
                      </a:r>
                    </a:p>
                  </a:txBody>
                  <a:tcPr marL="45720" marR="45720" marT="18288" marB="18288">
                    <a:solidFill>
                      <a:srgbClr val="FFFFFF"/>
                    </a:solidFill>
                  </a:tcPr>
                </a:tc>
              </a:tr>
              <a:tr h="388620">
                <a:tc>
                  <a:txBody>
                    <a:bodyPr wrap="square"/>
                    <a:lstStyle/>
                    <a:p>
                      <a:r>
                        <a:rPr sz="900" b="0">
                          <a:solidFill>
                            <a:srgbClr val="1F2328"/>
                          </a:solidFill>
                          <a:latin typeface="Arial"/>
                        </a:rPr>
                        <a:t>l4</a:t>
                      </a:r>
                    </a:p>
                  </a:txBody>
                  <a:tcPr marL="45720" marR="45720" marT="18288" marB="18288">
                    <a:solidFill>
                      <a:srgbClr val="FFFFFF"/>
                    </a:solidFill>
                  </a:tcPr>
                </a:tc>
                <a:tc>
                  <a:txBody>
                    <a:bodyPr wrap="square"/>
                    <a:lstStyle/>
                    <a:p>
                      <a:r>
                        <a:rPr sz="900" b="0">
                          <a:solidFill>
                            <a:srgbClr val="1F2328"/>
                          </a:solidFill>
                          <a:latin typeface="Arial"/>
                        </a:rPr>
                        <a:t>A1</a:t>
                      </a:r>
                    </a:p>
                  </a:txBody>
                  <a:tcPr marL="45720" marR="45720" marT="18288" marB="18288">
                    <a:solidFill>
                      <a:srgbClr val="FFFFFF"/>
                    </a:solidFill>
                  </a:tcPr>
                </a:tc>
                <a:tc>
                  <a:txBody>
                    <a:bodyPr wrap="square"/>
                    <a:lstStyle/>
                    <a:p>
                      <a:r>
                        <a:rPr sz="900" b="0">
                          <a:solidFill>
                            <a:srgbClr val="1F2328"/>
                          </a:solidFill>
                          <a:latin typeface="Arial"/>
                        </a:rPr>
                        <a:t>Mr Colin Chan (Managing Director, Group Marketing), Mr Ryan Cheong (Managing Director, Group Customer and D…</a:t>
                      </a:r>
                    </a:p>
                  </a:txBody>
                  <a:tcPr marL="45720" marR="45720" marT="18288" marB="18288">
                    <a:solidFill>
                      <a:srgbClr val="FFFFFF"/>
                    </a:solidFill>
                  </a:tcPr>
                </a:tc>
                <a:tc>
                  <a:txBody>
                    <a:bodyPr wrap="square"/>
                    <a:lstStyle/>
                    <a:p>
                      <a:r>
                        <a:rPr sz="900" b="0">
                          <a:solidFill>
                            <a:srgbClr val="1F2328"/>
                          </a:solidFill>
                          <a:latin typeface="Arial"/>
                        </a:rPr>
                        <a:t>p. 67</a:t>
                      </a:r>
                    </a:p>
                  </a:txBody>
                  <a:tcPr marL="45720" marR="45720" marT="18288" marB="18288">
                    <a:solidFill>
                      <a:srgbClr val="FFFFFF"/>
                    </a:solidFill>
                  </a:tcPr>
                </a:tc>
                <a:tc>
                  <a:txBody>
                    <a:bodyPr wrap="square"/>
                    <a:lstStyle/>
                    <a:p>
                      <a:r>
                        <a:rPr sz="900" b="0">
                          <a:solidFill>
                            <a:srgbClr val="1F2328"/>
                          </a:solidFill>
                          <a:latin typeface="Arial"/>
                        </a:rPr>
                        <a:t>T2</a:t>
                      </a:r>
                    </a:p>
                  </a:txBody>
                  <a:tcPr marL="45720" marR="45720" marT="18288" marB="18288">
                    <a:solidFill>
                      <a:srgbClr val="FFFFFF"/>
                    </a:solidFill>
                  </a:tcPr>
                </a:tc>
                <a:tc>
                  <a:txBody>
                    <a:bodyPr wrap="square"/>
                    <a:lstStyle/>
                    <a:p>
                      <a:r>
                        <a:rPr sz="900" b="0">
                          <a:solidFill>
                            <a:srgbClr val="1F2328"/>
                          </a:solidFill>
                          <a:latin typeface="Arial"/>
                        </a:rPr>
                        <a:t>filed</a:t>
                      </a:r>
                    </a:p>
                  </a:txBody>
                  <a:tcPr marL="45720" marR="45720" marT="18288" marB="18288">
                    <a:solidFill>
                      <a:srgbClr val="FFFFFF"/>
                    </a:solidFill>
                  </a:tcPr>
                </a:tc>
                <a:tc>
                  <a:txBody>
                    <a:bodyPr wrap="square"/>
                    <a:lstStyle/>
                    <a:p>
                      <a:r>
                        <a:rPr sz="900" b="0">
                          <a:solidFill>
                            <a:srgbClr val="1F2328"/>
                          </a:solidFill>
                          <a:latin typeface="Arial"/>
                        </a:rPr>
                        <a:t>ae320cb3</a:t>
                      </a:r>
                    </a:p>
                  </a:txBody>
                  <a:tcPr marL="45720" marR="45720" marT="18288" marB="18288">
                    <a:solidFill>
                      <a:srgbClr val="FFFFFF"/>
                    </a:solidFill>
                  </a:tcPr>
                </a:tc>
                <a:tc>
                  <a:txBody>
                    <a:bodyPr wrap="square"/>
                    <a:lstStyle/>
                    <a:p>
                      <a:r>
                        <a:rPr sz="900" b="0">
                          <a:solidFill>
                            <a:srgbClr val="1F2328"/>
                          </a:solidFill>
                          <a:latin typeface="Arial"/>
                        </a:rPr>
                        <a:t>RELEASED (attached)</a:t>
                      </a:r>
                    </a:p>
                  </a:txBody>
                  <a:tcPr marL="45720" marR="45720" marT="18288" marB="18288">
                    <a:solidFill>
                      <a:srgbClr val="FFFFFF"/>
                    </a:solidFill>
                  </a:tcPr>
                </a:tc>
              </a:tr>
              <a:tr h="388620">
                <a:tc>
                  <a:txBody>
                    <a:bodyPr wrap="square"/>
                    <a:lstStyle/>
                    <a:p>
                      <a:r>
                        <a:rPr sz="900" b="0">
                          <a:solidFill>
                            <a:srgbClr val="1F2328"/>
                          </a:solidFill>
                          <a:latin typeface="Arial"/>
                        </a:rPr>
                        <a:t>l5</a:t>
                      </a:r>
                    </a:p>
                  </a:txBody>
                  <a:tcPr marL="45720" marR="45720" marT="18288" marB="18288">
                    <a:solidFill>
                      <a:srgbClr val="FFFFFF"/>
                    </a:solidFill>
                  </a:tcPr>
                </a:tc>
                <a:tc>
                  <a:txBody>
                    <a:bodyPr wrap="square"/>
                    <a:lstStyle/>
                    <a:p>
                      <a:r>
                        <a:rPr sz="900" b="0">
                          <a:solidFill>
                            <a:srgbClr val="1F2328"/>
                          </a:solidFill>
                          <a:latin typeface="Arial"/>
                        </a:rPr>
                        <a:t>A1</a:t>
                      </a:r>
                    </a:p>
                  </a:txBody>
                  <a:tcPr marL="45720" marR="45720" marT="18288" marB="18288">
                    <a:solidFill>
                      <a:srgbClr val="FFFFFF"/>
                    </a:solidFill>
                  </a:tcPr>
                </a:tc>
                <a:tc>
                  <a:txBody>
                    <a:bodyPr wrap="square"/>
                    <a:lstStyle/>
                    <a:p>
                      <a:r>
                        <a:rPr sz="900" b="0">
                          <a:solidFill>
                            <a:srgbClr val="1F2328"/>
                          </a:solidFill>
                          <a:latin typeface="Arial"/>
                        </a:rPr>
                        <a:t>He was the Group Chief Risk Officer of OCBC from 2014 to 2022 and the Group Chief Information Security Offi…</a:t>
                      </a:r>
                    </a:p>
                  </a:txBody>
                  <a:tcPr marL="45720" marR="45720" marT="18288" marB="18288">
                    <a:solidFill>
                      <a:srgbClr val="FFFFFF"/>
                    </a:solidFill>
                  </a:tcPr>
                </a:tc>
                <a:tc>
                  <a:txBody>
                    <a:bodyPr wrap="square"/>
                    <a:lstStyle/>
                    <a:p>
                      <a:r>
                        <a:rPr sz="900" b="0">
                          <a:solidFill>
                            <a:srgbClr val="1F2328"/>
                          </a:solidFill>
                          <a:latin typeface="Arial"/>
                        </a:rPr>
                        <a:t>p. 18</a:t>
                      </a:r>
                    </a:p>
                  </a:txBody>
                  <a:tcPr marL="45720" marR="45720" marT="18288" marB="18288">
                    <a:solidFill>
                      <a:srgbClr val="FFFFFF"/>
                    </a:solidFill>
                  </a:tcPr>
                </a:tc>
                <a:tc>
                  <a:txBody>
                    <a:bodyPr wrap="square"/>
                    <a:lstStyle/>
                    <a:p>
                      <a:r>
                        <a:rPr sz="900" b="0">
                          <a:solidFill>
                            <a:srgbClr val="1F2328"/>
                          </a:solidFill>
                          <a:latin typeface="Arial"/>
                        </a:rPr>
                        <a:t>T2</a:t>
                      </a:r>
                    </a:p>
                  </a:txBody>
                  <a:tcPr marL="45720" marR="45720" marT="18288" marB="18288">
                    <a:solidFill>
                      <a:srgbClr val="FFFFFF"/>
                    </a:solidFill>
                  </a:tcPr>
                </a:tc>
                <a:tc>
                  <a:txBody>
                    <a:bodyPr wrap="square"/>
                    <a:lstStyle/>
                    <a:p>
                      <a:r>
                        <a:rPr sz="900" b="0">
                          <a:solidFill>
                            <a:srgbClr val="1F2328"/>
                          </a:solidFill>
                          <a:latin typeface="Arial"/>
                        </a:rPr>
                        <a:t>filed</a:t>
                      </a:r>
                    </a:p>
                  </a:txBody>
                  <a:tcPr marL="45720" marR="45720" marT="18288" marB="18288">
                    <a:solidFill>
                      <a:srgbClr val="FFFFFF"/>
                    </a:solidFill>
                  </a:tcPr>
                </a:tc>
                <a:tc>
                  <a:txBody>
                    <a:bodyPr wrap="square"/>
                    <a:lstStyle/>
                    <a:p>
                      <a:r>
                        <a:rPr sz="900" b="0">
                          <a:solidFill>
                            <a:srgbClr val="1F2328"/>
                          </a:solidFill>
                          <a:latin typeface="Arial"/>
                        </a:rPr>
                        <a:t>ae320cb3</a:t>
                      </a:r>
                    </a:p>
                  </a:txBody>
                  <a:tcPr marL="45720" marR="45720" marT="18288" marB="18288">
                    <a:solidFill>
                      <a:srgbClr val="FFFFFF"/>
                    </a:solidFill>
                  </a:tcPr>
                </a:tc>
                <a:tc>
                  <a:txBody>
                    <a:bodyPr wrap="square"/>
                    <a:lstStyle/>
                    <a:p>
                      <a:r>
                        <a:rPr sz="900" b="0">
                          <a:solidFill>
                            <a:srgbClr val="1F2328"/>
                          </a:solidFill>
                          <a:latin typeface="Arial"/>
                        </a:rPr>
                        <a:t>RELEASED (attached)</a:t>
                      </a:r>
                    </a:p>
                  </a:txBody>
                  <a:tcPr marL="45720" marR="45720" marT="18288" marB="18288">
                    <a:solidFill>
                      <a:srgbClr val="FFFFFF"/>
                    </a:solidFill>
                  </a:tcPr>
                </a:tc>
              </a:tr>
              <a:tr h="388620">
                <a:tc>
                  <a:txBody>
                    <a:bodyPr wrap="square"/>
                    <a:lstStyle/>
                    <a:p>
                      <a:r>
                        <a:rPr sz="900" b="0">
                          <a:solidFill>
                            <a:srgbClr val="1F2328"/>
                          </a:solidFill>
                          <a:latin typeface="Arial"/>
                        </a:rPr>
                        <a:t>deploy.1</a:t>
                      </a:r>
                    </a:p>
                  </a:txBody>
                  <a:tcPr marL="45720" marR="45720" marT="18288" marB="18288">
                    <a:solidFill>
                      <a:srgbClr val="FFFFFF"/>
                    </a:solidFill>
                  </a:tcPr>
                </a:tc>
                <a:tc>
                  <a:txBody>
                    <a:bodyPr wrap="square"/>
                    <a:lstStyle/>
                    <a:p>
                      <a:r>
                        <a:rPr sz="900" b="0">
                          <a:solidFill>
                            <a:srgbClr val="1F2328"/>
                          </a:solidFill>
                          <a:latin typeface="Arial"/>
                        </a:rPr>
                        <a:t>S03, S04, S08</a:t>
                      </a:r>
                    </a:p>
                  </a:txBody>
                  <a:tcPr marL="45720" marR="45720" marT="18288" marB="18288">
                    <a:solidFill>
                      <a:srgbClr val="FFFFFF"/>
                    </a:solidFill>
                  </a:tcPr>
                </a:tc>
                <a:tc>
                  <a:txBody>
                    <a:bodyPr wrap="square"/>
                    <a:lstStyle/>
                    <a:p>
                      <a:r>
                        <a:rPr sz="900" b="0">
                          <a:solidFill>
                            <a:srgbClr val="1F2328"/>
                          </a:solidFill>
                          <a:latin typeface="Arial"/>
                        </a:rPr>
                        <a:t>In 2025, we deployed an AI-enabled advisory platform that aims to reduce preparation time for financial adv…</a:t>
                      </a:r>
                    </a:p>
                  </a:txBody>
                  <a:tcPr marL="45720" marR="45720" marT="18288" marB="18288">
                    <a:solidFill>
                      <a:srgbClr val="FFFFFF"/>
                    </a:solidFill>
                  </a:tcPr>
                </a:tc>
                <a:tc>
                  <a:txBody>
                    <a:bodyPr wrap="square"/>
                    <a:lstStyle/>
                    <a:p>
                      <a:r>
                        <a:rPr sz="900" b="0">
                          <a:solidFill>
                            <a:srgbClr val="1F2328"/>
                          </a:solidFill>
                          <a:latin typeface="Arial"/>
                        </a:rPr>
                        <a:t>p. 14</a:t>
                      </a:r>
                    </a:p>
                  </a:txBody>
                  <a:tcPr marL="45720" marR="45720" marT="18288" marB="18288">
                    <a:solidFill>
                      <a:srgbClr val="FFFFFF"/>
                    </a:solidFill>
                  </a:tcPr>
                </a:tc>
                <a:tc>
                  <a:txBody>
                    <a:bodyPr wrap="square"/>
                    <a:lstStyle/>
                    <a:p>
                      <a:r>
                        <a:rPr sz="900" b="0">
                          <a:solidFill>
                            <a:srgbClr val="1F2328"/>
                          </a:solidFill>
                          <a:latin typeface="Arial"/>
                        </a:rPr>
                        <a:t>T2</a:t>
                      </a:r>
                    </a:p>
                  </a:txBody>
                  <a:tcPr marL="45720" marR="45720" marT="18288" marB="18288">
                    <a:solidFill>
                      <a:srgbClr val="FFFFFF"/>
                    </a:solidFill>
                  </a:tcPr>
                </a:tc>
                <a:tc>
                  <a:txBody>
                    <a:bodyPr wrap="square"/>
                    <a:lstStyle/>
                    <a:p>
                      <a:r>
                        <a:rPr sz="900" b="0">
                          <a:solidFill>
                            <a:srgbClr val="1F2328"/>
                          </a:solidFill>
                          <a:latin typeface="Arial"/>
                        </a:rPr>
                        <a:t>filed</a:t>
                      </a:r>
                    </a:p>
                  </a:txBody>
                  <a:tcPr marL="45720" marR="45720" marT="18288" marB="18288">
                    <a:solidFill>
                      <a:srgbClr val="FFFFFF"/>
                    </a:solidFill>
                  </a:tcPr>
                </a:tc>
                <a:tc>
                  <a:txBody>
                    <a:bodyPr wrap="square"/>
                    <a:lstStyle/>
                    <a:p>
                      <a:r>
                        <a:rPr sz="900" b="0">
                          <a:solidFill>
                            <a:srgbClr val="1F2328"/>
                          </a:solidFill>
                          <a:latin typeface="Arial"/>
                        </a:rPr>
                        <a:t>ae320cb3</a:t>
                      </a:r>
                    </a:p>
                  </a:txBody>
                  <a:tcPr marL="45720" marR="45720" marT="18288" marB="18288">
                    <a:solidFill>
                      <a:srgbClr val="FFFFFF"/>
                    </a:solidFill>
                  </a:tcPr>
                </a:tc>
                <a:tc>
                  <a:txBody>
                    <a:bodyPr wrap="square"/>
                    <a:lstStyle/>
                    <a:p>
                      <a:r>
                        <a:rPr sz="900" b="0">
                          <a:solidFill>
                            <a:srgbClr val="1F2328"/>
                          </a:solidFill>
                          <a:latin typeface="Arial"/>
                        </a:rPr>
                        <a:t>RELEASED (attached)</a:t>
                      </a:r>
                    </a:p>
                  </a:txBody>
                  <a:tcPr marL="45720" marR="45720" marT="18288" marB="18288">
                    <a:solidFill>
                      <a:srgbClr val="FFFFFF"/>
                    </a:solidFill>
                  </a:tcPr>
                </a:tc>
              </a:tr>
              <a:tr h="388620">
                <a:tc>
                  <a:txBody>
                    <a:bodyPr wrap="square"/>
                    <a:lstStyle/>
                    <a:p>
                      <a:r>
                        <a:rPr sz="900" b="0">
                          <a:solidFill>
                            <a:srgbClr val="1F2328"/>
                          </a:solidFill>
                          <a:latin typeface="Arial"/>
                        </a:rPr>
                        <a:t>deploy.2</a:t>
                      </a:r>
                    </a:p>
                  </a:txBody>
                  <a:tcPr marL="45720" marR="45720" marT="18288" marB="18288">
                    <a:solidFill>
                      <a:srgbClr val="FFFFFF"/>
                    </a:solidFill>
                  </a:tcPr>
                </a:tc>
                <a:tc>
                  <a:txBody>
                    <a:bodyPr wrap="square"/>
                    <a:lstStyle/>
                    <a:p>
                      <a:r>
                        <a:rPr sz="900" b="0">
                          <a:solidFill>
                            <a:srgbClr val="1F2328"/>
                          </a:solidFill>
                          <a:latin typeface="Arial"/>
                        </a:rPr>
                        <a:t>S03, S04</a:t>
                      </a:r>
                    </a:p>
                  </a:txBody>
                  <a:tcPr marL="45720" marR="45720" marT="18288" marB="18288">
                    <a:solidFill>
                      <a:srgbClr val="FFFFFF"/>
                    </a:solidFill>
                  </a:tcPr>
                </a:tc>
                <a:tc>
                  <a:txBody>
                    <a:bodyPr wrap="square"/>
                    <a:lstStyle/>
                    <a:p>
                      <a:r>
                        <a:rPr sz="900" b="0">
                          <a:solidFill>
                            <a:srgbClr val="1F2328"/>
                          </a:solidFill>
                          <a:latin typeface="Arial"/>
                        </a:rPr>
                        <a:t>We rolled out a proprietary AI-powered platform to automate medical claims, enhancing claim efficiency whil…</a:t>
                      </a:r>
                    </a:p>
                  </a:txBody>
                  <a:tcPr marL="45720" marR="45720" marT="18288" marB="18288">
                    <a:solidFill>
                      <a:srgbClr val="FFFFFF"/>
                    </a:solidFill>
                  </a:tcPr>
                </a:tc>
                <a:tc>
                  <a:txBody>
                    <a:bodyPr wrap="square"/>
                    <a:lstStyle/>
                    <a:p>
                      <a:r>
                        <a:rPr sz="900" b="0">
                          <a:solidFill>
                            <a:srgbClr val="1F2328"/>
                          </a:solidFill>
                          <a:latin typeface="Arial"/>
                        </a:rPr>
                        <a:t>p. 14</a:t>
                      </a:r>
                    </a:p>
                  </a:txBody>
                  <a:tcPr marL="45720" marR="45720" marT="18288" marB="18288">
                    <a:solidFill>
                      <a:srgbClr val="FFFFFF"/>
                    </a:solidFill>
                  </a:tcPr>
                </a:tc>
                <a:tc>
                  <a:txBody>
                    <a:bodyPr wrap="square"/>
                    <a:lstStyle/>
                    <a:p>
                      <a:r>
                        <a:rPr sz="900" b="0">
                          <a:solidFill>
                            <a:srgbClr val="1F2328"/>
                          </a:solidFill>
                          <a:latin typeface="Arial"/>
                        </a:rPr>
                        <a:t>T2</a:t>
                      </a:r>
                    </a:p>
                  </a:txBody>
                  <a:tcPr marL="45720" marR="45720" marT="18288" marB="18288">
                    <a:solidFill>
                      <a:srgbClr val="FFFFFF"/>
                    </a:solidFill>
                  </a:tcPr>
                </a:tc>
                <a:tc>
                  <a:txBody>
                    <a:bodyPr wrap="square"/>
                    <a:lstStyle/>
                    <a:p>
                      <a:r>
                        <a:rPr sz="900" b="0">
                          <a:solidFill>
                            <a:srgbClr val="1F2328"/>
                          </a:solidFill>
                          <a:latin typeface="Arial"/>
                        </a:rPr>
                        <a:t>filed</a:t>
                      </a:r>
                    </a:p>
                  </a:txBody>
                  <a:tcPr marL="45720" marR="45720" marT="18288" marB="18288">
                    <a:solidFill>
                      <a:srgbClr val="FFFFFF"/>
                    </a:solidFill>
                  </a:tcPr>
                </a:tc>
                <a:tc>
                  <a:txBody>
                    <a:bodyPr wrap="square"/>
                    <a:lstStyle/>
                    <a:p>
                      <a:r>
                        <a:rPr sz="900" b="0">
                          <a:solidFill>
                            <a:srgbClr val="1F2328"/>
                          </a:solidFill>
                          <a:latin typeface="Arial"/>
                        </a:rPr>
                        <a:t>ae320cb3</a:t>
                      </a:r>
                    </a:p>
                  </a:txBody>
                  <a:tcPr marL="45720" marR="45720" marT="18288" marB="18288">
                    <a:solidFill>
                      <a:srgbClr val="FFFFFF"/>
                    </a:solidFill>
                  </a:tcPr>
                </a:tc>
                <a:tc>
                  <a:txBody>
                    <a:bodyPr wrap="square"/>
                    <a:lstStyle/>
                    <a:p>
                      <a:r>
                        <a:rPr sz="900" b="0">
                          <a:solidFill>
                            <a:srgbClr val="1F2328"/>
                          </a:solidFill>
                          <a:latin typeface="Arial"/>
                        </a:rPr>
                        <a:t>RELEASED (attached)</a:t>
                      </a:r>
                    </a:p>
                  </a:txBody>
                  <a:tcPr marL="45720" marR="45720" marT="18288" marB="18288">
                    <a:solidFill>
                      <a:srgbClr val="FFFFFF"/>
                    </a:solidFill>
                  </a:tcPr>
                </a:tc>
              </a:tr>
              <a:tr h="388620">
                <a:tc>
                  <a:txBody>
                    <a:bodyPr wrap="square"/>
                    <a:lstStyle/>
                    <a:p>
                      <a:r>
                        <a:rPr sz="900" b="0">
                          <a:solidFill>
                            <a:srgbClr val="1F2328"/>
                          </a:solidFill>
                          <a:latin typeface="Arial"/>
                        </a:rPr>
                        <a:t>deploy.3</a:t>
                      </a:r>
                    </a:p>
                  </a:txBody>
                  <a:tcPr marL="45720" marR="45720" marT="18288" marB="18288">
                    <a:solidFill>
                      <a:srgbClr val="FFFFFF"/>
                    </a:solidFill>
                  </a:tcPr>
                </a:tc>
                <a:tc>
                  <a:txBody>
                    <a:bodyPr wrap="square"/>
                    <a:lstStyle/>
                    <a:p>
                      <a:r>
                        <a:rPr sz="900" b="0">
                          <a:solidFill>
                            <a:srgbClr val="1F2328"/>
                          </a:solidFill>
                          <a:latin typeface="Arial"/>
                        </a:rPr>
                        <a:t>S04, S08</a:t>
                      </a:r>
                    </a:p>
                  </a:txBody>
                  <a:tcPr marL="45720" marR="45720" marT="18288" marB="18288">
                    <a:solidFill>
                      <a:srgbClr val="FFFFFF"/>
                    </a:solidFill>
                  </a:tcPr>
                </a:tc>
                <a:tc>
                  <a:txBody>
                    <a:bodyPr wrap="square"/>
                    <a:lstStyle/>
                    <a:p>
                      <a:r>
                        <a:rPr sz="900" b="0">
                          <a:solidFill>
                            <a:srgbClr val="1F2328"/>
                          </a:solidFill>
                          <a:latin typeface="Arial"/>
                        </a:rPr>
                        <a:t>We are also testing an AI solution for complex underwriting cases to further improve automation and associa…</a:t>
                      </a:r>
                    </a:p>
                  </a:txBody>
                  <a:tcPr marL="45720" marR="45720" marT="18288" marB="18288">
                    <a:solidFill>
                      <a:srgbClr val="FFFFFF"/>
                    </a:solidFill>
                  </a:tcPr>
                </a:tc>
                <a:tc>
                  <a:txBody>
                    <a:bodyPr wrap="square"/>
                    <a:lstStyle/>
                    <a:p>
                      <a:r>
                        <a:rPr sz="900" b="0">
                          <a:solidFill>
                            <a:srgbClr val="1F2328"/>
                          </a:solidFill>
                          <a:latin typeface="Arial"/>
                        </a:rPr>
                        <a:t>p. 14</a:t>
                      </a:r>
                    </a:p>
                  </a:txBody>
                  <a:tcPr marL="45720" marR="45720" marT="18288" marB="18288">
                    <a:solidFill>
                      <a:srgbClr val="FFFFFF"/>
                    </a:solidFill>
                  </a:tcPr>
                </a:tc>
                <a:tc>
                  <a:txBody>
                    <a:bodyPr wrap="square"/>
                    <a:lstStyle/>
                    <a:p>
                      <a:r>
                        <a:rPr sz="900" b="0">
                          <a:solidFill>
                            <a:srgbClr val="1F2328"/>
                          </a:solidFill>
                          <a:latin typeface="Arial"/>
                        </a:rPr>
                        <a:t>T2</a:t>
                      </a:r>
                    </a:p>
                  </a:txBody>
                  <a:tcPr marL="45720" marR="45720" marT="18288" marB="18288">
                    <a:solidFill>
                      <a:srgbClr val="FFFFFF"/>
                    </a:solidFill>
                  </a:tcPr>
                </a:tc>
                <a:tc>
                  <a:txBody>
                    <a:bodyPr wrap="square"/>
                    <a:lstStyle/>
                    <a:p>
                      <a:r>
                        <a:rPr sz="900" b="0">
                          <a:solidFill>
                            <a:srgbClr val="1F2328"/>
                          </a:solidFill>
                          <a:latin typeface="Arial"/>
                        </a:rPr>
                        <a:t>filed</a:t>
                      </a:r>
                    </a:p>
                  </a:txBody>
                  <a:tcPr marL="45720" marR="45720" marT="18288" marB="18288">
                    <a:solidFill>
                      <a:srgbClr val="FFFFFF"/>
                    </a:solidFill>
                  </a:tcPr>
                </a:tc>
                <a:tc>
                  <a:txBody>
                    <a:bodyPr wrap="square"/>
                    <a:lstStyle/>
                    <a:p>
                      <a:r>
                        <a:rPr sz="900" b="0">
                          <a:solidFill>
                            <a:srgbClr val="1F2328"/>
                          </a:solidFill>
                          <a:latin typeface="Arial"/>
                        </a:rPr>
                        <a:t>ae320cb3</a:t>
                      </a:r>
                    </a:p>
                  </a:txBody>
                  <a:tcPr marL="45720" marR="45720" marT="18288" marB="18288">
                    <a:solidFill>
                      <a:srgbClr val="FFFFFF"/>
                    </a:solidFill>
                  </a:tcPr>
                </a:tc>
                <a:tc>
                  <a:txBody>
                    <a:bodyPr wrap="square"/>
                    <a:lstStyle/>
                    <a:p>
                      <a:r>
                        <a:rPr sz="900" b="0">
                          <a:solidFill>
                            <a:srgbClr val="1F2328"/>
                          </a:solidFill>
                          <a:latin typeface="Arial"/>
                        </a:rPr>
                        <a:t>RELEASED (attached)</a:t>
                      </a:r>
                    </a:p>
                  </a:txBody>
                  <a:tcPr marL="45720" marR="45720" marT="18288" marB="18288">
                    <a:solidFill>
                      <a:srgbClr val="FFFFFF"/>
                    </a:solidFill>
                  </a:tcPr>
                </a:tc>
              </a:tr>
              <a:tr h="388620">
                <a:tc>
                  <a:txBody>
                    <a:bodyPr wrap="square"/>
                    <a:lstStyle/>
                    <a:p>
                      <a:r>
                        <a:rPr sz="900" b="0">
                          <a:solidFill>
                            <a:srgbClr val="1F2328"/>
                          </a:solidFill>
                          <a:latin typeface="Arial"/>
                        </a:rPr>
                        <a:t>deploy.4</a:t>
                      </a:r>
                    </a:p>
                  </a:txBody>
                  <a:tcPr marL="45720" marR="45720" marT="18288" marB="18288">
                    <a:solidFill>
                      <a:srgbClr val="FFFFFF"/>
                    </a:solidFill>
                  </a:tcPr>
                </a:tc>
                <a:tc>
                  <a:txBody>
                    <a:bodyPr wrap="square"/>
                    <a:lstStyle/>
                    <a:p>
                      <a:r>
                        <a:rPr sz="900" b="0">
                          <a:solidFill>
                            <a:srgbClr val="1F2328"/>
                          </a:solidFill>
                          <a:latin typeface="Arial"/>
                        </a:rPr>
                        <a:t>S04, S08</a:t>
                      </a:r>
                    </a:p>
                  </a:txBody>
                  <a:tcPr marL="45720" marR="45720" marT="18288" marB="18288">
                    <a:solidFill>
                      <a:srgbClr val="FFFFFF"/>
                    </a:solidFill>
                  </a:tcPr>
                </a:tc>
                <a:tc>
                  <a:txBody>
                    <a:bodyPr wrap="square"/>
                    <a:lstStyle/>
                    <a:p>
                      <a:r>
                        <a:rPr sz="900" b="0">
                          <a:solidFill>
                            <a:srgbClr val="1F2328"/>
                          </a:solidFill>
                          <a:latin typeface="Arial"/>
                        </a:rPr>
                        <a:t>In 2025, our AI-driven claims system delivered same-day turnarounds for 75% of medical claims, one of the f…</a:t>
                      </a:r>
                    </a:p>
                  </a:txBody>
                  <a:tcPr marL="45720" marR="45720" marT="18288" marB="18288">
                    <a:solidFill>
                      <a:srgbClr val="FFFFFF"/>
                    </a:solidFill>
                  </a:tcPr>
                </a:tc>
                <a:tc>
                  <a:txBody>
                    <a:bodyPr wrap="square"/>
                    <a:lstStyle/>
                    <a:p>
                      <a:r>
                        <a:rPr sz="900" b="0">
                          <a:solidFill>
                            <a:srgbClr val="1F2328"/>
                          </a:solidFill>
                          <a:latin typeface="Arial"/>
                        </a:rPr>
                        <a:t>p. 40</a:t>
                      </a:r>
                    </a:p>
                  </a:txBody>
                  <a:tcPr marL="45720" marR="45720" marT="18288" marB="18288">
                    <a:solidFill>
                      <a:srgbClr val="FFFFFF"/>
                    </a:solidFill>
                  </a:tcPr>
                </a:tc>
                <a:tc>
                  <a:txBody>
                    <a:bodyPr wrap="square"/>
                    <a:lstStyle/>
                    <a:p>
                      <a:r>
                        <a:rPr sz="900" b="0">
                          <a:solidFill>
                            <a:srgbClr val="1F2328"/>
                          </a:solidFill>
                          <a:latin typeface="Arial"/>
                        </a:rPr>
                        <a:t>T2</a:t>
                      </a:r>
                    </a:p>
                  </a:txBody>
                  <a:tcPr marL="45720" marR="45720" marT="18288" marB="18288">
                    <a:solidFill>
                      <a:srgbClr val="FFFFFF"/>
                    </a:solidFill>
                  </a:tcPr>
                </a:tc>
                <a:tc>
                  <a:txBody>
                    <a:bodyPr wrap="square"/>
                    <a:lstStyle/>
                    <a:p>
                      <a:r>
                        <a:rPr sz="900" b="0">
                          <a:solidFill>
                            <a:srgbClr val="1F2328"/>
                          </a:solidFill>
                          <a:latin typeface="Arial"/>
                        </a:rPr>
                        <a:t>filed</a:t>
                      </a:r>
                    </a:p>
                  </a:txBody>
                  <a:tcPr marL="45720" marR="45720" marT="18288" marB="18288">
                    <a:solidFill>
                      <a:srgbClr val="FFFFFF"/>
                    </a:solidFill>
                  </a:tcPr>
                </a:tc>
                <a:tc>
                  <a:txBody>
                    <a:bodyPr wrap="square"/>
                    <a:lstStyle/>
                    <a:p>
                      <a:r>
                        <a:rPr sz="900" b="0">
                          <a:solidFill>
                            <a:srgbClr val="1F2328"/>
                          </a:solidFill>
                          <a:latin typeface="Arial"/>
                        </a:rPr>
                        <a:t>ae320cb3</a:t>
                      </a:r>
                    </a:p>
                  </a:txBody>
                  <a:tcPr marL="45720" marR="45720" marT="18288" marB="18288">
                    <a:solidFill>
                      <a:srgbClr val="FFFFFF"/>
                    </a:solidFill>
                  </a:tcPr>
                </a:tc>
                <a:tc>
                  <a:txBody>
                    <a:bodyPr wrap="square"/>
                    <a:lstStyle/>
                    <a:p>
                      <a:r>
                        <a:rPr sz="900" b="0">
                          <a:solidFill>
                            <a:srgbClr val="1F2328"/>
                          </a:solidFill>
                          <a:latin typeface="Arial"/>
                        </a:rPr>
                        <a:t>RELEASED (attached)</a:t>
                      </a:r>
                    </a:p>
                  </a:txBody>
                  <a:tcPr marL="45720" marR="45720" marT="18288" marB="18288">
                    <a:solidFill>
                      <a:srgbClr val="FFFFFF"/>
                    </a:solidFill>
                  </a:tcPr>
                </a:tc>
              </a:tr>
              <a:tr h="388620">
                <a:tc>
                  <a:txBody>
                    <a:bodyPr wrap="square"/>
                    <a:lstStyle/>
                    <a:p>
                      <a:r>
                        <a:rPr sz="900" b="0">
                          <a:solidFill>
                            <a:srgbClr val="1F2328"/>
                          </a:solidFill>
                          <a:latin typeface="Arial"/>
                        </a:rPr>
                        <a:t>deploy.5</a:t>
                      </a:r>
                    </a:p>
                  </a:txBody>
                  <a:tcPr marL="45720" marR="45720" marT="18288" marB="18288">
                    <a:solidFill>
                      <a:srgbClr val="FFFFFF"/>
                    </a:solidFill>
                  </a:tcPr>
                </a:tc>
                <a:tc>
                  <a:txBody>
                    <a:bodyPr wrap="square"/>
                    <a:lstStyle/>
                    <a:p>
                      <a:r>
                        <a:rPr sz="900" b="0">
                          <a:solidFill>
                            <a:srgbClr val="1F2328"/>
                          </a:solidFill>
                          <a:latin typeface="Arial"/>
                        </a:rPr>
                        <a:t>S04</a:t>
                      </a:r>
                    </a:p>
                  </a:txBody>
                  <a:tcPr marL="45720" marR="45720" marT="18288" marB="18288">
                    <a:solidFill>
                      <a:srgbClr val="FFFFFF"/>
                    </a:solidFill>
                  </a:tcPr>
                </a:tc>
                <a:tc>
                  <a:txBody>
                    <a:bodyPr wrap="square"/>
                    <a:lstStyle/>
                    <a:p>
                      <a:r>
                        <a:rPr sz="900" b="0">
                          <a:solidFill>
                            <a:srgbClr val="1F2328"/>
                          </a:solidFill>
                          <a:latin typeface="Arial"/>
                        </a:rPr>
                        <a:t>We further leveraged AI in our customer segmentation process for our supplementary long-term care insurance…</a:t>
                      </a:r>
                    </a:p>
                  </a:txBody>
                  <a:tcPr marL="45720" marR="45720" marT="18288" marB="18288">
                    <a:solidFill>
                      <a:srgbClr val="FFFFFF"/>
                    </a:solidFill>
                  </a:tcPr>
                </a:tc>
                <a:tc>
                  <a:txBody>
                    <a:bodyPr wrap="square"/>
                    <a:lstStyle/>
                    <a:p>
                      <a:r>
                        <a:rPr sz="900" b="0">
                          <a:solidFill>
                            <a:srgbClr val="1F2328"/>
                          </a:solidFill>
                          <a:latin typeface="Arial"/>
                        </a:rPr>
                        <a:t>p. 40</a:t>
                      </a:r>
                    </a:p>
                  </a:txBody>
                  <a:tcPr marL="45720" marR="45720" marT="18288" marB="18288">
                    <a:solidFill>
                      <a:srgbClr val="FFFFFF"/>
                    </a:solidFill>
                  </a:tcPr>
                </a:tc>
                <a:tc>
                  <a:txBody>
                    <a:bodyPr wrap="square"/>
                    <a:lstStyle/>
                    <a:p>
                      <a:r>
                        <a:rPr sz="900" b="0">
                          <a:solidFill>
                            <a:srgbClr val="1F2328"/>
                          </a:solidFill>
                          <a:latin typeface="Arial"/>
                        </a:rPr>
                        <a:t>T2</a:t>
                      </a:r>
                    </a:p>
                  </a:txBody>
                  <a:tcPr marL="45720" marR="45720" marT="18288" marB="18288">
                    <a:solidFill>
                      <a:srgbClr val="FFFFFF"/>
                    </a:solidFill>
                  </a:tcPr>
                </a:tc>
                <a:tc>
                  <a:txBody>
                    <a:bodyPr wrap="square"/>
                    <a:lstStyle/>
                    <a:p>
                      <a:r>
                        <a:rPr sz="900" b="0">
                          <a:solidFill>
                            <a:srgbClr val="1F2328"/>
                          </a:solidFill>
                          <a:latin typeface="Arial"/>
                        </a:rPr>
                        <a:t>filed</a:t>
                      </a:r>
                    </a:p>
                  </a:txBody>
                  <a:tcPr marL="45720" marR="45720" marT="18288" marB="18288">
                    <a:solidFill>
                      <a:srgbClr val="FFFFFF"/>
                    </a:solidFill>
                  </a:tcPr>
                </a:tc>
                <a:tc>
                  <a:txBody>
                    <a:bodyPr wrap="square"/>
                    <a:lstStyle/>
                    <a:p>
                      <a:r>
                        <a:rPr sz="900" b="0">
                          <a:solidFill>
                            <a:srgbClr val="1F2328"/>
                          </a:solidFill>
                          <a:latin typeface="Arial"/>
                        </a:rPr>
                        <a:t>ae320cb3</a:t>
                      </a:r>
                    </a:p>
                  </a:txBody>
                  <a:tcPr marL="45720" marR="45720" marT="18288" marB="18288">
                    <a:solidFill>
                      <a:srgbClr val="FFFFFF"/>
                    </a:solidFill>
                  </a:tcPr>
                </a:tc>
                <a:tc>
                  <a:txBody>
                    <a:bodyPr wrap="square"/>
                    <a:lstStyle/>
                    <a:p>
                      <a:r>
                        <a:rPr sz="900" b="0">
                          <a:solidFill>
                            <a:srgbClr val="1F2328"/>
                          </a:solidFill>
                          <a:latin typeface="Arial"/>
                        </a:rPr>
                        <a:t>RELEASED (attached)</a:t>
                      </a:r>
                    </a:p>
                  </a:txBody>
                  <a:tcPr marL="45720" marR="45720" marT="18288" marB="18288">
                    <a:solidFill>
                      <a:srgbClr val="FFFFFF"/>
                    </a:solidFill>
                  </a:tcPr>
                </a:tc>
              </a:tr>
            </a:tbl>
          </a:graphicData>
        </a:graphic>
      </p:graphicFrame>
      <p:sp>
        <p:nvSpPr>
          <p:cNvPr id="7" name="plumbdeck-source"/>
          <p:cNvSpPr txBox="1"/>
          <p:nvPr/>
        </p:nvSpPr>
        <p:spPr>
          <a:xfrm>
            <a:off x="548640" y="5943600"/>
            <a:ext cx="11094415" cy="347472"/>
          </a:xfrm>
          <a:prstGeom prst="rect">
            <a:avLst/>
          </a:prstGeom>
          <a:noFill/>
        </p:spPr>
        <p:txBody>
          <a:bodyPr wrap="square" lIns="45720" rIns="45720" tIns="27432" bIns="27432" anchor="t">
            <a:spAutoFit/>
          </a:bodyPr>
          <a:lstStyle/>
          <a:p>
            <a:r>
              <a:rPr sz="900" b="0" i="0">
                <a:solidFill>
                  <a:srgbClr val="57606A"/>
                </a:solidFill>
                <a:latin typeface="Arial"/>
              </a:rPr>
              <a:t>Source: T2 Great Eastern Holdings Limited annual report FY2025 pp. 8, 14, 18, 31, 40, 41, 43, 67, 73, 80, 229 (attached; publisher hash unreconciled), 2026-10-25; confidence: filed</a:t>
            </a:r>
          </a:p>
        </p:txBody>
      </p:sp>
      <p:sp>
        <p:nvSpPr>
          <p:cNvPr id="8" name="Rectangle 7"/>
          <p:cNvSpPr/>
          <p:nvPr/>
        </p:nvSpPr>
        <p:spPr>
          <a:xfrm>
            <a:off x="548640" y="6322885"/>
            <a:ext cx="11094415" cy="9525"/>
          </a:xfrm>
          <a:prstGeom prst="rect">
            <a:avLst/>
          </a:prstGeom>
          <a:solidFill>
            <a:srgbClr val="D0D7DE"/>
          </a:solidFill>
          <a:ln>
            <a:noFill/>
          </a:ln>
          <a:effectLst/>
        </p:spPr>
        <p:txBody>
          <a:bodyPr rtlCol="0" anchor="ctr"/>
          <a:lstStyle/>
          <a:p>
            <a:pPr algn="ctr"/>
          </a:p>
        </p:txBody>
      </p:sp>
      <p:sp>
        <p:nvSpPr>
          <p:cNvPr id="9" name="plumbdeck-footer"/>
          <p:cNvSpPr txBox="1"/>
          <p:nvPr/>
        </p:nvSpPr>
        <p:spPr>
          <a:xfrm>
            <a:off x="548640" y="6373368"/>
            <a:ext cx="10362895" cy="365760"/>
          </a:xfrm>
          <a:prstGeom prst="rect">
            <a:avLst/>
          </a:prstGeom>
          <a:noFill/>
        </p:spPr>
        <p:txBody>
          <a:bodyPr wrap="square" lIns="45720" rIns="45720" tIns="27432" bIns="27432" anchor="t">
            <a:spAutoFit/>
          </a:bodyPr>
          <a:lstStyle/>
          <a:p>
            <a:r>
              <a:rPr sz="800" b="0" i="0">
                <a:solidFill>
                  <a:srgbClr val="57606A"/>
                </a:solidFill>
                <a:latin typeface="Arial"/>
              </a:rPr>
              <a:t>DRAFT — not for board use. Deliverable PLUMB-PR-great-eastern-research-e0bc54685dce v0.1.</a:t>
            </a:r>
          </a:p>
        </p:txBody>
      </p:sp>
      <p:sp>
        <p:nvSpPr>
          <p:cNvPr id="10" name="TextBox 9"/>
          <p:cNvSpPr txBox="1"/>
          <p:nvPr/>
        </p:nvSpPr>
        <p:spPr>
          <a:xfrm>
            <a:off x="11002975" y="6373368"/>
            <a:ext cx="640080" cy="274320"/>
          </a:xfrm>
          <a:prstGeom prst="rect">
            <a:avLst/>
          </a:prstGeom>
          <a:noFill/>
        </p:spPr>
        <p:txBody>
          <a:bodyPr wrap="square" lIns="45720" rIns="45720" tIns="27432" bIns="27432" anchor="t">
            <a:spAutoFit/>
          </a:bodyPr>
          <a:lstStyle/>
          <a:p>
            <a:pPr algn="r"/>
            <a:r>
              <a:rPr sz="800" b="0" i="0">
                <a:solidFill>
                  <a:srgbClr val="57606A"/>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plumbdeck-banner"/>
          <p:cNvSpPr txBox="1"/>
          <p:nvPr/>
        </p:nvSpPr>
        <p:spPr>
          <a:xfrm>
            <a:off x="0" y="0"/>
            <a:ext cx="12191695" cy="384048"/>
          </a:xfrm>
          <a:prstGeom prst="rect">
            <a:avLst/>
          </a:prstGeom>
          <a:solidFill>
            <a:srgbClr val="B42318"/>
          </a:solidFill>
        </p:spPr>
        <p:txBody>
          <a:bodyPr wrap="square" lIns="45720" rIns="45720" tIns="27432" bIns="27432" anchor="ctr">
            <a:spAutoFit/>
          </a:bodyPr>
          <a:lstStyle/>
          <a:p>
            <a:pPr algn="ctr"/>
            <a:r>
              <a:rPr sz="1100" b="1" i="0">
                <a:solidFill>
                  <a:srgbClr val="FFFFFF"/>
                </a:solidFill>
                <a:latin typeface="Arial"/>
              </a:rPr>
              <a:t>DRAFT — not for board use (internal profile; 1 attachment unreconciled; resolution 0.1429; no QA gate 3 sign-off)</a:t>
            </a:r>
          </a:p>
        </p:txBody>
      </p:sp>
      <p:sp>
        <p:nvSpPr>
          <p:cNvPr id="3" name="plumbdeck-section"/>
          <p:cNvSpPr txBox="1"/>
          <p:nvPr/>
        </p:nvSpPr>
        <p:spPr>
          <a:xfrm>
            <a:off x="548640" y="502920"/>
            <a:ext cx="11094415" cy="274320"/>
          </a:xfrm>
          <a:prstGeom prst="rect">
            <a:avLst/>
          </a:prstGeom>
          <a:noFill/>
        </p:spPr>
        <p:txBody>
          <a:bodyPr wrap="square" lIns="45720" rIns="45720" tIns="27432" bIns="27432" anchor="t">
            <a:spAutoFit/>
          </a:bodyPr>
          <a:lstStyle/>
          <a:p>
            <a:r>
              <a:rPr sz="1000" b="0" i="0">
                <a:solidFill>
                  <a:srgbClr val="57606A"/>
                </a:solidFill>
                <a:latin typeface="Arial"/>
              </a:rPr>
              <a:t>A1 · Appendix — evidence log  (3/4)</a:t>
            </a:r>
          </a:p>
        </p:txBody>
      </p:sp>
      <p:sp>
        <p:nvSpPr>
          <p:cNvPr id="4" name="plumbdeck-title"/>
          <p:cNvSpPr txBox="1"/>
          <p:nvPr/>
        </p:nvSpPr>
        <p:spPr>
          <a:xfrm>
            <a:off x="548640" y="822960"/>
            <a:ext cx="11094415" cy="466344"/>
          </a:xfrm>
          <a:prstGeom prst="rect">
            <a:avLst/>
          </a:prstGeom>
          <a:noFill/>
        </p:spPr>
        <p:txBody>
          <a:bodyPr wrap="square" lIns="45720" rIns="45720" tIns="27432" bIns="27432" anchor="t">
            <a:spAutoFit/>
          </a:bodyPr>
          <a:lstStyle/>
          <a:p>
            <a:r>
              <a:rPr sz="2000" b="1" i="0">
                <a:solidFill>
                  <a:srgbClr val="1F2328"/>
                </a:solidFill>
                <a:latin typeface="Arial"/>
              </a:rPr>
              <a:t>Every released claim traces to a stored source passage, page and hash</a:t>
            </a:r>
          </a:p>
        </p:txBody>
      </p:sp>
      <p:sp>
        <p:nvSpPr>
          <p:cNvPr id="5" name="Rectangle 4"/>
          <p:cNvSpPr/>
          <p:nvPr/>
        </p:nvSpPr>
        <p:spPr>
          <a:xfrm>
            <a:off x="548640" y="1330261"/>
            <a:ext cx="11094415" cy="9525"/>
          </a:xfrm>
          <a:prstGeom prst="rect">
            <a:avLst/>
          </a:prstGeom>
          <a:solidFill>
            <a:srgbClr val="D0D7DE"/>
          </a:solidFill>
          <a:ln>
            <a:noFill/>
          </a:ln>
          <a:effectLst/>
        </p:spPr>
        <p:txBody>
          <a:bodyPr rtlCol="0" anchor="ctr"/>
          <a:lstStyle/>
          <a:p>
            <a:pPr algn="ctr"/>
          </a:p>
        </p:txBody>
      </p:sp>
      <p:graphicFrame>
        <p:nvGraphicFramePr>
          <p:cNvPr id="6" name="Table 5"/>
          <p:cNvGraphicFramePr>
            <a:graphicFrameLocks noGrp="1"/>
          </p:cNvGraphicFramePr>
          <p:nvPr/>
        </p:nvGraphicFramePr>
        <p:xfrm>
          <a:off x="548640" y="1472184"/>
          <a:ext cx="11094411" cy="3358133"/>
        </p:xfrm>
        <a:graphic>
          <a:graphicData uri="http://schemas.openxmlformats.org/drawingml/2006/table">
            <a:tbl>
              <a:tblPr firstRow="1" bandRow="1">
                <a:tableStyleId>{5C22544A-7EE6-4342-B048-85BDC9FD1C3A}</a:tableStyleId>
              </a:tblPr>
              <a:tblGrid>
                <a:gridCol w="1415103"/>
                <a:gridCol w="679249"/>
                <a:gridCol w="5207582"/>
                <a:gridCol w="566041"/>
                <a:gridCol w="452833"/>
                <a:gridCol w="792458"/>
                <a:gridCol w="849062"/>
                <a:gridCol w="1132083"/>
              </a:tblGrid>
              <a:tr h="249173">
                <a:tc>
                  <a:txBody>
                    <a:bodyPr wrap="square"/>
                    <a:lstStyle/>
                    <a:p>
                      <a:r>
                        <a:rPr sz="900" b="1">
                          <a:solidFill>
                            <a:srgbClr val="1F2328"/>
                          </a:solidFill>
                          <a:latin typeface="Arial"/>
                        </a:rPr>
                        <a:t>Claim</a:t>
                      </a:r>
                    </a:p>
                  </a:txBody>
                  <a:tcPr marL="45720" marR="45720" marT="18288" marB="18288">
                    <a:solidFill>
                      <a:srgbClr val="EEF1F4"/>
                    </a:solidFill>
                  </a:tcPr>
                </a:tc>
                <a:tc>
                  <a:txBody>
                    <a:bodyPr wrap="square"/>
                    <a:lstStyle/>
                    <a:p>
                      <a:r>
                        <a:rPr sz="900" b="1">
                          <a:solidFill>
                            <a:srgbClr val="1F2328"/>
                          </a:solidFill>
                          <a:latin typeface="Arial"/>
                        </a:rPr>
                        <a:t>Slides</a:t>
                      </a:r>
                    </a:p>
                  </a:txBody>
                  <a:tcPr marL="45720" marR="45720" marT="18288" marB="18288">
                    <a:solidFill>
                      <a:srgbClr val="EEF1F4"/>
                    </a:solidFill>
                  </a:tcPr>
                </a:tc>
                <a:tc>
                  <a:txBody>
                    <a:bodyPr wrap="square"/>
                    <a:lstStyle/>
                    <a:p>
                      <a:r>
                        <a:rPr sz="900" b="1">
                          <a:solidFill>
                            <a:srgbClr val="1F2328"/>
                          </a:solidFill>
                          <a:latin typeface="Arial"/>
                        </a:rPr>
                        <a:t>Claim text</a:t>
                      </a:r>
                    </a:p>
                  </a:txBody>
                  <a:tcPr marL="45720" marR="45720" marT="18288" marB="18288">
                    <a:solidFill>
                      <a:srgbClr val="EEF1F4"/>
                    </a:solidFill>
                  </a:tcPr>
                </a:tc>
                <a:tc>
                  <a:txBody>
                    <a:bodyPr wrap="square"/>
                    <a:lstStyle/>
                    <a:p>
                      <a:r>
                        <a:rPr sz="900" b="1">
                          <a:solidFill>
                            <a:srgbClr val="1F2328"/>
                          </a:solidFill>
                          <a:latin typeface="Arial"/>
                        </a:rPr>
                        <a:t>Page</a:t>
                      </a:r>
                    </a:p>
                  </a:txBody>
                  <a:tcPr marL="45720" marR="45720" marT="18288" marB="18288">
                    <a:solidFill>
                      <a:srgbClr val="EEF1F4"/>
                    </a:solidFill>
                  </a:tcPr>
                </a:tc>
                <a:tc>
                  <a:txBody>
                    <a:bodyPr wrap="square"/>
                    <a:lstStyle/>
                    <a:p>
                      <a:r>
                        <a:rPr sz="900" b="1">
                          <a:solidFill>
                            <a:srgbClr val="1F2328"/>
                          </a:solidFill>
                          <a:latin typeface="Arial"/>
                        </a:rPr>
                        <a:t>Tier</a:t>
                      </a:r>
                    </a:p>
                  </a:txBody>
                  <a:tcPr marL="45720" marR="45720" marT="18288" marB="18288">
                    <a:solidFill>
                      <a:srgbClr val="EEF1F4"/>
                    </a:solidFill>
                  </a:tcPr>
                </a:tc>
                <a:tc>
                  <a:txBody>
                    <a:bodyPr wrap="square"/>
                    <a:lstStyle/>
                    <a:p>
                      <a:r>
                        <a:rPr sz="900" b="1">
                          <a:solidFill>
                            <a:srgbClr val="1F2328"/>
                          </a:solidFill>
                          <a:latin typeface="Arial"/>
                        </a:rPr>
                        <a:t>Label</a:t>
                      </a:r>
                    </a:p>
                  </a:txBody>
                  <a:tcPr marL="45720" marR="45720" marT="18288" marB="18288">
                    <a:solidFill>
                      <a:srgbClr val="EEF1F4"/>
                    </a:solidFill>
                  </a:tcPr>
                </a:tc>
                <a:tc>
                  <a:txBody>
                    <a:bodyPr wrap="square"/>
                    <a:lstStyle/>
                    <a:p>
                      <a:r>
                        <a:rPr sz="900" b="1">
                          <a:solidFill>
                            <a:srgbClr val="1F2328"/>
                          </a:solidFill>
                          <a:latin typeface="Arial"/>
                        </a:rPr>
                        <a:t>Hash</a:t>
                      </a:r>
                    </a:p>
                  </a:txBody>
                  <a:tcPr marL="45720" marR="45720" marT="18288" marB="18288">
                    <a:solidFill>
                      <a:srgbClr val="EEF1F4"/>
                    </a:solidFill>
                  </a:tcPr>
                </a:tc>
                <a:tc>
                  <a:txBody>
                    <a:bodyPr wrap="square"/>
                    <a:lstStyle/>
                    <a:p>
                      <a:r>
                        <a:rPr sz="900" b="1">
                          <a:solidFill>
                            <a:srgbClr val="1F2328"/>
                          </a:solidFill>
                          <a:latin typeface="Arial"/>
                        </a:rPr>
                        <a:t>State</a:t>
                      </a:r>
                    </a:p>
                  </a:txBody>
                  <a:tcPr marL="45720" marR="45720" marT="18288" marB="18288">
                    <a:solidFill>
                      <a:srgbClr val="EEF1F4"/>
                    </a:solidFill>
                  </a:tcPr>
                </a:tc>
              </a:tr>
              <a:tr h="388620">
                <a:tc>
                  <a:txBody>
                    <a:bodyPr wrap="square"/>
                    <a:lstStyle/>
                    <a:p>
                      <a:r>
                        <a:rPr sz="900" b="0">
                          <a:solidFill>
                            <a:srgbClr val="1F2328"/>
                          </a:solidFill>
                          <a:latin typeface="Arial"/>
                        </a:rPr>
                        <a:t>deploy.6</a:t>
                      </a:r>
                    </a:p>
                  </a:txBody>
                  <a:tcPr marL="45720" marR="45720" marT="18288" marB="18288">
                    <a:solidFill>
                      <a:srgbClr val="FFFFFF"/>
                    </a:solidFill>
                  </a:tcPr>
                </a:tc>
                <a:tc>
                  <a:txBody>
                    <a:bodyPr wrap="square"/>
                    <a:lstStyle/>
                    <a:p>
                      <a:r>
                        <a:rPr sz="900" b="0">
                          <a:solidFill>
                            <a:srgbClr val="1F2328"/>
                          </a:solidFill>
                          <a:latin typeface="Arial"/>
                        </a:rPr>
                        <a:t>S04</a:t>
                      </a:r>
                    </a:p>
                  </a:txBody>
                  <a:tcPr marL="45720" marR="45720" marT="18288" marB="18288">
                    <a:solidFill>
                      <a:srgbClr val="FFFFFF"/>
                    </a:solidFill>
                  </a:tcPr>
                </a:tc>
                <a:tc>
                  <a:txBody>
                    <a:bodyPr wrap="square"/>
                    <a:lstStyle/>
                    <a:p>
                      <a:r>
                        <a:rPr sz="900" b="0">
                          <a:solidFill>
                            <a:srgbClr val="1F2328"/>
                          </a:solidFill>
                          <a:latin typeface="Arial"/>
                        </a:rPr>
                        <a:t>As AI accelerates transformation across the insurance industry, we have developed an Optical Character Reco…</a:t>
                      </a:r>
                    </a:p>
                  </a:txBody>
                  <a:tcPr marL="45720" marR="45720" marT="18288" marB="18288">
                    <a:solidFill>
                      <a:srgbClr val="FFFFFF"/>
                    </a:solidFill>
                  </a:tcPr>
                </a:tc>
                <a:tc>
                  <a:txBody>
                    <a:bodyPr wrap="square"/>
                    <a:lstStyle/>
                    <a:p>
                      <a:r>
                        <a:rPr sz="900" b="0">
                          <a:solidFill>
                            <a:srgbClr val="1F2328"/>
                          </a:solidFill>
                          <a:latin typeface="Arial"/>
                        </a:rPr>
                        <a:t>p. 43</a:t>
                      </a:r>
                    </a:p>
                  </a:txBody>
                  <a:tcPr marL="45720" marR="45720" marT="18288" marB="18288">
                    <a:solidFill>
                      <a:srgbClr val="FFFFFF"/>
                    </a:solidFill>
                  </a:tcPr>
                </a:tc>
                <a:tc>
                  <a:txBody>
                    <a:bodyPr wrap="square"/>
                    <a:lstStyle/>
                    <a:p>
                      <a:r>
                        <a:rPr sz="900" b="0">
                          <a:solidFill>
                            <a:srgbClr val="1F2328"/>
                          </a:solidFill>
                          <a:latin typeface="Arial"/>
                        </a:rPr>
                        <a:t>T2</a:t>
                      </a:r>
                    </a:p>
                  </a:txBody>
                  <a:tcPr marL="45720" marR="45720" marT="18288" marB="18288">
                    <a:solidFill>
                      <a:srgbClr val="FFFFFF"/>
                    </a:solidFill>
                  </a:tcPr>
                </a:tc>
                <a:tc>
                  <a:txBody>
                    <a:bodyPr wrap="square"/>
                    <a:lstStyle/>
                    <a:p>
                      <a:r>
                        <a:rPr sz="900" b="0">
                          <a:solidFill>
                            <a:srgbClr val="1F2328"/>
                          </a:solidFill>
                          <a:latin typeface="Arial"/>
                        </a:rPr>
                        <a:t>filed</a:t>
                      </a:r>
                    </a:p>
                  </a:txBody>
                  <a:tcPr marL="45720" marR="45720" marT="18288" marB="18288">
                    <a:solidFill>
                      <a:srgbClr val="FFFFFF"/>
                    </a:solidFill>
                  </a:tcPr>
                </a:tc>
                <a:tc>
                  <a:txBody>
                    <a:bodyPr wrap="square"/>
                    <a:lstStyle/>
                    <a:p>
                      <a:r>
                        <a:rPr sz="900" b="0">
                          <a:solidFill>
                            <a:srgbClr val="1F2328"/>
                          </a:solidFill>
                          <a:latin typeface="Arial"/>
                        </a:rPr>
                        <a:t>ae320cb3</a:t>
                      </a:r>
                    </a:p>
                  </a:txBody>
                  <a:tcPr marL="45720" marR="45720" marT="18288" marB="18288">
                    <a:solidFill>
                      <a:srgbClr val="FFFFFF"/>
                    </a:solidFill>
                  </a:tcPr>
                </a:tc>
                <a:tc>
                  <a:txBody>
                    <a:bodyPr wrap="square"/>
                    <a:lstStyle/>
                    <a:p>
                      <a:r>
                        <a:rPr sz="900" b="0">
                          <a:solidFill>
                            <a:srgbClr val="1F2328"/>
                          </a:solidFill>
                          <a:latin typeface="Arial"/>
                        </a:rPr>
                        <a:t>RELEASED (attached)</a:t>
                      </a:r>
                    </a:p>
                  </a:txBody>
                  <a:tcPr marL="45720" marR="45720" marT="18288" marB="18288">
                    <a:solidFill>
                      <a:srgbClr val="FFFFFF"/>
                    </a:solidFill>
                  </a:tcPr>
                </a:tc>
              </a:tr>
              <a:tr h="388620">
                <a:tc>
                  <a:txBody>
                    <a:bodyPr wrap="square"/>
                    <a:lstStyle/>
                    <a:p>
                      <a:r>
                        <a:rPr sz="900" b="0">
                          <a:solidFill>
                            <a:srgbClr val="1F2328"/>
                          </a:solidFill>
                          <a:latin typeface="Arial"/>
                        </a:rPr>
                        <a:t>deploy.7</a:t>
                      </a:r>
                    </a:p>
                  </a:txBody>
                  <a:tcPr marL="45720" marR="45720" marT="18288" marB="18288">
                    <a:solidFill>
                      <a:srgbClr val="FFFFFF"/>
                    </a:solidFill>
                  </a:tcPr>
                </a:tc>
                <a:tc>
                  <a:txBody>
                    <a:bodyPr wrap="square"/>
                    <a:lstStyle/>
                    <a:p>
                      <a:r>
                        <a:rPr sz="900" b="0">
                          <a:solidFill>
                            <a:srgbClr val="1F2328"/>
                          </a:solidFill>
                          <a:latin typeface="Arial"/>
                        </a:rPr>
                        <a:t>S04</a:t>
                      </a:r>
                    </a:p>
                  </a:txBody>
                  <a:tcPr marL="45720" marR="45720" marT="18288" marB="18288">
                    <a:solidFill>
                      <a:srgbClr val="FFFFFF"/>
                    </a:solidFill>
                  </a:tcPr>
                </a:tc>
                <a:tc>
                  <a:txBody>
                    <a:bodyPr wrap="square"/>
                    <a:lstStyle/>
                    <a:p>
                      <a:r>
                        <a:rPr sz="900" b="0">
                          <a:solidFill>
                            <a:srgbClr val="1F2328"/>
                          </a:solidFill>
                          <a:latin typeface="Arial"/>
                        </a:rPr>
                        <a:t>We have also developed an AI-driven model to help identify potential misconduct cases, significantly reduci…</a:t>
                      </a:r>
                    </a:p>
                  </a:txBody>
                  <a:tcPr marL="45720" marR="45720" marT="18288" marB="18288">
                    <a:solidFill>
                      <a:srgbClr val="FFFFFF"/>
                    </a:solidFill>
                  </a:tcPr>
                </a:tc>
                <a:tc>
                  <a:txBody>
                    <a:bodyPr wrap="square"/>
                    <a:lstStyle/>
                    <a:p>
                      <a:r>
                        <a:rPr sz="900" b="0">
                          <a:solidFill>
                            <a:srgbClr val="1F2328"/>
                          </a:solidFill>
                          <a:latin typeface="Arial"/>
                        </a:rPr>
                        <a:t>p. 43</a:t>
                      </a:r>
                    </a:p>
                  </a:txBody>
                  <a:tcPr marL="45720" marR="45720" marT="18288" marB="18288">
                    <a:solidFill>
                      <a:srgbClr val="FFFFFF"/>
                    </a:solidFill>
                  </a:tcPr>
                </a:tc>
                <a:tc>
                  <a:txBody>
                    <a:bodyPr wrap="square"/>
                    <a:lstStyle/>
                    <a:p>
                      <a:r>
                        <a:rPr sz="900" b="0">
                          <a:solidFill>
                            <a:srgbClr val="1F2328"/>
                          </a:solidFill>
                          <a:latin typeface="Arial"/>
                        </a:rPr>
                        <a:t>T2</a:t>
                      </a:r>
                    </a:p>
                  </a:txBody>
                  <a:tcPr marL="45720" marR="45720" marT="18288" marB="18288">
                    <a:solidFill>
                      <a:srgbClr val="FFFFFF"/>
                    </a:solidFill>
                  </a:tcPr>
                </a:tc>
                <a:tc>
                  <a:txBody>
                    <a:bodyPr wrap="square"/>
                    <a:lstStyle/>
                    <a:p>
                      <a:r>
                        <a:rPr sz="900" b="0">
                          <a:solidFill>
                            <a:srgbClr val="1F2328"/>
                          </a:solidFill>
                          <a:latin typeface="Arial"/>
                        </a:rPr>
                        <a:t>filed</a:t>
                      </a:r>
                    </a:p>
                  </a:txBody>
                  <a:tcPr marL="45720" marR="45720" marT="18288" marB="18288">
                    <a:solidFill>
                      <a:srgbClr val="FFFFFF"/>
                    </a:solidFill>
                  </a:tcPr>
                </a:tc>
                <a:tc>
                  <a:txBody>
                    <a:bodyPr wrap="square"/>
                    <a:lstStyle/>
                    <a:p>
                      <a:r>
                        <a:rPr sz="900" b="0">
                          <a:solidFill>
                            <a:srgbClr val="1F2328"/>
                          </a:solidFill>
                          <a:latin typeface="Arial"/>
                        </a:rPr>
                        <a:t>ae320cb3</a:t>
                      </a:r>
                    </a:p>
                  </a:txBody>
                  <a:tcPr marL="45720" marR="45720" marT="18288" marB="18288">
                    <a:solidFill>
                      <a:srgbClr val="FFFFFF"/>
                    </a:solidFill>
                  </a:tcPr>
                </a:tc>
                <a:tc>
                  <a:txBody>
                    <a:bodyPr wrap="square"/>
                    <a:lstStyle/>
                    <a:p>
                      <a:r>
                        <a:rPr sz="900" b="0">
                          <a:solidFill>
                            <a:srgbClr val="1F2328"/>
                          </a:solidFill>
                          <a:latin typeface="Arial"/>
                        </a:rPr>
                        <a:t>RELEASED (attached)</a:t>
                      </a:r>
                    </a:p>
                  </a:txBody>
                  <a:tcPr marL="45720" marR="45720" marT="18288" marB="18288">
                    <a:solidFill>
                      <a:srgbClr val="FFFFFF"/>
                    </a:solidFill>
                  </a:tcPr>
                </a:tc>
              </a:tr>
              <a:tr h="388620">
                <a:tc>
                  <a:txBody>
                    <a:bodyPr wrap="square"/>
                    <a:lstStyle/>
                    <a:p>
                      <a:r>
                        <a:rPr sz="900" b="0">
                          <a:solidFill>
                            <a:srgbClr val="1F2328"/>
                          </a:solidFill>
                          <a:latin typeface="Arial"/>
                        </a:rPr>
                        <a:t>deploy.6.context1</a:t>
                      </a:r>
                    </a:p>
                  </a:txBody>
                  <a:tcPr marL="45720" marR="45720" marT="18288" marB="18288">
                    <a:solidFill>
                      <a:srgbClr val="FFFFFF"/>
                    </a:solidFill>
                  </a:tcPr>
                </a:tc>
                <a:tc>
                  <a:txBody>
                    <a:bodyPr wrap="square"/>
                    <a:lstStyle/>
                    <a:p>
                      <a:r>
                        <a:rPr sz="900" b="0">
                          <a:solidFill>
                            <a:srgbClr val="1F2328"/>
                          </a:solidFill>
                          <a:latin typeface="Arial"/>
                        </a:rPr>
                        <a:t>S04</a:t>
                      </a:r>
                    </a:p>
                  </a:txBody>
                  <a:tcPr marL="45720" marR="45720" marT="18288" marB="18288">
                    <a:solidFill>
                      <a:srgbClr val="FFFFFF"/>
                    </a:solidFill>
                  </a:tcPr>
                </a:tc>
                <a:tc>
                  <a:txBody>
                    <a:bodyPr wrap="square"/>
                    <a:lstStyle/>
                    <a:p>
                      <a:r>
                        <a:rPr sz="900" b="0">
                          <a:solidFill>
                            <a:srgbClr val="1F2328"/>
                          </a:solidFill>
                          <a:latin typeface="Arial"/>
                        </a:rPr>
                        <a:t>This capability has significantly strengthened our claims oversight and operational efficiency.</a:t>
                      </a:r>
                    </a:p>
                  </a:txBody>
                  <a:tcPr marL="45720" marR="45720" marT="18288" marB="18288">
                    <a:solidFill>
                      <a:srgbClr val="FFFFFF"/>
                    </a:solidFill>
                  </a:tcPr>
                </a:tc>
                <a:tc>
                  <a:txBody>
                    <a:bodyPr wrap="square"/>
                    <a:lstStyle/>
                    <a:p>
                      <a:r>
                        <a:rPr sz="900" b="0">
                          <a:solidFill>
                            <a:srgbClr val="1F2328"/>
                          </a:solidFill>
                          <a:latin typeface="Arial"/>
                        </a:rPr>
                        <a:t>p. 43</a:t>
                      </a:r>
                    </a:p>
                  </a:txBody>
                  <a:tcPr marL="45720" marR="45720" marT="18288" marB="18288">
                    <a:solidFill>
                      <a:srgbClr val="FFFFFF"/>
                    </a:solidFill>
                  </a:tcPr>
                </a:tc>
                <a:tc>
                  <a:txBody>
                    <a:bodyPr wrap="square"/>
                    <a:lstStyle/>
                    <a:p>
                      <a:r>
                        <a:rPr sz="900" b="0">
                          <a:solidFill>
                            <a:srgbClr val="1F2328"/>
                          </a:solidFill>
                          <a:latin typeface="Arial"/>
                        </a:rPr>
                        <a:t>T2</a:t>
                      </a:r>
                    </a:p>
                  </a:txBody>
                  <a:tcPr marL="45720" marR="45720" marT="18288" marB="18288">
                    <a:solidFill>
                      <a:srgbClr val="FFFFFF"/>
                    </a:solidFill>
                  </a:tcPr>
                </a:tc>
                <a:tc>
                  <a:txBody>
                    <a:bodyPr wrap="square"/>
                    <a:lstStyle/>
                    <a:p>
                      <a:r>
                        <a:rPr sz="900" b="0">
                          <a:solidFill>
                            <a:srgbClr val="1F2328"/>
                          </a:solidFill>
                          <a:latin typeface="Arial"/>
                        </a:rPr>
                        <a:t>filed</a:t>
                      </a:r>
                    </a:p>
                  </a:txBody>
                  <a:tcPr marL="45720" marR="45720" marT="18288" marB="18288">
                    <a:solidFill>
                      <a:srgbClr val="FFFFFF"/>
                    </a:solidFill>
                  </a:tcPr>
                </a:tc>
                <a:tc>
                  <a:txBody>
                    <a:bodyPr wrap="square"/>
                    <a:lstStyle/>
                    <a:p>
                      <a:r>
                        <a:rPr sz="900" b="0">
                          <a:solidFill>
                            <a:srgbClr val="1F2328"/>
                          </a:solidFill>
                          <a:latin typeface="Arial"/>
                        </a:rPr>
                        <a:t>ae320cb3</a:t>
                      </a:r>
                    </a:p>
                  </a:txBody>
                  <a:tcPr marL="45720" marR="45720" marT="18288" marB="18288">
                    <a:solidFill>
                      <a:srgbClr val="FFFFFF"/>
                    </a:solidFill>
                  </a:tcPr>
                </a:tc>
                <a:tc>
                  <a:txBody>
                    <a:bodyPr wrap="square"/>
                    <a:lstStyle/>
                    <a:p>
                      <a:r>
                        <a:rPr sz="900" b="0">
                          <a:solidFill>
                            <a:srgbClr val="1F2328"/>
                          </a:solidFill>
                          <a:latin typeface="Arial"/>
                        </a:rPr>
                        <a:t>RELEASED (attached)</a:t>
                      </a:r>
                    </a:p>
                  </a:txBody>
                  <a:tcPr marL="45720" marR="45720" marT="18288" marB="18288">
                    <a:solidFill>
                      <a:srgbClr val="FFFFFF"/>
                    </a:solidFill>
                  </a:tcPr>
                </a:tc>
              </a:tr>
              <a:tr h="388620">
                <a:tc>
                  <a:txBody>
                    <a:bodyPr wrap="square"/>
                    <a:lstStyle/>
                    <a:p>
                      <a:r>
                        <a:rPr sz="900" b="0">
                          <a:solidFill>
                            <a:srgbClr val="1F2328"/>
                          </a:solidFill>
                          <a:latin typeface="Arial"/>
                        </a:rPr>
                        <a:t>deploy.6.context2</a:t>
                      </a:r>
                    </a:p>
                  </a:txBody>
                  <a:tcPr marL="45720" marR="45720" marT="18288" marB="18288">
                    <a:solidFill>
                      <a:srgbClr val="FFFFFF"/>
                    </a:solidFill>
                  </a:tcPr>
                </a:tc>
                <a:tc>
                  <a:txBody>
                    <a:bodyPr wrap="square"/>
                    <a:lstStyle/>
                    <a:p>
                      <a:r>
                        <a:rPr sz="900" b="0">
                          <a:solidFill>
                            <a:srgbClr val="1F2328"/>
                          </a:solidFill>
                          <a:latin typeface="Arial"/>
                        </a:rPr>
                        <a:t>S04</a:t>
                      </a:r>
                    </a:p>
                  </a:txBody>
                  <a:tcPr marL="45720" marR="45720" marT="18288" marB="18288">
                    <a:solidFill>
                      <a:srgbClr val="FFFFFF"/>
                    </a:solidFill>
                  </a:tcPr>
                </a:tc>
                <a:tc>
                  <a:txBody>
                    <a:bodyPr wrap="square"/>
                    <a:lstStyle/>
                    <a:p>
                      <a:r>
                        <a:rPr sz="900" b="0">
                          <a:solidFill>
                            <a:srgbClr val="1F2328"/>
                          </a:solidFill>
                          <a:latin typeface="Arial"/>
                        </a:rPr>
                        <a:t>The initiative was awarded the Best Claims Initiative in Malaysia at the Insurance Asia Awards 2025.</a:t>
                      </a:r>
                    </a:p>
                  </a:txBody>
                  <a:tcPr marL="45720" marR="45720" marT="18288" marB="18288">
                    <a:solidFill>
                      <a:srgbClr val="FFFFFF"/>
                    </a:solidFill>
                  </a:tcPr>
                </a:tc>
                <a:tc>
                  <a:txBody>
                    <a:bodyPr wrap="square"/>
                    <a:lstStyle/>
                    <a:p>
                      <a:r>
                        <a:rPr sz="900" b="0">
                          <a:solidFill>
                            <a:srgbClr val="1F2328"/>
                          </a:solidFill>
                          <a:latin typeface="Arial"/>
                        </a:rPr>
                        <a:t>p. 43</a:t>
                      </a:r>
                    </a:p>
                  </a:txBody>
                  <a:tcPr marL="45720" marR="45720" marT="18288" marB="18288">
                    <a:solidFill>
                      <a:srgbClr val="FFFFFF"/>
                    </a:solidFill>
                  </a:tcPr>
                </a:tc>
                <a:tc>
                  <a:txBody>
                    <a:bodyPr wrap="square"/>
                    <a:lstStyle/>
                    <a:p>
                      <a:r>
                        <a:rPr sz="900" b="0">
                          <a:solidFill>
                            <a:srgbClr val="1F2328"/>
                          </a:solidFill>
                          <a:latin typeface="Arial"/>
                        </a:rPr>
                        <a:t>T2</a:t>
                      </a:r>
                    </a:p>
                  </a:txBody>
                  <a:tcPr marL="45720" marR="45720" marT="18288" marB="18288">
                    <a:solidFill>
                      <a:srgbClr val="FFFFFF"/>
                    </a:solidFill>
                  </a:tcPr>
                </a:tc>
                <a:tc>
                  <a:txBody>
                    <a:bodyPr wrap="square"/>
                    <a:lstStyle/>
                    <a:p>
                      <a:r>
                        <a:rPr sz="900" b="0">
                          <a:solidFill>
                            <a:srgbClr val="1F2328"/>
                          </a:solidFill>
                          <a:latin typeface="Arial"/>
                        </a:rPr>
                        <a:t>filed</a:t>
                      </a:r>
                    </a:p>
                  </a:txBody>
                  <a:tcPr marL="45720" marR="45720" marT="18288" marB="18288">
                    <a:solidFill>
                      <a:srgbClr val="FFFFFF"/>
                    </a:solidFill>
                  </a:tcPr>
                </a:tc>
                <a:tc>
                  <a:txBody>
                    <a:bodyPr wrap="square"/>
                    <a:lstStyle/>
                    <a:p>
                      <a:r>
                        <a:rPr sz="900" b="0">
                          <a:solidFill>
                            <a:srgbClr val="1F2328"/>
                          </a:solidFill>
                          <a:latin typeface="Arial"/>
                        </a:rPr>
                        <a:t>ae320cb3</a:t>
                      </a:r>
                    </a:p>
                  </a:txBody>
                  <a:tcPr marL="45720" marR="45720" marT="18288" marB="18288">
                    <a:solidFill>
                      <a:srgbClr val="FFFFFF"/>
                    </a:solidFill>
                  </a:tcPr>
                </a:tc>
                <a:tc>
                  <a:txBody>
                    <a:bodyPr wrap="square"/>
                    <a:lstStyle/>
                    <a:p>
                      <a:r>
                        <a:rPr sz="900" b="0">
                          <a:solidFill>
                            <a:srgbClr val="1F2328"/>
                          </a:solidFill>
                          <a:latin typeface="Arial"/>
                        </a:rPr>
                        <a:t>RELEASED (attached)</a:t>
                      </a:r>
                    </a:p>
                  </a:txBody>
                  <a:tcPr marL="45720" marR="45720" marT="18288" marB="18288">
                    <a:solidFill>
                      <a:srgbClr val="FFFFFF"/>
                    </a:solidFill>
                  </a:tcPr>
                </a:tc>
              </a:tr>
              <a:tr h="388620">
                <a:tc>
                  <a:txBody>
                    <a:bodyPr wrap="square"/>
                    <a:lstStyle/>
                    <a:p>
                      <a:r>
                        <a:rPr sz="900" b="0">
                          <a:solidFill>
                            <a:srgbClr val="1F2328"/>
                          </a:solidFill>
                          <a:latin typeface="Arial"/>
                        </a:rPr>
                        <a:t>opmodel.1</a:t>
                      </a:r>
                    </a:p>
                  </a:txBody>
                  <a:tcPr marL="45720" marR="45720" marT="18288" marB="18288">
                    <a:solidFill>
                      <a:srgbClr val="FFFFFF"/>
                    </a:solidFill>
                  </a:tcPr>
                </a:tc>
                <a:tc>
                  <a:txBody>
                    <a:bodyPr wrap="square"/>
                    <a:lstStyle/>
                    <a:p>
                      <a:r>
                        <a:rPr sz="900" b="0">
                          <a:solidFill>
                            <a:srgbClr val="1F2328"/>
                          </a:solidFill>
                          <a:latin typeface="Arial"/>
                        </a:rPr>
                        <a:t>S05, S08</a:t>
                      </a:r>
                    </a:p>
                  </a:txBody>
                  <a:tcPr marL="45720" marR="45720" marT="18288" marB="18288">
                    <a:solidFill>
                      <a:srgbClr val="FFFFFF"/>
                    </a:solidFill>
                  </a:tcPr>
                </a:tc>
                <a:tc>
                  <a:txBody>
                    <a:bodyPr wrap="square"/>
                    <a:lstStyle/>
                    <a:p>
                      <a:r>
                        <a:rPr sz="900" b="0">
                          <a:solidFill>
                            <a:srgbClr val="1F2328"/>
                          </a:solidFill>
                          <a:latin typeface="Arial"/>
                        </a:rPr>
                        <a:t>In 2025, we restructured our Data &amp; AI operating model to accelerate transformation.</a:t>
                      </a:r>
                    </a:p>
                  </a:txBody>
                  <a:tcPr marL="45720" marR="45720" marT="18288" marB="18288">
                    <a:solidFill>
                      <a:srgbClr val="FFFFFF"/>
                    </a:solidFill>
                  </a:tcPr>
                </a:tc>
                <a:tc>
                  <a:txBody>
                    <a:bodyPr wrap="square"/>
                    <a:lstStyle/>
                    <a:p>
                      <a:r>
                        <a:rPr sz="900" b="0">
                          <a:solidFill>
                            <a:srgbClr val="1F2328"/>
                          </a:solidFill>
                          <a:latin typeface="Arial"/>
                        </a:rPr>
                        <a:t>p. 41</a:t>
                      </a:r>
                    </a:p>
                  </a:txBody>
                  <a:tcPr marL="45720" marR="45720" marT="18288" marB="18288">
                    <a:solidFill>
                      <a:srgbClr val="FFFFFF"/>
                    </a:solidFill>
                  </a:tcPr>
                </a:tc>
                <a:tc>
                  <a:txBody>
                    <a:bodyPr wrap="square"/>
                    <a:lstStyle/>
                    <a:p>
                      <a:r>
                        <a:rPr sz="900" b="0">
                          <a:solidFill>
                            <a:srgbClr val="1F2328"/>
                          </a:solidFill>
                          <a:latin typeface="Arial"/>
                        </a:rPr>
                        <a:t>T2</a:t>
                      </a:r>
                    </a:p>
                  </a:txBody>
                  <a:tcPr marL="45720" marR="45720" marT="18288" marB="18288">
                    <a:solidFill>
                      <a:srgbClr val="FFFFFF"/>
                    </a:solidFill>
                  </a:tcPr>
                </a:tc>
                <a:tc>
                  <a:txBody>
                    <a:bodyPr wrap="square"/>
                    <a:lstStyle/>
                    <a:p>
                      <a:r>
                        <a:rPr sz="900" b="0">
                          <a:solidFill>
                            <a:srgbClr val="1F2328"/>
                          </a:solidFill>
                          <a:latin typeface="Arial"/>
                        </a:rPr>
                        <a:t>filed</a:t>
                      </a:r>
                    </a:p>
                  </a:txBody>
                  <a:tcPr marL="45720" marR="45720" marT="18288" marB="18288">
                    <a:solidFill>
                      <a:srgbClr val="FFFFFF"/>
                    </a:solidFill>
                  </a:tcPr>
                </a:tc>
                <a:tc>
                  <a:txBody>
                    <a:bodyPr wrap="square"/>
                    <a:lstStyle/>
                    <a:p>
                      <a:r>
                        <a:rPr sz="900" b="0">
                          <a:solidFill>
                            <a:srgbClr val="1F2328"/>
                          </a:solidFill>
                          <a:latin typeface="Arial"/>
                        </a:rPr>
                        <a:t>ae320cb3</a:t>
                      </a:r>
                    </a:p>
                  </a:txBody>
                  <a:tcPr marL="45720" marR="45720" marT="18288" marB="18288">
                    <a:solidFill>
                      <a:srgbClr val="FFFFFF"/>
                    </a:solidFill>
                  </a:tcPr>
                </a:tc>
                <a:tc>
                  <a:txBody>
                    <a:bodyPr wrap="square"/>
                    <a:lstStyle/>
                    <a:p>
                      <a:r>
                        <a:rPr sz="900" b="0">
                          <a:solidFill>
                            <a:srgbClr val="1F2328"/>
                          </a:solidFill>
                          <a:latin typeface="Arial"/>
                        </a:rPr>
                        <a:t>RELEASED (attached)</a:t>
                      </a:r>
                    </a:p>
                  </a:txBody>
                  <a:tcPr marL="45720" marR="45720" marT="18288" marB="18288">
                    <a:solidFill>
                      <a:srgbClr val="FFFFFF"/>
                    </a:solidFill>
                  </a:tcPr>
                </a:tc>
              </a:tr>
              <a:tr h="388620">
                <a:tc>
                  <a:txBody>
                    <a:bodyPr wrap="square"/>
                    <a:lstStyle/>
                    <a:p>
                      <a:r>
                        <a:rPr sz="900" b="0">
                          <a:solidFill>
                            <a:srgbClr val="1F2328"/>
                          </a:solidFill>
                          <a:latin typeface="Arial"/>
                        </a:rPr>
                        <a:t>opmodel.2</a:t>
                      </a:r>
                    </a:p>
                  </a:txBody>
                  <a:tcPr marL="45720" marR="45720" marT="18288" marB="18288">
                    <a:solidFill>
                      <a:srgbClr val="FFFFFF"/>
                    </a:solidFill>
                  </a:tcPr>
                </a:tc>
                <a:tc>
                  <a:txBody>
                    <a:bodyPr wrap="square"/>
                    <a:lstStyle/>
                    <a:p>
                      <a:r>
                        <a:rPr sz="900" b="0">
                          <a:solidFill>
                            <a:srgbClr val="1F2328"/>
                          </a:solidFill>
                          <a:latin typeface="Arial"/>
                        </a:rPr>
                        <a:t>S05</a:t>
                      </a:r>
                    </a:p>
                  </a:txBody>
                  <a:tcPr marL="45720" marR="45720" marT="18288" marB="18288">
                    <a:solidFill>
                      <a:srgbClr val="FFFFFF"/>
                    </a:solidFill>
                  </a:tcPr>
                </a:tc>
                <a:tc>
                  <a:txBody>
                    <a:bodyPr wrap="square"/>
                    <a:lstStyle/>
                    <a:p>
                      <a:r>
                        <a:rPr sz="900" b="0">
                          <a:solidFill>
                            <a:srgbClr val="1F2328"/>
                          </a:solidFill>
                          <a:latin typeface="Arial"/>
                        </a:rPr>
                        <a:t>A new Group Integrated Propositions and Platforms Division, which unified the Group Marketing, Group Custom…</a:t>
                      </a:r>
                    </a:p>
                  </a:txBody>
                  <a:tcPr marL="45720" marR="45720" marT="18288" marB="18288">
                    <a:solidFill>
                      <a:srgbClr val="FFFFFF"/>
                    </a:solidFill>
                  </a:tcPr>
                </a:tc>
                <a:tc>
                  <a:txBody>
                    <a:bodyPr wrap="square"/>
                    <a:lstStyle/>
                    <a:p>
                      <a:r>
                        <a:rPr sz="900" b="0">
                          <a:solidFill>
                            <a:srgbClr val="1F2328"/>
                          </a:solidFill>
                          <a:latin typeface="Arial"/>
                        </a:rPr>
                        <a:t>p. 67</a:t>
                      </a:r>
                    </a:p>
                  </a:txBody>
                  <a:tcPr marL="45720" marR="45720" marT="18288" marB="18288">
                    <a:solidFill>
                      <a:srgbClr val="FFFFFF"/>
                    </a:solidFill>
                  </a:tcPr>
                </a:tc>
                <a:tc>
                  <a:txBody>
                    <a:bodyPr wrap="square"/>
                    <a:lstStyle/>
                    <a:p>
                      <a:r>
                        <a:rPr sz="900" b="0">
                          <a:solidFill>
                            <a:srgbClr val="1F2328"/>
                          </a:solidFill>
                          <a:latin typeface="Arial"/>
                        </a:rPr>
                        <a:t>T2</a:t>
                      </a:r>
                    </a:p>
                  </a:txBody>
                  <a:tcPr marL="45720" marR="45720" marT="18288" marB="18288">
                    <a:solidFill>
                      <a:srgbClr val="FFFFFF"/>
                    </a:solidFill>
                  </a:tcPr>
                </a:tc>
                <a:tc>
                  <a:txBody>
                    <a:bodyPr wrap="square"/>
                    <a:lstStyle/>
                    <a:p>
                      <a:r>
                        <a:rPr sz="900" b="0">
                          <a:solidFill>
                            <a:srgbClr val="1F2328"/>
                          </a:solidFill>
                          <a:latin typeface="Arial"/>
                        </a:rPr>
                        <a:t>filed</a:t>
                      </a:r>
                    </a:p>
                  </a:txBody>
                  <a:tcPr marL="45720" marR="45720" marT="18288" marB="18288">
                    <a:solidFill>
                      <a:srgbClr val="FFFFFF"/>
                    </a:solidFill>
                  </a:tcPr>
                </a:tc>
                <a:tc>
                  <a:txBody>
                    <a:bodyPr wrap="square"/>
                    <a:lstStyle/>
                    <a:p>
                      <a:r>
                        <a:rPr sz="900" b="0">
                          <a:solidFill>
                            <a:srgbClr val="1F2328"/>
                          </a:solidFill>
                          <a:latin typeface="Arial"/>
                        </a:rPr>
                        <a:t>ae320cb3</a:t>
                      </a:r>
                    </a:p>
                  </a:txBody>
                  <a:tcPr marL="45720" marR="45720" marT="18288" marB="18288">
                    <a:solidFill>
                      <a:srgbClr val="FFFFFF"/>
                    </a:solidFill>
                  </a:tcPr>
                </a:tc>
                <a:tc>
                  <a:txBody>
                    <a:bodyPr wrap="square"/>
                    <a:lstStyle/>
                    <a:p>
                      <a:r>
                        <a:rPr sz="900" b="0">
                          <a:solidFill>
                            <a:srgbClr val="1F2328"/>
                          </a:solidFill>
                          <a:latin typeface="Arial"/>
                        </a:rPr>
                        <a:t>RELEASED (attached)</a:t>
                      </a:r>
                    </a:p>
                  </a:txBody>
                  <a:tcPr marL="45720" marR="45720" marT="18288" marB="18288">
                    <a:solidFill>
                      <a:srgbClr val="FFFFFF"/>
                    </a:solidFill>
                  </a:tcPr>
                </a:tc>
              </a:tr>
              <a:tr h="388620">
                <a:tc>
                  <a:txBody>
                    <a:bodyPr wrap="square"/>
                    <a:lstStyle/>
                    <a:p>
                      <a:r>
                        <a:rPr sz="900" b="0">
                          <a:solidFill>
                            <a:srgbClr val="1F2328"/>
                          </a:solidFill>
                          <a:latin typeface="Arial"/>
                        </a:rPr>
                        <a:t>leadership.1</a:t>
                      </a:r>
                    </a:p>
                  </a:txBody>
                  <a:tcPr marL="45720" marR="45720" marT="18288" marB="18288">
                    <a:solidFill>
                      <a:srgbClr val="FFFFFF"/>
                    </a:solidFill>
                  </a:tcPr>
                </a:tc>
                <a:tc>
                  <a:txBody>
                    <a:bodyPr wrap="square"/>
                    <a:lstStyle/>
                    <a:p>
                      <a:r>
                        <a:rPr sz="900" b="0">
                          <a:solidFill>
                            <a:srgbClr val="1F2328"/>
                          </a:solidFill>
                          <a:latin typeface="Arial"/>
                        </a:rPr>
                        <a:t>S03, S05, S08</a:t>
                      </a:r>
                    </a:p>
                  </a:txBody>
                  <a:tcPr marL="45720" marR="45720" marT="18288" marB="18288">
                    <a:solidFill>
                      <a:srgbClr val="FFFFFF"/>
                    </a:solidFill>
                  </a:tcPr>
                </a:tc>
                <a:tc>
                  <a:txBody>
                    <a:bodyPr wrap="square"/>
                    <a:lstStyle/>
                    <a:p>
                      <a:r>
                        <a:rPr sz="900" b="0">
                          <a:solidFill>
                            <a:srgbClr val="1F2328"/>
                          </a:solidFill>
                          <a:latin typeface="Arial"/>
                        </a:rPr>
                        <a:t>Ms Zhao Jingyuan (Managing Director, Group Data and Artificial Intelligence) is expected to join Oversea-Ch…</a:t>
                      </a:r>
                    </a:p>
                  </a:txBody>
                  <a:tcPr marL="45720" marR="45720" marT="18288" marB="18288">
                    <a:solidFill>
                      <a:srgbClr val="FFFFFF"/>
                    </a:solidFill>
                  </a:tcPr>
                </a:tc>
                <a:tc>
                  <a:txBody>
                    <a:bodyPr wrap="square"/>
                    <a:lstStyle/>
                    <a:p>
                      <a:r>
                        <a:rPr sz="900" b="0">
                          <a:solidFill>
                            <a:srgbClr val="1F2328"/>
                          </a:solidFill>
                          <a:latin typeface="Arial"/>
                        </a:rPr>
                        <a:t>p. 67</a:t>
                      </a:r>
                    </a:p>
                  </a:txBody>
                  <a:tcPr marL="45720" marR="45720" marT="18288" marB="18288">
                    <a:solidFill>
                      <a:srgbClr val="FFFFFF"/>
                    </a:solidFill>
                  </a:tcPr>
                </a:tc>
                <a:tc>
                  <a:txBody>
                    <a:bodyPr wrap="square"/>
                    <a:lstStyle/>
                    <a:p>
                      <a:r>
                        <a:rPr sz="900" b="0">
                          <a:solidFill>
                            <a:srgbClr val="1F2328"/>
                          </a:solidFill>
                          <a:latin typeface="Arial"/>
                        </a:rPr>
                        <a:t>T2</a:t>
                      </a:r>
                    </a:p>
                  </a:txBody>
                  <a:tcPr marL="45720" marR="45720" marT="18288" marB="18288">
                    <a:solidFill>
                      <a:srgbClr val="FFFFFF"/>
                    </a:solidFill>
                  </a:tcPr>
                </a:tc>
                <a:tc>
                  <a:txBody>
                    <a:bodyPr wrap="square"/>
                    <a:lstStyle/>
                    <a:p>
                      <a:r>
                        <a:rPr sz="900" b="0">
                          <a:solidFill>
                            <a:srgbClr val="1F2328"/>
                          </a:solidFill>
                          <a:latin typeface="Arial"/>
                        </a:rPr>
                        <a:t>filed</a:t>
                      </a:r>
                    </a:p>
                  </a:txBody>
                  <a:tcPr marL="45720" marR="45720" marT="18288" marB="18288">
                    <a:solidFill>
                      <a:srgbClr val="FFFFFF"/>
                    </a:solidFill>
                  </a:tcPr>
                </a:tc>
                <a:tc>
                  <a:txBody>
                    <a:bodyPr wrap="square"/>
                    <a:lstStyle/>
                    <a:p>
                      <a:r>
                        <a:rPr sz="900" b="0">
                          <a:solidFill>
                            <a:srgbClr val="1F2328"/>
                          </a:solidFill>
                          <a:latin typeface="Arial"/>
                        </a:rPr>
                        <a:t>ae320cb3</a:t>
                      </a:r>
                    </a:p>
                  </a:txBody>
                  <a:tcPr marL="45720" marR="45720" marT="18288" marB="18288">
                    <a:solidFill>
                      <a:srgbClr val="FFFFFF"/>
                    </a:solidFill>
                  </a:tcPr>
                </a:tc>
                <a:tc>
                  <a:txBody>
                    <a:bodyPr wrap="square"/>
                    <a:lstStyle/>
                    <a:p>
                      <a:r>
                        <a:rPr sz="900" b="0">
                          <a:solidFill>
                            <a:srgbClr val="1F2328"/>
                          </a:solidFill>
                          <a:latin typeface="Arial"/>
                        </a:rPr>
                        <a:t>RELEASED (attached)</a:t>
                      </a:r>
                    </a:p>
                  </a:txBody>
                  <a:tcPr marL="45720" marR="45720" marT="18288" marB="18288">
                    <a:solidFill>
                      <a:srgbClr val="FFFFFF"/>
                    </a:solidFill>
                  </a:tcPr>
                </a:tc>
              </a:tr>
              <a:tr h="388620">
                <a:tc>
                  <a:txBody>
                    <a:bodyPr wrap="square"/>
                    <a:lstStyle/>
                    <a:p>
                      <a:r>
                        <a:rPr sz="900" b="0">
                          <a:solidFill>
                            <a:srgbClr val="1F2328"/>
                          </a:solidFill>
                          <a:latin typeface="Arial"/>
                        </a:rPr>
                        <a:t>leadership.2</a:t>
                      </a:r>
                    </a:p>
                  </a:txBody>
                  <a:tcPr marL="45720" marR="45720" marT="18288" marB="18288">
                    <a:solidFill>
                      <a:srgbClr val="FFFFFF"/>
                    </a:solidFill>
                  </a:tcPr>
                </a:tc>
                <a:tc>
                  <a:txBody>
                    <a:bodyPr wrap="square"/>
                    <a:lstStyle/>
                    <a:p>
                      <a:r>
                        <a:rPr sz="900" b="0">
                          <a:solidFill>
                            <a:srgbClr val="1F2328"/>
                          </a:solidFill>
                          <a:latin typeface="Arial"/>
                        </a:rPr>
                        <a:t>S05</a:t>
                      </a:r>
                    </a:p>
                  </a:txBody>
                  <a:tcPr marL="45720" marR="45720" marT="18288" marB="18288">
                    <a:solidFill>
                      <a:srgbClr val="FFFFFF"/>
                    </a:solidFill>
                  </a:tcPr>
                </a:tc>
                <a:tc>
                  <a:txBody>
                    <a:bodyPr wrap="square"/>
                    <a:lstStyle/>
                    <a:p>
                      <a:r>
                        <a:rPr sz="900" b="0">
                          <a:solidFill>
                            <a:srgbClr val="1F2328"/>
                          </a:solidFill>
                          <a:latin typeface="Arial"/>
                        </a:rPr>
                        <a:t>Mr Colin Chan (Managing Director, Group Marketing), Mr Ryan Cheong (Managing Director, Group Customer and D…</a:t>
                      </a:r>
                    </a:p>
                  </a:txBody>
                  <a:tcPr marL="45720" marR="45720" marT="18288" marB="18288">
                    <a:solidFill>
                      <a:srgbClr val="FFFFFF"/>
                    </a:solidFill>
                  </a:tcPr>
                </a:tc>
                <a:tc>
                  <a:txBody>
                    <a:bodyPr wrap="square"/>
                    <a:lstStyle/>
                    <a:p>
                      <a:r>
                        <a:rPr sz="900" b="0">
                          <a:solidFill>
                            <a:srgbClr val="1F2328"/>
                          </a:solidFill>
                          <a:latin typeface="Arial"/>
                        </a:rPr>
                        <a:t>p. 67</a:t>
                      </a:r>
                    </a:p>
                  </a:txBody>
                  <a:tcPr marL="45720" marR="45720" marT="18288" marB="18288">
                    <a:solidFill>
                      <a:srgbClr val="FFFFFF"/>
                    </a:solidFill>
                  </a:tcPr>
                </a:tc>
                <a:tc>
                  <a:txBody>
                    <a:bodyPr wrap="square"/>
                    <a:lstStyle/>
                    <a:p>
                      <a:r>
                        <a:rPr sz="900" b="0">
                          <a:solidFill>
                            <a:srgbClr val="1F2328"/>
                          </a:solidFill>
                          <a:latin typeface="Arial"/>
                        </a:rPr>
                        <a:t>T2</a:t>
                      </a:r>
                    </a:p>
                  </a:txBody>
                  <a:tcPr marL="45720" marR="45720" marT="18288" marB="18288">
                    <a:solidFill>
                      <a:srgbClr val="FFFFFF"/>
                    </a:solidFill>
                  </a:tcPr>
                </a:tc>
                <a:tc>
                  <a:txBody>
                    <a:bodyPr wrap="square"/>
                    <a:lstStyle/>
                    <a:p>
                      <a:r>
                        <a:rPr sz="900" b="0">
                          <a:solidFill>
                            <a:srgbClr val="1F2328"/>
                          </a:solidFill>
                          <a:latin typeface="Arial"/>
                        </a:rPr>
                        <a:t>filed</a:t>
                      </a:r>
                    </a:p>
                  </a:txBody>
                  <a:tcPr marL="45720" marR="45720" marT="18288" marB="18288">
                    <a:solidFill>
                      <a:srgbClr val="FFFFFF"/>
                    </a:solidFill>
                  </a:tcPr>
                </a:tc>
                <a:tc>
                  <a:txBody>
                    <a:bodyPr wrap="square"/>
                    <a:lstStyle/>
                    <a:p>
                      <a:r>
                        <a:rPr sz="900" b="0">
                          <a:solidFill>
                            <a:srgbClr val="1F2328"/>
                          </a:solidFill>
                          <a:latin typeface="Arial"/>
                        </a:rPr>
                        <a:t>ae320cb3</a:t>
                      </a:r>
                    </a:p>
                  </a:txBody>
                  <a:tcPr marL="45720" marR="45720" marT="18288" marB="18288">
                    <a:solidFill>
                      <a:srgbClr val="FFFFFF"/>
                    </a:solidFill>
                  </a:tcPr>
                </a:tc>
                <a:tc>
                  <a:txBody>
                    <a:bodyPr wrap="square"/>
                    <a:lstStyle/>
                    <a:p>
                      <a:r>
                        <a:rPr sz="900" b="0">
                          <a:solidFill>
                            <a:srgbClr val="1F2328"/>
                          </a:solidFill>
                          <a:latin typeface="Arial"/>
                        </a:rPr>
                        <a:t>RELEASED (attached)</a:t>
                      </a:r>
                    </a:p>
                  </a:txBody>
                  <a:tcPr marL="45720" marR="45720" marT="18288" marB="18288">
                    <a:solidFill>
                      <a:srgbClr val="FFFFFF"/>
                    </a:solidFill>
                  </a:tcPr>
                </a:tc>
              </a:tr>
            </a:tbl>
          </a:graphicData>
        </a:graphic>
      </p:graphicFrame>
      <p:sp>
        <p:nvSpPr>
          <p:cNvPr id="7" name="plumbdeck-source"/>
          <p:cNvSpPr txBox="1"/>
          <p:nvPr/>
        </p:nvSpPr>
        <p:spPr>
          <a:xfrm>
            <a:off x="548640" y="5943600"/>
            <a:ext cx="11094415" cy="347472"/>
          </a:xfrm>
          <a:prstGeom prst="rect">
            <a:avLst/>
          </a:prstGeom>
          <a:noFill/>
        </p:spPr>
        <p:txBody>
          <a:bodyPr wrap="square" lIns="45720" rIns="45720" tIns="27432" bIns="27432" anchor="t">
            <a:spAutoFit/>
          </a:bodyPr>
          <a:lstStyle/>
          <a:p>
            <a:r>
              <a:rPr sz="900" b="0" i="0">
                <a:solidFill>
                  <a:srgbClr val="57606A"/>
                </a:solidFill>
                <a:latin typeface="Arial"/>
              </a:rPr>
              <a:t>Source: T2 Great Eastern Holdings Limited annual report FY2025 pp. 8, 14, 18, 31, 40, 41, 43, 67, 73, 80, 229 (attached; publisher hash unreconciled), 2026-10-25; confidence: filed</a:t>
            </a:r>
          </a:p>
        </p:txBody>
      </p:sp>
      <p:sp>
        <p:nvSpPr>
          <p:cNvPr id="8" name="Rectangle 7"/>
          <p:cNvSpPr/>
          <p:nvPr/>
        </p:nvSpPr>
        <p:spPr>
          <a:xfrm>
            <a:off x="548640" y="6322885"/>
            <a:ext cx="11094415" cy="9525"/>
          </a:xfrm>
          <a:prstGeom prst="rect">
            <a:avLst/>
          </a:prstGeom>
          <a:solidFill>
            <a:srgbClr val="D0D7DE"/>
          </a:solidFill>
          <a:ln>
            <a:noFill/>
          </a:ln>
          <a:effectLst/>
        </p:spPr>
        <p:txBody>
          <a:bodyPr rtlCol="0" anchor="ctr"/>
          <a:lstStyle/>
          <a:p>
            <a:pPr algn="ctr"/>
          </a:p>
        </p:txBody>
      </p:sp>
      <p:sp>
        <p:nvSpPr>
          <p:cNvPr id="9" name="plumbdeck-footer"/>
          <p:cNvSpPr txBox="1"/>
          <p:nvPr/>
        </p:nvSpPr>
        <p:spPr>
          <a:xfrm>
            <a:off x="548640" y="6373368"/>
            <a:ext cx="10362895" cy="365760"/>
          </a:xfrm>
          <a:prstGeom prst="rect">
            <a:avLst/>
          </a:prstGeom>
          <a:noFill/>
        </p:spPr>
        <p:txBody>
          <a:bodyPr wrap="square" lIns="45720" rIns="45720" tIns="27432" bIns="27432" anchor="t">
            <a:spAutoFit/>
          </a:bodyPr>
          <a:lstStyle/>
          <a:p>
            <a:r>
              <a:rPr sz="800" b="0" i="0">
                <a:solidFill>
                  <a:srgbClr val="57606A"/>
                </a:solidFill>
                <a:latin typeface="Arial"/>
              </a:rPr>
              <a:t>DRAFT — not for board use. Deliverable PLUMB-PR-great-eastern-research-e0bc54685dce v0.1.</a:t>
            </a:r>
          </a:p>
        </p:txBody>
      </p:sp>
      <p:sp>
        <p:nvSpPr>
          <p:cNvPr id="10" name="TextBox 9"/>
          <p:cNvSpPr txBox="1"/>
          <p:nvPr/>
        </p:nvSpPr>
        <p:spPr>
          <a:xfrm>
            <a:off x="11002975" y="6373368"/>
            <a:ext cx="640080" cy="274320"/>
          </a:xfrm>
          <a:prstGeom prst="rect">
            <a:avLst/>
          </a:prstGeom>
          <a:noFill/>
        </p:spPr>
        <p:txBody>
          <a:bodyPr wrap="square" lIns="45720" rIns="45720" tIns="27432" bIns="27432" anchor="t">
            <a:spAutoFit/>
          </a:bodyPr>
          <a:lstStyle/>
          <a:p>
            <a:pPr algn="r"/>
            <a:r>
              <a:rPr sz="800" b="0" i="0">
                <a:solidFill>
                  <a:srgbClr val="57606A"/>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plumbdeck-banner"/>
          <p:cNvSpPr txBox="1"/>
          <p:nvPr/>
        </p:nvSpPr>
        <p:spPr>
          <a:xfrm>
            <a:off x="0" y="0"/>
            <a:ext cx="12191695" cy="384048"/>
          </a:xfrm>
          <a:prstGeom prst="rect">
            <a:avLst/>
          </a:prstGeom>
          <a:solidFill>
            <a:srgbClr val="B42318"/>
          </a:solidFill>
        </p:spPr>
        <p:txBody>
          <a:bodyPr wrap="square" lIns="45720" rIns="45720" tIns="27432" bIns="27432" anchor="ctr">
            <a:spAutoFit/>
          </a:bodyPr>
          <a:lstStyle/>
          <a:p>
            <a:pPr algn="ctr"/>
            <a:r>
              <a:rPr sz="1100" b="1" i="0">
                <a:solidFill>
                  <a:srgbClr val="FFFFFF"/>
                </a:solidFill>
                <a:latin typeface="Arial"/>
              </a:rPr>
              <a:t>DRAFT — not for board use (internal profile; 1 attachment unreconciled; resolution 0.1429; no QA gate 3 sign-off)</a:t>
            </a:r>
          </a:p>
        </p:txBody>
      </p:sp>
      <p:sp>
        <p:nvSpPr>
          <p:cNvPr id="3" name="plumbdeck-section"/>
          <p:cNvSpPr txBox="1"/>
          <p:nvPr/>
        </p:nvSpPr>
        <p:spPr>
          <a:xfrm>
            <a:off x="548640" y="502920"/>
            <a:ext cx="11094415" cy="274320"/>
          </a:xfrm>
          <a:prstGeom prst="rect">
            <a:avLst/>
          </a:prstGeom>
          <a:noFill/>
        </p:spPr>
        <p:txBody>
          <a:bodyPr wrap="square" lIns="45720" rIns="45720" tIns="27432" bIns="27432" anchor="t">
            <a:spAutoFit/>
          </a:bodyPr>
          <a:lstStyle/>
          <a:p>
            <a:r>
              <a:rPr sz="1000" b="0" i="0">
                <a:solidFill>
                  <a:srgbClr val="57606A"/>
                </a:solidFill>
                <a:latin typeface="Arial"/>
              </a:rPr>
              <a:t>A1 · Appendix — evidence log  (4/4)</a:t>
            </a:r>
          </a:p>
        </p:txBody>
      </p:sp>
      <p:sp>
        <p:nvSpPr>
          <p:cNvPr id="4" name="plumbdeck-title"/>
          <p:cNvSpPr txBox="1"/>
          <p:nvPr/>
        </p:nvSpPr>
        <p:spPr>
          <a:xfrm>
            <a:off x="548640" y="822960"/>
            <a:ext cx="11094415" cy="466344"/>
          </a:xfrm>
          <a:prstGeom prst="rect">
            <a:avLst/>
          </a:prstGeom>
          <a:noFill/>
        </p:spPr>
        <p:txBody>
          <a:bodyPr wrap="square" lIns="45720" rIns="45720" tIns="27432" bIns="27432" anchor="t">
            <a:spAutoFit/>
          </a:bodyPr>
          <a:lstStyle/>
          <a:p>
            <a:r>
              <a:rPr sz="2000" b="1" i="0">
                <a:solidFill>
                  <a:srgbClr val="1F2328"/>
                </a:solidFill>
                <a:latin typeface="Arial"/>
              </a:rPr>
              <a:t>Every released claim traces to a stored source passage, page and hash</a:t>
            </a:r>
          </a:p>
        </p:txBody>
      </p:sp>
      <p:sp>
        <p:nvSpPr>
          <p:cNvPr id="5" name="Rectangle 4"/>
          <p:cNvSpPr/>
          <p:nvPr/>
        </p:nvSpPr>
        <p:spPr>
          <a:xfrm>
            <a:off x="548640" y="1330261"/>
            <a:ext cx="11094415" cy="9525"/>
          </a:xfrm>
          <a:prstGeom prst="rect">
            <a:avLst/>
          </a:prstGeom>
          <a:solidFill>
            <a:srgbClr val="D0D7DE"/>
          </a:solidFill>
          <a:ln>
            <a:noFill/>
          </a:ln>
          <a:effectLst/>
        </p:spPr>
        <p:txBody>
          <a:bodyPr rtlCol="0" anchor="ctr"/>
          <a:lstStyle/>
          <a:p>
            <a:pPr algn="ctr"/>
          </a:p>
        </p:txBody>
      </p:sp>
      <p:graphicFrame>
        <p:nvGraphicFramePr>
          <p:cNvPr id="6" name="Table 5"/>
          <p:cNvGraphicFramePr>
            <a:graphicFrameLocks noGrp="1"/>
          </p:cNvGraphicFramePr>
          <p:nvPr/>
        </p:nvGraphicFramePr>
        <p:xfrm>
          <a:off x="548640" y="1472184"/>
          <a:ext cx="11094411" cy="2192273"/>
        </p:xfrm>
        <a:graphic>
          <a:graphicData uri="http://schemas.openxmlformats.org/drawingml/2006/table">
            <a:tbl>
              <a:tblPr firstRow="1" bandRow="1">
                <a:tableStyleId>{5C22544A-7EE6-4342-B048-85BDC9FD1C3A}</a:tableStyleId>
              </a:tblPr>
              <a:tblGrid>
                <a:gridCol w="1415103"/>
                <a:gridCol w="679249"/>
                <a:gridCol w="5207582"/>
                <a:gridCol w="566041"/>
                <a:gridCol w="452833"/>
                <a:gridCol w="792458"/>
                <a:gridCol w="849062"/>
                <a:gridCol w="1132083"/>
              </a:tblGrid>
              <a:tr h="249173">
                <a:tc>
                  <a:txBody>
                    <a:bodyPr wrap="square"/>
                    <a:lstStyle/>
                    <a:p>
                      <a:r>
                        <a:rPr sz="900" b="1">
                          <a:solidFill>
                            <a:srgbClr val="1F2328"/>
                          </a:solidFill>
                          <a:latin typeface="Arial"/>
                        </a:rPr>
                        <a:t>Claim</a:t>
                      </a:r>
                    </a:p>
                  </a:txBody>
                  <a:tcPr marL="45720" marR="45720" marT="18288" marB="18288">
                    <a:solidFill>
                      <a:srgbClr val="EEF1F4"/>
                    </a:solidFill>
                  </a:tcPr>
                </a:tc>
                <a:tc>
                  <a:txBody>
                    <a:bodyPr wrap="square"/>
                    <a:lstStyle/>
                    <a:p>
                      <a:r>
                        <a:rPr sz="900" b="1">
                          <a:solidFill>
                            <a:srgbClr val="1F2328"/>
                          </a:solidFill>
                          <a:latin typeface="Arial"/>
                        </a:rPr>
                        <a:t>Slides</a:t>
                      </a:r>
                    </a:p>
                  </a:txBody>
                  <a:tcPr marL="45720" marR="45720" marT="18288" marB="18288">
                    <a:solidFill>
                      <a:srgbClr val="EEF1F4"/>
                    </a:solidFill>
                  </a:tcPr>
                </a:tc>
                <a:tc>
                  <a:txBody>
                    <a:bodyPr wrap="square"/>
                    <a:lstStyle/>
                    <a:p>
                      <a:r>
                        <a:rPr sz="900" b="1">
                          <a:solidFill>
                            <a:srgbClr val="1F2328"/>
                          </a:solidFill>
                          <a:latin typeface="Arial"/>
                        </a:rPr>
                        <a:t>Claim text</a:t>
                      </a:r>
                    </a:p>
                  </a:txBody>
                  <a:tcPr marL="45720" marR="45720" marT="18288" marB="18288">
                    <a:solidFill>
                      <a:srgbClr val="EEF1F4"/>
                    </a:solidFill>
                  </a:tcPr>
                </a:tc>
                <a:tc>
                  <a:txBody>
                    <a:bodyPr wrap="square"/>
                    <a:lstStyle/>
                    <a:p>
                      <a:r>
                        <a:rPr sz="900" b="1">
                          <a:solidFill>
                            <a:srgbClr val="1F2328"/>
                          </a:solidFill>
                          <a:latin typeface="Arial"/>
                        </a:rPr>
                        <a:t>Page</a:t>
                      </a:r>
                    </a:p>
                  </a:txBody>
                  <a:tcPr marL="45720" marR="45720" marT="18288" marB="18288">
                    <a:solidFill>
                      <a:srgbClr val="EEF1F4"/>
                    </a:solidFill>
                  </a:tcPr>
                </a:tc>
                <a:tc>
                  <a:txBody>
                    <a:bodyPr wrap="square"/>
                    <a:lstStyle/>
                    <a:p>
                      <a:r>
                        <a:rPr sz="900" b="1">
                          <a:solidFill>
                            <a:srgbClr val="1F2328"/>
                          </a:solidFill>
                          <a:latin typeface="Arial"/>
                        </a:rPr>
                        <a:t>Tier</a:t>
                      </a:r>
                    </a:p>
                  </a:txBody>
                  <a:tcPr marL="45720" marR="45720" marT="18288" marB="18288">
                    <a:solidFill>
                      <a:srgbClr val="EEF1F4"/>
                    </a:solidFill>
                  </a:tcPr>
                </a:tc>
                <a:tc>
                  <a:txBody>
                    <a:bodyPr wrap="square"/>
                    <a:lstStyle/>
                    <a:p>
                      <a:r>
                        <a:rPr sz="900" b="1">
                          <a:solidFill>
                            <a:srgbClr val="1F2328"/>
                          </a:solidFill>
                          <a:latin typeface="Arial"/>
                        </a:rPr>
                        <a:t>Label</a:t>
                      </a:r>
                    </a:p>
                  </a:txBody>
                  <a:tcPr marL="45720" marR="45720" marT="18288" marB="18288">
                    <a:solidFill>
                      <a:srgbClr val="EEF1F4"/>
                    </a:solidFill>
                  </a:tcPr>
                </a:tc>
                <a:tc>
                  <a:txBody>
                    <a:bodyPr wrap="square"/>
                    <a:lstStyle/>
                    <a:p>
                      <a:r>
                        <a:rPr sz="900" b="1">
                          <a:solidFill>
                            <a:srgbClr val="1F2328"/>
                          </a:solidFill>
                          <a:latin typeface="Arial"/>
                        </a:rPr>
                        <a:t>Hash</a:t>
                      </a:r>
                    </a:p>
                  </a:txBody>
                  <a:tcPr marL="45720" marR="45720" marT="18288" marB="18288">
                    <a:solidFill>
                      <a:srgbClr val="EEF1F4"/>
                    </a:solidFill>
                  </a:tcPr>
                </a:tc>
                <a:tc>
                  <a:txBody>
                    <a:bodyPr wrap="square"/>
                    <a:lstStyle/>
                    <a:p>
                      <a:r>
                        <a:rPr sz="900" b="1">
                          <a:solidFill>
                            <a:srgbClr val="1F2328"/>
                          </a:solidFill>
                          <a:latin typeface="Arial"/>
                        </a:rPr>
                        <a:t>State</a:t>
                      </a:r>
                    </a:p>
                  </a:txBody>
                  <a:tcPr marL="45720" marR="45720" marT="18288" marB="18288">
                    <a:solidFill>
                      <a:srgbClr val="EEF1F4"/>
                    </a:solidFill>
                  </a:tcPr>
                </a:tc>
              </a:tr>
              <a:tr h="388620">
                <a:tc>
                  <a:txBody>
                    <a:bodyPr wrap="square"/>
                    <a:lstStyle/>
                    <a:p>
                      <a:r>
                        <a:rPr sz="900" b="0">
                          <a:solidFill>
                            <a:srgbClr val="1F2328"/>
                          </a:solidFill>
                          <a:latin typeface="Arial"/>
                        </a:rPr>
                        <a:t>leadership.successor</a:t>
                      </a:r>
                    </a:p>
                  </a:txBody>
                  <a:tcPr marL="45720" marR="45720" marT="18288" marB="18288">
                    <a:solidFill>
                      <a:srgbClr val="FFFFFF"/>
                    </a:solidFill>
                  </a:tcPr>
                </a:tc>
                <a:tc>
                  <a:txBody>
                    <a:bodyPr wrap="square"/>
                    <a:lstStyle/>
                    <a:p>
                      <a:r>
                        <a:rPr sz="900" b="0">
                          <a:solidFill>
                            <a:srgbClr val="1F2328"/>
                          </a:solidFill>
                          <a:latin typeface="Arial"/>
                        </a:rPr>
                        <a:t>S03, S05, S08</a:t>
                      </a:r>
                    </a:p>
                  </a:txBody>
                  <a:tcPr marL="45720" marR="45720" marT="18288" marB="18288">
                    <a:solidFill>
                      <a:srgbClr val="FFFFFF"/>
                    </a:solidFill>
                  </a:tcPr>
                </a:tc>
                <a:tc>
                  <a:txBody>
                    <a:bodyPr wrap="square"/>
                    <a:lstStyle/>
                    <a:p>
                      <a:r>
                        <a:rPr sz="900" b="0">
                          <a:solidFill>
                            <a:srgbClr val="1F2328"/>
                          </a:solidFill>
                          <a:latin typeface="Arial"/>
                        </a:rPr>
                        <a:t>The successors to Ms Zhao Jingyuan and Mr Jimmy Tong will be named in due course.</a:t>
                      </a:r>
                    </a:p>
                  </a:txBody>
                  <a:tcPr marL="45720" marR="45720" marT="18288" marB="18288">
                    <a:solidFill>
                      <a:srgbClr val="FFFFFF"/>
                    </a:solidFill>
                  </a:tcPr>
                </a:tc>
                <a:tc>
                  <a:txBody>
                    <a:bodyPr wrap="square"/>
                    <a:lstStyle/>
                    <a:p>
                      <a:r>
                        <a:rPr sz="900" b="0">
                          <a:solidFill>
                            <a:srgbClr val="1F2328"/>
                          </a:solidFill>
                          <a:latin typeface="Arial"/>
                        </a:rPr>
                        <a:t>p. 67</a:t>
                      </a:r>
                    </a:p>
                  </a:txBody>
                  <a:tcPr marL="45720" marR="45720" marT="18288" marB="18288">
                    <a:solidFill>
                      <a:srgbClr val="FFFFFF"/>
                    </a:solidFill>
                  </a:tcPr>
                </a:tc>
                <a:tc>
                  <a:txBody>
                    <a:bodyPr wrap="square"/>
                    <a:lstStyle/>
                    <a:p>
                      <a:r>
                        <a:rPr sz="900" b="0">
                          <a:solidFill>
                            <a:srgbClr val="1F2328"/>
                          </a:solidFill>
                          <a:latin typeface="Arial"/>
                        </a:rPr>
                        <a:t>T2</a:t>
                      </a:r>
                    </a:p>
                  </a:txBody>
                  <a:tcPr marL="45720" marR="45720" marT="18288" marB="18288">
                    <a:solidFill>
                      <a:srgbClr val="FFFFFF"/>
                    </a:solidFill>
                  </a:tcPr>
                </a:tc>
                <a:tc>
                  <a:txBody>
                    <a:bodyPr wrap="square"/>
                    <a:lstStyle/>
                    <a:p>
                      <a:r>
                        <a:rPr sz="900" b="0">
                          <a:solidFill>
                            <a:srgbClr val="1F2328"/>
                          </a:solidFill>
                          <a:latin typeface="Arial"/>
                        </a:rPr>
                        <a:t>filed</a:t>
                      </a:r>
                    </a:p>
                  </a:txBody>
                  <a:tcPr marL="45720" marR="45720" marT="18288" marB="18288">
                    <a:solidFill>
                      <a:srgbClr val="FFFFFF"/>
                    </a:solidFill>
                  </a:tcPr>
                </a:tc>
                <a:tc>
                  <a:txBody>
                    <a:bodyPr wrap="square"/>
                    <a:lstStyle/>
                    <a:p>
                      <a:r>
                        <a:rPr sz="900" b="0">
                          <a:solidFill>
                            <a:srgbClr val="1F2328"/>
                          </a:solidFill>
                          <a:latin typeface="Arial"/>
                        </a:rPr>
                        <a:t>ae320cb3</a:t>
                      </a:r>
                    </a:p>
                  </a:txBody>
                  <a:tcPr marL="45720" marR="45720" marT="18288" marB="18288">
                    <a:solidFill>
                      <a:srgbClr val="FFFFFF"/>
                    </a:solidFill>
                  </a:tcPr>
                </a:tc>
                <a:tc>
                  <a:txBody>
                    <a:bodyPr wrap="square"/>
                    <a:lstStyle/>
                    <a:p>
                      <a:r>
                        <a:rPr sz="900" b="0">
                          <a:solidFill>
                            <a:srgbClr val="1F2328"/>
                          </a:solidFill>
                          <a:latin typeface="Arial"/>
                        </a:rPr>
                        <a:t>RELEASED (attached)</a:t>
                      </a:r>
                    </a:p>
                  </a:txBody>
                  <a:tcPr marL="45720" marR="45720" marT="18288" marB="18288">
                    <a:solidFill>
                      <a:srgbClr val="FFFFFF"/>
                    </a:solidFill>
                  </a:tcPr>
                </a:tc>
              </a:tr>
              <a:tr h="388620">
                <a:tc>
                  <a:txBody>
                    <a:bodyPr wrap="square"/>
                    <a:lstStyle/>
                    <a:p>
                      <a:r>
                        <a:rPr sz="900" b="0">
                          <a:solidFill>
                            <a:srgbClr val="1F2328"/>
                          </a:solidFill>
                          <a:latin typeface="Arial"/>
                        </a:rPr>
                        <a:t>governance.1</a:t>
                      </a:r>
                    </a:p>
                  </a:txBody>
                  <a:tcPr marL="45720" marR="45720" marT="18288" marB="18288">
                    <a:solidFill>
                      <a:srgbClr val="FFFFFF"/>
                    </a:solidFill>
                  </a:tcPr>
                </a:tc>
                <a:tc>
                  <a:txBody>
                    <a:bodyPr wrap="square"/>
                    <a:lstStyle/>
                    <a:p>
                      <a:r>
                        <a:rPr sz="900" b="0">
                          <a:solidFill>
                            <a:srgbClr val="1F2328"/>
                          </a:solidFill>
                          <a:latin typeface="Arial"/>
                        </a:rPr>
                        <a:t>S03, S08</a:t>
                      </a:r>
                    </a:p>
                  </a:txBody>
                  <a:tcPr marL="45720" marR="45720" marT="18288" marB="18288">
                    <a:solidFill>
                      <a:srgbClr val="FFFFFF"/>
                    </a:solidFill>
                  </a:tcPr>
                </a:tc>
                <a:tc>
                  <a:txBody>
                    <a:bodyPr wrap="square"/>
                    <a:lstStyle/>
                    <a:p>
                      <a:r>
                        <a:rPr sz="900" b="0">
                          <a:solidFill>
                            <a:srgbClr val="1F2328"/>
                          </a:solidFill>
                          <a:latin typeface="Arial"/>
                        </a:rPr>
                        <a:t>As we expanded the use of digital and AI capabilities, we did so with discipline and robust governance.</a:t>
                      </a:r>
                    </a:p>
                  </a:txBody>
                  <a:tcPr marL="45720" marR="45720" marT="18288" marB="18288">
                    <a:solidFill>
                      <a:srgbClr val="FFFFFF"/>
                    </a:solidFill>
                  </a:tcPr>
                </a:tc>
                <a:tc>
                  <a:txBody>
                    <a:bodyPr wrap="square"/>
                    <a:lstStyle/>
                    <a:p>
                      <a:r>
                        <a:rPr sz="900" b="0">
                          <a:solidFill>
                            <a:srgbClr val="1F2328"/>
                          </a:solidFill>
                          <a:latin typeface="Arial"/>
                        </a:rPr>
                        <a:t>p. 14</a:t>
                      </a:r>
                    </a:p>
                  </a:txBody>
                  <a:tcPr marL="45720" marR="45720" marT="18288" marB="18288">
                    <a:solidFill>
                      <a:srgbClr val="FFFFFF"/>
                    </a:solidFill>
                  </a:tcPr>
                </a:tc>
                <a:tc>
                  <a:txBody>
                    <a:bodyPr wrap="square"/>
                    <a:lstStyle/>
                    <a:p>
                      <a:r>
                        <a:rPr sz="900" b="0">
                          <a:solidFill>
                            <a:srgbClr val="1F2328"/>
                          </a:solidFill>
                          <a:latin typeface="Arial"/>
                        </a:rPr>
                        <a:t>T2</a:t>
                      </a:r>
                    </a:p>
                  </a:txBody>
                  <a:tcPr marL="45720" marR="45720" marT="18288" marB="18288">
                    <a:solidFill>
                      <a:srgbClr val="FFFFFF"/>
                    </a:solidFill>
                  </a:tcPr>
                </a:tc>
                <a:tc>
                  <a:txBody>
                    <a:bodyPr wrap="square"/>
                    <a:lstStyle/>
                    <a:p>
                      <a:r>
                        <a:rPr sz="900" b="0">
                          <a:solidFill>
                            <a:srgbClr val="1F2328"/>
                          </a:solidFill>
                          <a:latin typeface="Arial"/>
                        </a:rPr>
                        <a:t>filed</a:t>
                      </a:r>
                    </a:p>
                  </a:txBody>
                  <a:tcPr marL="45720" marR="45720" marT="18288" marB="18288">
                    <a:solidFill>
                      <a:srgbClr val="FFFFFF"/>
                    </a:solidFill>
                  </a:tcPr>
                </a:tc>
                <a:tc>
                  <a:txBody>
                    <a:bodyPr wrap="square"/>
                    <a:lstStyle/>
                    <a:p>
                      <a:r>
                        <a:rPr sz="900" b="0">
                          <a:solidFill>
                            <a:srgbClr val="1F2328"/>
                          </a:solidFill>
                          <a:latin typeface="Arial"/>
                        </a:rPr>
                        <a:t>ae320cb3</a:t>
                      </a:r>
                    </a:p>
                  </a:txBody>
                  <a:tcPr marL="45720" marR="45720" marT="18288" marB="18288">
                    <a:solidFill>
                      <a:srgbClr val="FFFFFF"/>
                    </a:solidFill>
                  </a:tcPr>
                </a:tc>
                <a:tc>
                  <a:txBody>
                    <a:bodyPr wrap="square"/>
                    <a:lstStyle/>
                    <a:p>
                      <a:r>
                        <a:rPr sz="900" b="0">
                          <a:solidFill>
                            <a:srgbClr val="1F2328"/>
                          </a:solidFill>
                          <a:latin typeface="Arial"/>
                        </a:rPr>
                        <a:t>RELEASED (attached)</a:t>
                      </a:r>
                    </a:p>
                  </a:txBody>
                  <a:tcPr marL="45720" marR="45720" marT="18288" marB="18288">
                    <a:solidFill>
                      <a:srgbClr val="FFFFFF"/>
                    </a:solidFill>
                  </a:tcPr>
                </a:tc>
              </a:tr>
              <a:tr h="388620">
                <a:tc>
                  <a:txBody>
                    <a:bodyPr wrap="square"/>
                    <a:lstStyle/>
                    <a:p>
                      <a:r>
                        <a:rPr sz="900" b="0">
                          <a:solidFill>
                            <a:srgbClr val="1F2328"/>
                          </a:solidFill>
                          <a:latin typeface="Arial"/>
                        </a:rPr>
                        <a:t>governance.2</a:t>
                      </a:r>
                    </a:p>
                  </a:txBody>
                  <a:tcPr marL="45720" marR="45720" marT="18288" marB="18288">
                    <a:solidFill>
                      <a:srgbClr val="FFFFFF"/>
                    </a:solidFill>
                  </a:tcPr>
                </a:tc>
                <a:tc>
                  <a:txBody>
                    <a:bodyPr wrap="square"/>
                    <a:lstStyle/>
                    <a:p>
                      <a:r>
                        <a:rPr sz="900" b="0">
                          <a:solidFill>
                            <a:srgbClr val="1F2328"/>
                          </a:solidFill>
                          <a:latin typeface="Arial"/>
                        </a:rPr>
                        <a:t>S03, S08</a:t>
                      </a:r>
                    </a:p>
                  </a:txBody>
                  <a:tcPr marL="45720" marR="45720" marT="18288" marB="18288">
                    <a:solidFill>
                      <a:srgbClr val="FFFFFF"/>
                    </a:solidFill>
                  </a:tcPr>
                </a:tc>
                <a:tc>
                  <a:txBody>
                    <a:bodyPr wrap="square"/>
                    <a:lstStyle/>
                    <a:p>
                      <a:r>
                        <a:rPr sz="900" b="0">
                          <a:solidFill>
                            <a:srgbClr val="1F2328"/>
                          </a:solidFill>
                          <a:latin typeface="Arial"/>
                        </a:rPr>
                        <a:t>Complementing these, our proprietary risk management AI solutions strengthen governance by continuously mon…</a:t>
                      </a:r>
                    </a:p>
                  </a:txBody>
                  <a:tcPr marL="45720" marR="45720" marT="18288" marB="18288">
                    <a:solidFill>
                      <a:srgbClr val="FFFFFF"/>
                    </a:solidFill>
                  </a:tcPr>
                </a:tc>
                <a:tc>
                  <a:txBody>
                    <a:bodyPr wrap="square"/>
                    <a:lstStyle/>
                    <a:p>
                      <a:r>
                        <a:rPr sz="900" b="0">
                          <a:solidFill>
                            <a:srgbClr val="1F2328"/>
                          </a:solidFill>
                          <a:latin typeface="Arial"/>
                        </a:rPr>
                        <a:t>p. 40</a:t>
                      </a:r>
                    </a:p>
                  </a:txBody>
                  <a:tcPr marL="45720" marR="45720" marT="18288" marB="18288">
                    <a:solidFill>
                      <a:srgbClr val="FFFFFF"/>
                    </a:solidFill>
                  </a:tcPr>
                </a:tc>
                <a:tc>
                  <a:txBody>
                    <a:bodyPr wrap="square"/>
                    <a:lstStyle/>
                    <a:p>
                      <a:r>
                        <a:rPr sz="900" b="0">
                          <a:solidFill>
                            <a:srgbClr val="1F2328"/>
                          </a:solidFill>
                          <a:latin typeface="Arial"/>
                        </a:rPr>
                        <a:t>T2</a:t>
                      </a:r>
                    </a:p>
                  </a:txBody>
                  <a:tcPr marL="45720" marR="45720" marT="18288" marB="18288">
                    <a:solidFill>
                      <a:srgbClr val="FFFFFF"/>
                    </a:solidFill>
                  </a:tcPr>
                </a:tc>
                <a:tc>
                  <a:txBody>
                    <a:bodyPr wrap="square"/>
                    <a:lstStyle/>
                    <a:p>
                      <a:r>
                        <a:rPr sz="900" b="0">
                          <a:solidFill>
                            <a:srgbClr val="1F2328"/>
                          </a:solidFill>
                          <a:latin typeface="Arial"/>
                        </a:rPr>
                        <a:t>filed</a:t>
                      </a:r>
                    </a:p>
                  </a:txBody>
                  <a:tcPr marL="45720" marR="45720" marT="18288" marB="18288">
                    <a:solidFill>
                      <a:srgbClr val="FFFFFF"/>
                    </a:solidFill>
                  </a:tcPr>
                </a:tc>
                <a:tc>
                  <a:txBody>
                    <a:bodyPr wrap="square"/>
                    <a:lstStyle/>
                    <a:p>
                      <a:r>
                        <a:rPr sz="900" b="0">
                          <a:solidFill>
                            <a:srgbClr val="1F2328"/>
                          </a:solidFill>
                          <a:latin typeface="Arial"/>
                        </a:rPr>
                        <a:t>ae320cb3</a:t>
                      </a:r>
                    </a:p>
                  </a:txBody>
                  <a:tcPr marL="45720" marR="45720" marT="18288" marB="18288">
                    <a:solidFill>
                      <a:srgbClr val="FFFFFF"/>
                    </a:solidFill>
                  </a:tcPr>
                </a:tc>
                <a:tc>
                  <a:txBody>
                    <a:bodyPr wrap="square"/>
                    <a:lstStyle/>
                    <a:p>
                      <a:r>
                        <a:rPr sz="900" b="0">
                          <a:solidFill>
                            <a:srgbClr val="1F2328"/>
                          </a:solidFill>
                          <a:latin typeface="Arial"/>
                        </a:rPr>
                        <a:t>RELEASED (attached)</a:t>
                      </a:r>
                    </a:p>
                  </a:txBody>
                  <a:tcPr marL="45720" marR="45720" marT="18288" marB="18288">
                    <a:solidFill>
                      <a:srgbClr val="FFFFFF"/>
                    </a:solidFill>
                  </a:tcPr>
                </a:tc>
              </a:tr>
              <a:tr h="388620">
                <a:tc>
                  <a:txBody>
                    <a:bodyPr wrap="square"/>
                    <a:lstStyle/>
                    <a:p>
                      <a:r>
                        <a:rPr sz="900" b="0">
                          <a:solidFill>
                            <a:srgbClr val="1F2328"/>
                          </a:solidFill>
                          <a:latin typeface="Arial"/>
                        </a:rPr>
                        <a:t>governance.3</a:t>
                      </a:r>
                    </a:p>
                  </a:txBody>
                  <a:tcPr marL="45720" marR="45720" marT="18288" marB="18288">
                    <a:solidFill>
                      <a:srgbClr val="FFFFFF"/>
                    </a:solidFill>
                  </a:tcPr>
                </a:tc>
                <a:tc>
                  <a:txBody>
                    <a:bodyPr wrap="square"/>
                    <a:lstStyle/>
                    <a:p>
                      <a:r>
                        <a:rPr sz="900" b="0">
                          <a:solidFill>
                            <a:srgbClr val="1F2328"/>
                          </a:solidFill>
                          <a:latin typeface="Arial"/>
                        </a:rPr>
                        <a:t>S08</a:t>
                      </a:r>
                    </a:p>
                  </a:txBody>
                  <a:tcPr marL="45720" marR="45720" marT="18288" marB="18288">
                    <a:solidFill>
                      <a:srgbClr val="FFFFFF"/>
                    </a:solidFill>
                  </a:tcPr>
                </a:tc>
                <a:tc>
                  <a:txBody>
                    <a:bodyPr wrap="square"/>
                    <a:lstStyle/>
                    <a:p>
                      <a:r>
                        <a:rPr sz="900" b="0">
                          <a:solidFill>
                            <a:srgbClr val="1F2328"/>
                          </a:solidFill>
                          <a:latin typeface="Arial"/>
                        </a:rPr>
                        <a:t>Collectively, they provide the necessary business acumen, knowledge, capabilities and core competencies to …</a:t>
                      </a:r>
                    </a:p>
                  </a:txBody>
                  <a:tcPr marL="45720" marR="45720" marT="18288" marB="18288">
                    <a:solidFill>
                      <a:srgbClr val="FFFFFF"/>
                    </a:solidFill>
                  </a:tcPr>
                </a:tc>
                <a:tc>
                  <a:txBody>
                    <a:bodyPr wrap="square"/>
                    <a:lstStyle/>
                    <a:p>
                      <a:r>
                        <a:rPr sz="900" b="0">
                          <a:solidFill>
                            <a:srgbClr val="1F2328"/>
                          </a:solidFill>
                          <a:latin typeface="Arial"/>
                        </a:rPr>
                        <a:t>p. 73</a:t>
                      </a:r>
                    </a:p>
                  </a:txBody>
                  <a:tcPr marL="45720" marR="45720" marT="18288" marB="18288">
                    <a:solidFill>
                      <a:srgbClr val="FFFFFF"/>
                    </a:solidFill>
                  </a:tcPr>
                </a:tc>
                <a:tc>
                  <a:txBody>
                    <a:bodyPr wrap="square"/>
                    <a:lstStyle/>
                    <a:p>
                      <a:r>
                        <a:rPr sz="900" b="0">
                          <a:solidFill>
                            <a:srgbClr val="1F2328"/>
                          </a:solidFill>
                          <a:latin typeface="Arial"/>
                        </a:rPr>
                        <a:t>T2</a:t>
                      </a:r>
                    </a:p>
                  </a:txBody>
                  <a:tcPr marL="45720" marR="45720" marT="18288" marB="18288">
                    <a:solidFill>
                      <a:srgbClr val="FFFFFF"/>
                    </a:solidFill>
                  </a:tcPr>
                </a:tc>
                <a:tc>
                  <a:txBody>
                    <a:bodyPr wrap="square"/>
                    <a:lstStyle/>
                    <a:p>
                      <a:r>
                        <a:rPr sz="900" b="0">
                          <a:solidFill>
                            <a:srgbClr val="1F2328"/>
                          </a:solidFill>
                          <a:latin typeface="Arial"/>
                        </a:rPr>
                        <a:t>filed</a:t>
                      </a:r>
                    </a:p>
                  </a:txBody>
                  <a:tcPr marL="45720" marR="45720" marT="18288" marB="18288">
                    <a:solidFill>
                      <a:srgbClr val="FFFFFF"/>
                    </a:solidFill>
                  </a:tcPr>
                </a:tc>
                <a:tc>
                  <a:txBody>
                    <a:bodyPr wrap="square"/>
                    <a:lstStyle/>
                    <a:p>
                      <a:r>
                        <a:rPr sz="900" b="0">
                          <a:solidFill>
                            <a:srgbClr val="1F2328"/>
                          </a:solidFill>
                          <a:latin typeface="Arial"/>
                        </a:rPr>
                        <a:t>ae320cb3</a:t>
                      </a:r>
                    </a:p>
                  </a:txBody>
                  <a:tcPr marL="45720" marR="45720" marT="18288" marB="18288">
                    <a:solidFill>
                      <a:srgbClr val="FFFFFF"/>
                    </a:solidFill>
                  </a:tcPr>
                </a:tc>
                <a:tc>
                  <a:txBody>
                    <a:bodyPr wrap="square"/>
                    <a:lstStyle/>
                    <a:p>
                      <a:r>
                        <a:rPr sz="900" b="0">
                          <a:solidFill>
                            <a:srgbClr val="1F2328"/>
                          </a:solidFill>
                          <a:latin typeface="Arial"/>
                        </a:rPr>
                        <a:t>RELEASED (attached)</a:t>
                      </a:r>
                    </a:p>
                  </a:txBody>
                  <a:tcPr marL="45720" marR="45720" marT="18288" marB="18288">
                    <a:solidFill>
                      <a:srgbClr val="FFFFFF"/>
                    </a:solidFill>
                  </a:tcPr>
                </a:tc>
              </a:tr>
              <a:tr h="388620">
                <a:tc>
                  <a:txBody>
                    <a:bodyPr wrap="square"/>
                    <a:lstStyle/>
                    <a:p>
                      <a:r>
                        <a:rPr sz="900" b="0">
                          <a:solidFill>
                            <a:srgbClr val="1F2328"/>
                          </a:solidFill>
                          <a:latin typeface="Arial"/>
                        </a:rPr>
                        <a:t>governance.4</a:t>
                      </a:r>
                    </a:p>
                  </a:txBody>
                  <a:tcPr marL="45720" marR="45720" marT="18288" marB="18288">
                    <a:solidFill>
                      <a:srgbClr val="FFFFFF"/>
                    </a:solidFill>
                  </a:tcPr>
                </a:tc>
                <a:tc>
                  <a:txBody>
                    <a:bodyPr wrap="square"/>
                    <a:lstStyle/>
                    <a:p>
                      <a:r>
                        <a:rPr sz="900" b="0">
                          <a:solidFill>
                            <a:srgbClr val="1F2328"/>
                          </a:solidFill>
                          <a:latin typeface="Arial"/>
                        </a:rPr>
                        <a:t>S08</a:t>
                      </a:r>
                    </a:p>
                  </a:txBody>
                  <a:tcPr marL="45720" marR="45720" marT="18288" marB="18288">
                    <a:solidFill>
                      <a:srgbClr val="FFFFFF"/>
                    </a:solidFill>
                  </a:tcPr>
                </a:tc>
                <a:tc>
                  <a:txBody>
                    <a:bodyPr wrap="square"/>
                    <a:lstStyle/>
                    <a:p>
                      <a:r>
                        <a:rPr sz="900" b="0">
                          <a:solidFill>
                            <a:srgbClr val="1F2328"/>
                          </a:solidFill>
                          <a:latin typeface="Arial"/>
                        </a:rPr>
                        <a:t>(4) Dr Chong Yoke Sin and Mr Lee Fook Sun will each receive a fixed amount of $20,000 and $5,699 respective…</a:t>
                      </a:r>
                    </a:p>
                  </a:txBody>
                  <a:tcPr marL="45720" marR="45720" marT="18288" marB="18288">
                    <a:solidFill>
                      <a:srgbClr val="FFFFFF"/>
                    </a:solidFill>
                  </a:tcPr>
                </a:tc>
                <a:tc>
                  <a:txBody>
                    <a:bodyPr wrap="square"/>
                    <a:lstStyle/>
                    <a:p>
                      <a:r>
                        <a:rPr sz="900" b="0">
                          <a:solidFill>
                            <a:srgbClr val="1F2328"/>
                          </a:solidFill>
                          <a:latin typeface="Arial"/>
                        </a:rPr>
                        <a:t>p. 80</a:t>
                      </a:r>
                    </a:p>
                  </a:txBody>
                  <a:tcPr marL="45720" marR="45720" marT="18288" marB="18288">
                    <a:solidFill>
                      <a:srgbClr val="FFFFFF"/>
                    </a:solidFill>
                  </a:tcPr>
                </a:tc>
                <a:tc>
                  <a:txBody>
                    <a:bodyPr wrap="square"/>
                    <a:lstStyle/>
                    <a:p>
                      <a:r>
                        <a:rPr sz="900" b="0">
                          <a:solidFill>
                            <a:srgbClr val="1F2328"/>
                          </a:solidFill>
                          <a:latin typeface="Arial"/>
                        </a:rPr>
                        <a:t>T2</a:t>
                      </a:r>
                    </a:p>
                  </a:txBody>
                  <a:tcPr marL="45720" marR="45720" marT="18288" marB="18288">
                    <a:solidFill>
                      <a:srgbClr val="FFFFFF"/>
                    </a:solidFill>
                  </a:tcPr>
                </a:tc>
                <a:tc>
                  <a:txBody>
                    <a:bodyPr wrap="square"/>
                    <a:lstStyle/>
                    <a:p>
                      <a:r>
                        <a:rPr sz="900" b="0">
                          <a:solidFill>
                            <a:srgbClr val="1F2328"/>
                          </a:solidFill>
                          <a:latin typeface="Arial"/>
                        </a:rPr>
                        <a:t>filed</a:t>
                      </a:r>
                    </a:p>
                  </a:txBody>
                  <a:tcPr marL="45720" marR="45720" marT="18288" marB="18288">
                    <a:solidFill>
                      <a:srgbClr val="FFFFFF"/>
                    </a:solidFill>
                  </a:tcPr>
                </a:tc>
                <a:tc>
                  <a:txBody>
                    <a:bodyPr wrap="square"/>
                    <a:lstStyle/>
                    <a:p>
                      <a:r>
                        <a:rPr sz="900" b="0">
                          <a:solidFill>
                            <a:srgbClr val="1F2328"/>
                          </a:solidFill>
                          <a:latin typeface="Arial"/>
                        </a:rPr>
                        <a:t>ae320cb3</a:t>
                      </a:r>
                    </a:p>
                  </a:txBody>
                  <a:tcPr marL="45720" marR="45720" marT="18288" marB="18288">
                    <a:solidFill>
                      <a:srgbClr val="FFFFFF"/>
                    </a:solidFill>
                  </a:tcPr>
                </a:tc>
                <a:tc>
                  <a:txBody>
                    <a:bodyPr wrap="square"/>
                    <a:lstStyle/>
                    <a:p>
                      <a:r>
                        <a:rPr sz="900" b="0">
                          <a:solidFill>
                            <a:srgbClr val="1F2328"/>
                          </a:solidFill>
                          <a:latin typeface="Arial"/>
                        </a:rPr>
                        <a:t>RELEASED (attached)</a:t>
                      </a:r>
                    </a:p>
                  </a:txBody>
                  <a:tcPr marL="45720" marR="45720" marT="18288" marB="18288">
                    <a:solidFill>
                      <a:srgbClr val="FFFFFF"/>
                    </a:solidFill>
                  </a:tcPr>
                </a:tc>
              </a:tr>
            </a:tbl>
          </a:graphicData>
        </a:graphic>
      </p:graphicFrame>
      <p:sp>
        <p:nvSpPr>
          <p:cNvPr id="7" name="plumbdeck-source"/>
          <p:cNvSpPr txBox="1"/>
          <p:nvPr/>
        </p:nvSpPr>
        <p:spPr>
          <a:xfrm>
            <a:off x="548640" y="5943600"/>
            <a:ext cx="11094415" cy="347472"/>
          </a:xfrm>
          <a:prstGeom prst="rect">
            <a:avLst/>
          </a:prstGeom>
          <a:noFill/>
        </p:spPr>
        <p:txBody>
          <a:bodyPr wrap="square" lIns="45720" rIns="45720" tIns="27432" bIns="27432" anchor="t">
            <a:spAutoFit/>
          </a:bodyPr>
          <a:lstStyle/>
          <a:p>
            <a:r>
              <a:rPr sz="900" b="0" i="0">
                <a:solidFill>
                  <a:srgbClr val="57606A"/>
                </a:solidFill>
                <a:latin typeface="Arial"/>
              </a:rPr>
              <a:t>Source: T2 Great Eastern Holdings Limited annual report FY2025 pp. 8, 14, 18, 31, 40, 41, 43, 67, 73, 80, 229 (attached; publisher hash unreconciled), 2026-10-25; confidence: filed</a:t>
            </a:r>
          </a:p>
        </p:txBody>
      </p:sp>
      <p:sp>
        <p:nvSpPr>
          <p:cNvPr id="8" name="Rectangle 7"/>
          <p:cNvSpPr/>
          <p:nvPr/>
        </p:nvSpPr>
        <p:spPr>
          <a:xfrm>
            <a:off x="548640" y="6322885"/>
            <a:ext cx="11094415" cy="9525"/>
          </a:xfrm>
          <a:prstGeom prst="rect">
            <a:avLst/>
          </a:prstGeom>
          <a:solidFill>
            <a:srgbClr val="D0D7DE"/>
          </a:solidFill>
          <a:ln>
            <a:noFill/>
          </a:ln>
          <a:effectLst/>
        </p:spPr>
        <p:txBody>
          <a:bodyPr rtlCol="0" anchor="ctr"/>
          <a:lstStyle/>
          <a:p>
            <a:pPr algn="ctr"/>
          </a:p>
        </p:txBody>
      </p:sp>
      <p:sp>
        <p:nvSpPr>
          <p:cNvPr id="9" name="plumbdeck-footer"/>
          <p:cNvSpPr txBox="1"/>
          <p:nvPr/>
        </p:nvSpPr>
        <p:spPr>
          <a:xfrm>
            <a:off x="548640" y="6373368"/>
            <a:ext cx="10362895" cy="365760"/>
          </a:xfrm>
          <a:prstGeom prst="rect">
            <a:avLst/>
          </a:prstGeom>
          <a:noFill/>
        </p:spPr>
        <p:txBody>
          <a:bodyPr wrap="square" lIns="45720" rIns="45720" tIns="27432" bIns="27432" anchor="t">
            <a:spAutoFit/>
          </a:bodyPr>
          <a:lstStyle/>
          <a:p>
            <a:r>
              <a:rPr sz="800" b="0" i="0">
                <a:solidFill>
                  <a:srgbClr val="57606A"/>
                </a:solidFill>
                <a:latin typeface="Arial"/>
              </a:rPr>
              <a:t>DRAFT — not for board use. Deliverable PLUMB-PR-great-eastern-research-e0bc54685dce v0.1.</a:t>
            </a:r>
          </a:p>
        </p:txBody>
      </p:sp>
      <p:sp>
        <p:nvSpPr>
          <p:cNvPr id="10" name="TextBox 9"/>
          <p:cNvSpPr txBox="1"/>
          <p:nvPr/>
        </p:nvSpPr>
        <p:spPr>
          <a:xfrm>
            <a:off x="11002975" y="6373368"/>
            <a:ext cx="640080" cy="274320"/>
          </a:xfrm>
          <a:prstGeom prst="rect">
            <a:avLst/>
          </a:prstGeom>
          <a:noFill/>
        </p:spPr>
        <p:txBody>
          <a:bodyPr wrap="square" lIns="45720" rIns="45720" tIns="27432" bIns="27432" anchor="t">
            <a:spAutoFit/>
          </a:bodyPr>
          <a:lstStyle/>
          <a:p>
            <a:pPr algn="r"/>
            <a:r>
              <a:rPr sz="800" b="0" i="0">
                <a:solidFill>
                  <a:srgbClr val="57606A"/>
                </a:solidFill>
                <a:latin typeface="Arial"/>
              </a:rPr>
              <a:t>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Great Eastern Holdings Limited — Outside-in AI pre-read (DRAFT)</dc:title>
  <dc:subject>DRAFT — not for board use (internal profile; 1 attachment unreconciled; resolution 0.1429; no QA gate 3 sign-off)</dc:subject>
  <dc:creator>plumbdeck</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