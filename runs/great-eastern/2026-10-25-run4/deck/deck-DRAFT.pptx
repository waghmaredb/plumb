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plumbdeck:S06</a:t>
            </a:r>
          </a:p>
          <a:p>
            <a:r>
              <a:t>withheld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plumbdeck:S09 1/2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plumbdeck:S09 2/2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plumbdeck:S16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plumbdeck:S19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plumbdeck:S26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plumbdeck:S29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1/2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2/2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S01 · Cover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000" b="1" i="0">
                <a:solidFill>
                  <a:srgbClr val="1F2328"/>
                </a:solidFill>
                <a:latin typeface="Arial"/>
              </a:rPr>
              <a:t>Great Eastern Holdings Limited: Verified Enterprise AI Journey Assessment — board read-out, 2026-10-25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87700"/>
            <a:ext cx="2743200" cy="25400"/>
          </a:xfrm>
          <a:prstGeom prst="rect">
            <a:avLst/>
          </a:prstGeom>
          <a:solidFill>
            <a:srgbClr val="2F4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94415" cy="3225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Verified Enterprise AI Journey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5860"/>
            <a:ext cx="11094415" cy="27305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1F2328"/>
                </a:solidFill>
                <a:latin typeface="Arial"/>
              </a:rPr>
              <a:t>Great Eastern Holdings Limited · board read-out · 2026-10-25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891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Deliverable PLUMB-great-eastern-research-4f4e22fab7c2 · version 0.1 · run research-4f4e22fab7c2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35450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AI-assisted draft — not yet approved by a named professional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S02 · AI-use disclosure and verification statement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DRAFT — not for board use: 11 claims released, 4 withheld and listed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3225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Released: 11 claims. Withheld: 4 claims (listed).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94764"/>
            <a:ext cx="11094415" cy="4546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1F2328"/>
                </a:solidFill>
                <a:latin typeface="Arial"/>
              </a:rPr>
              <a:t>The verification statement is not rendered. It renders only when citation resolution = 1.0, every attachment is reconciled MATCH, the build profile is client and an independent QA gate 3 sign-off approves the run (ghost deck R8/R9).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Reasons: internal profile; 1 attachment unreconciled; resolution 0.2; no QA gate 3 sign-off.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538983"/>
          <a:ext cx="5964768" cy="162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788"/>
                <a:gridCol w="3727980"/>
              </a:tblGrid>
              <a:tr h="23190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328"/>
                          </a:solidFill>
                          <a:latin typeface="Arial"/>
                        </a:rPr>
                        <a:t>Build report field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Build profile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Citation resolution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Attachments reconciled MATCH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0 of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Run outcome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Released: 11 claims. Withheld: 4 claims (listed).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QA gate 3 sign-off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absent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Run 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research-4f4e22fab7c2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87728" y="2538983"/>
            <a:ext cx="4855326" cy="75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AI-assisted draft. Prepared with the assistance of AI tools and not yet approved by a named member of PLUMB. Tools and models: run log models: plumbresearch-rules 0.1.0 (asia-southeast1), plumbverify-rules 0.4.0 (asia-southeast1).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7728" y="3290823"/>
            <a:ext cx="4855326" cy="42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Limitations. AI tools may produce plausible but incorrect content; withheld claims are listed in the gap register, not footnoted.</a:t>
            </a:r>
          </a:p>
        </p:txBody>
      </p:sp>
      <p:sp>
        <p:nvSpPr>
          <p:cNvPr id="12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PLUMB build report research-4f4e22fab7c2, 2026-10-25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S03 · Executive summary (SCQA)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Eastern's [named strength] is [hollowing]; [n] AI domains [recover the margin]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0928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every exec-summary number RELEASED with two upstreams (load-bearing, C3/C6)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right-to-win and scorecard findings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value pools and headline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6926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SCQA four-box — Situation, Complication, Question,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S04 · Executive summary (answer detail)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gated use cases, led by [use case], pay back within [n]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right-to-win exhibit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value-pool table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use-case portfolio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conservative business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S05 · Context and peer set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[Segment A] and [segment B] carry most of Great Eastern's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engagement charter scope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P&amp;L by segment (QA2) or filed segment note (T1/T2)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S06 · Context and peer set  ·  withheld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Eastern's core peer set awaits verified sizes before the funnel can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3225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8A4B00"/>
                </a:solidFill>
                <a:latin typeface="Arial"/>
              </a:rPr>
              <a:t>Withheld — see gap register G-1, G-2, G-3, G-4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23948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Every item bound to this slide is withheld, so the slide is a placeholder until the gap register items close (block-not-flag, pipeline C11).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80488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peer-set protocol funnel (seed, similarity, 0.3x–3x size band, regime, core/secondary, exited) with named peers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S07 · Context and peer set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 ranks [k] of [n] on economic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NOPLAT, invested capital and WACC per peer from filings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derivation computed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S08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[org] scores [capability] of 100, [band], with [value_headline]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scorecard.json from plumbscore (10–30 maturity responses, evidence register)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137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two-axis scorecard — self-view and evidenced view side by side, value axis V1–V4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S09 · Where you are  (1/2)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Great Eastern's FY2025 annual report reaches level 4 of 5 on the AI-disclosure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01368"/>
          <a:ext cx="11094413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/>
                <a:gridCol w="1743408"/>
                <a:gridCol w="3011341"/>
                <a:gridCol w="1426424"/>
                <a:gridCol w="792458"/>
              </a:tblGrid>
              <a:tr h="216027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Instrument items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Annual-report AI rubric level (annual_report FY2025)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D1.1, D5.4, D8.3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4 (level 1-5)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mentions per 1,000 words (annual_report FY2025)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0.24 per 1,000 words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Named competitors / peers in the report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peer-seed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0 names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90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/ data leadership titles found (subject, present or in transition)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D1.2, D2.1, D5.2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3 titles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Parent-group AI / data titles (context, not counted for D1.2)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D1.2 context — not scored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1 titles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released; context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Core peer count after funnel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§5.5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4B00"/>
                          </a:solidFill>
                          <a:latin typeface="Arial"/>
                        </a:rPr>
                        <a:t>Withheld — see gap register G-1, G-2, G-3, G-4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AI-skill share of job postings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AI-skill share: percentile vs core peers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data_eng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D2.2, D2.3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mlops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D3.2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ai_product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ai_governance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D6.2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llm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D3.1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AI-related patents (5 filing years)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D4.2, D1.5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21808"/>
            <a:ext cx="11094415" cy="42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Proxies corroborate only and never lift an item above level 3 (instrument §5.4). Peer rows: peer n not released (peer-set signal withheld); no ranking or percentile is shown. Peer signal values require engagement data.</a:t>
            </a:r>
          </a:p>
        </p:txBody>
      </p:sp>
      <p:sp>
        <p:nvSpPr>
          <p:cNvPr id="8" name="plumbdeck-sowhat"/>
          <p:cNvSpPr txBox="1"/>
          <p:nvPr/>
        </p:nvSpPr>
        <p:spPr>
          <a:xfrm>
            <a:off x="548640" y="5486400"/>
            <a:ext cx="11094415" cy="411480"/>
          </a:xfrm>
          <a:prstGeom prst="rect">
            <a:avLst/>
          </a:prstGeom>
          <a:solidFill>
            <a:srgbClr val="EEF1F4"/>
          </a:solidFill>
          <a:ln>
            <a:solidFill>
              <a:srgbClr val="2F4B66"/>
            </a:solidFill>
          </a:ln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1F2328"/>
                </a:solidFill>
                <a:latin typeface="Arial"/>
              </a:rPr>
              <a:t>So what: outside-in disclosure corroborates the self-report but cannot lift any item above level 3 without engagement evidence (S08).</a:t>
            </a:r>
          </a:p>
        </p:txBody>
      </p:sp>
      <p:sp>
        <p:nvSpPr>
          <p:cNvPr id="9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model-inferred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S09 · Where you are  (2/2)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Great Eastern's FY2025 annual report reaches level 4 of 5 on the AI-disclosure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01368"/>
          <a:ext cx="11094413" cy="432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/>
                <a:gridCol w="1743408"/>
                <a:gridCol w="3011341"/>
                <a:gridCol w="1426424"/>
                <a:gridCol w="792458"/>
              </a:tblGrid>
              <a:tr h="216027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Instrument items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160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patents: subject vs core-peer median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model-inferred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S10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[ExCo] rate [dimension] a full level [above] [operating managers]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raw self-report levels from 10–30 respondents (&gt;=5 for sigma)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respondent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S11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[Compliance sub-dimension] reaches level [n]; [named controls] do not yet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0928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D6.1–D6.6 scores with artefact IDs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inventory record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kill-switch test record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vendor-evidence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S12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[Instrument] binds Great Eastern from [date]; [n] domains fall under its high-materiality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0928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jurisdiction list from charter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domain list from S21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regulatory-status map rows with VERIFY flags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S13 · Why you exist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capabilities pass all six right-to-win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long list of 8–15 candidates with evidence packs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C1–C6 scores and evidence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S14 · Why you exist — reason 1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evidence pack facts RELEASED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interview quotes string-matched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hollowing-check metrics vs peer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S15 · Why you exist — reason 2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S16 · Why you exist — reason 3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S17 · Why you exist — reason 4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137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S18 · Why you exist — reason 5 or temporary edge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[Candidate] is a benefit without a barrier, not a reason to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137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S19 · Why you exist — coherence and hollowing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of [n] strengths are hollowing, which makes them the largest value pools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H1–H5 results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3-year margin and pricing-power series vs peer median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attacker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S20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[Leaf KPI 1], [leaf KPI 2] and [leaf KPI 3] move most economic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KPI extract (QA2) or outside-in proxies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peer medians per leaf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sensitivity computed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S21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Of [n] domains screened, [domains A–C] clear the value-feasibility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criterion scores with rationale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sponsor per selected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S22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[n] pools are worth [S$X–Y] realised against a [S$Z+]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function cost base per domain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ceiling and realised references with upstream pairs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S23 · Which use cases — portfolio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use cases pass all five hard gates; [n] are Likely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scored use-case matrix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intake scores C1–C5 and overrides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gate checklists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S24 · Which use cases — domain 1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1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per-use-case matrix rows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owner and KPI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baseline extract reference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tier worksheet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S25 · Which use cases — domain 2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2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S26 · Which use cases — domain 3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3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S27 · Which use cases — domain 4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4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137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S28 · Which use cases — domain 5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5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1370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S29 · Business cases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Conservative cases clear payback norms for [n] of [n]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seven-section business case per use case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system-measured baselines (G3)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inference-price sensitivity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S30 · Responsible-AI and agent gate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use cases are GO, [n] CONDITIONAL on [named conditions]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gate checklists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kill-switch test records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vendor assessments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ISO 42001 / NIST AI RMF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S31 · Roadmap 30/60/90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first 90 days build [the inventory, baselines and first control group]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owner per lane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dependencies from CONDITIONAL items in S30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S32 · Roadmap 6/12 months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By month 12, [use cases] are in production with finance-reconciled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business-case timelines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regulatory binding dates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capacity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S33 · Measurement design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Every use case gets a system baseline, holdout group and stop condition before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0928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baseline extracts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named statistical owner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finance attribution rule (D8.4)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S34 · Risks and open items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open items, led by [item], must close before the 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risk register entries (artefact 3)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VERIFY register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gap register disposition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(1/2)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Eleven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0" cy="203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819"/>
                <a:gridCol w="681779"/>
                <a:gridCol w="5702157"/>
                <a:gridCol w="619799"/>
                <a:gridCol w="495839"/>
                <a:gridCol w="867719"/>
                <a:gridCol w="929699"/>
                <a:gridCol w="1239599"/>
              </a:tblGrid>
              <a:tr h="20015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In 2025, we deployed an AI-enabled advisory platform that aims to reduce preparation time for financial adv…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We rolled out a proprietary AI-powered platform to automate medical claims, enhancing claim efficiency whil…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In 2025, our AI-driven claims system delivered same-day turnarounds for 75% of medical claims, one of the f…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0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ZHAO JINGYUAN Managing Director, Group Data and 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Ms Zhao Jingyuan (Managing Director, Group Data and Artificial Intelligence) is expected to join Oversea-Ch…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q6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Sharpened in-house analytics and AI for underwriting and medical claims to enhance accuracy and consistency…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(2/2)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Eleven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0" cy="158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819"/>
                <a:gridCol w="681779"/>
                <a:gridCol w="5702157"/>
                <a:gridCol w="619799"/>
                <a:gridCol w="495839"/>
                <a:gridCol w="867719"/>
                <a:gridCol w="929699"/>
                <a:gridCol w="1239599"/>
              </a:tblGrid>
              <a:tr h="20015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00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Wynn Chew Ai Ling Division Head, Group &amp; Digital Affinity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229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0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Lucy Loo Liuxi Division Head, Marketing and Digital Transformation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229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Ms Zhao Jingyuan (Managing Director, Group Data and Artificial Intelligence) is expected to join Oversea-Ch…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Mr Colin Chan (Managing Director, Group Marketing), Mr Ryan Cheong (Managing Director, Group Customer and D…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71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l5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He was the Group Chief Risk Officer of OCBC from 2014 to 2022 and the Group Chief Information Security Offi…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p. 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A2 · Appendix — source tiers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Sources are tiered T1–T5 and T5 is never a source of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source store export with tier counts used in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A3 · Appendix — confidence labels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Every metric carries one of four confidence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claim store export with label counts used in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A4 · Appendix — methodology notes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Scores follow published anchors, weights and gates the client can re-run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kit version numbers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working-value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A5 · Appendix — benchmark n and composition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peer benchmark holds n=[n] evidenced entries, defined on [date]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1744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benchmark database 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A6 · Appendix — gap and VERIFY register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Four claims were removed rather than flagged; 26 items remain unconfirmed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3225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Released: 11 claims. Withheld: 4 claims (listed).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94764"/>
          <a:ext cx="11094412" cy="165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26"/>
                <a:gridCol w="2494602"/>
                <a:gridCol w="2232012"/>
                <a:gridCol w="1575538"/>
                <a:gridCol w="2888486"/>
                <a:gridCol w="1312948"/>
              </a:tblGrid>
              <a:tr h="216027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Source attempted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What would resolve it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Who holds it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5890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Prudential Assurance Co Singapore (I527L)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2025.xlsx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90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Income Insurance Ltd (I585C)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www.income.com.sg Income-Insurance-–-Annual-Report-2025.pdf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90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Singapore Life Ltd (Singlife, I518C)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2025.xlsx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90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AIA Group (whole)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www.aia.com AIA 2025 annual report_EN.pdf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83559"/>
            <a:ext cx="11094415" cy="256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Also listed in the run's gap register: 18 module data gaps and 26 [VERIFY] items (what this run cannot tell you).</a:t>
            </a:r>
          </a:p>
        </p:txBody>
      </p:sp>
      <p:sp>
        <p:nvSpPr>
          <p:cNvPr id="9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PLUMB build report research-4f4e22fab7c2, 2026-10-25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0.2;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A7 · Appendix — reviewer worksheet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independent reviewer sampled [n] claims and found [n] non-resolving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89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0928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QA gate 3 worksheet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PLUMB-great-eastern-research-4f4e22fab7c2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Eastern Holdings Limited — Verified Enterprise AI Journey Assessment (DRAFT)</dc:title>
  <dc:subject>DRAFT — not for board use (internal profile; 1 attachment unreconciled; resolution 0.2; no QA gate 3 sign-off)</dc:subject>
  <dc:creator>plumbdeck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